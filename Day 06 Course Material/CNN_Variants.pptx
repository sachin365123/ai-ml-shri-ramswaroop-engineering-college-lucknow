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handoutMasterIdLst>
    <p:handoutMasterId r:id="rId62"/>
  </p:handoutMasterIdLst>
  <p:sldIdLst>
    <p:sldId id="331" r:id="rId2"/>
    <p:sldId id="635" r:id="rId3"/>
    <p:sldId id="403" r:id="rId4"/>
    <p:sldId id="1236" r:id="rId5"/>
    <p:sldId id="388" r:id="rId6"/>
    <p:sldId id="510" r:id="rId7"/>
    <p:sldId id="428" r:id="rId8"/>
    <p:sldId id="556" r:id="rId9"/>
    <p:sldId id="430" r:id="rId10"/>
    <p:sldId id="332" r:id="rId11"/>
    <p:sldId id="1231" r:id="rId12"/>
    <p:sldId id="524" r:id="rId13"/>
    <p:sldId id="525" r:id="rId14"/>
    <p:sldId id="526" r:id="rId15"/>
    <p:sldId id="527" r:id="rId16"/>
    <p:sldId id="528" r:id="rId17"/>
    <p:sldId id="529" r:id="rId18"/>
    <p:sldId id="520" r:id="rId19"/>
    <p:sldId id="636" r:id="rId20"/>
    <p:sldId id="538" r:id="rId21"/>
    <p:sldId id="278" r:id="rId22"/>
    <p:sldId id="316" r:id="rId23"/>
    <p:sldId id="324" r:id="rId24"/>
    <p:sldId id="325" r:id="rId25"/>
    <p:sldId id="326" r:id="rId26"/>
    <p:sldId id="327" r:id="rId27"/>
    <p:sldId id="540" r:id="rId28"/>
    <p:sldId id="542" r:id="rId29"/>
    <p:sldId id="543" r:id="rId30"/>
    <p:sldId id="372" r:id="rId31"/>
    <p:sldId id="460" r:id="rId32"/>
    <p:sldId id="461" r:id="rId33"/>
    <p:sldId id="462" r:id="rId34"/>
    <p:sldId id="320" r:id="rId35"/>
    <p:sldId id="463" r:id="rId36"/>
    <p:sldId id="466" r:id="rId37"/>
    <p:sldId id="380" r:id="rId38"/>
    <p:sldId id="548" r:id="rId39"/>
    <p:sldId id="550" r:id="rId40"/>
    <p:sldId id="551" r:id="rId41"/>
    <p:sldId id="382" r:id="rId42"/>
    <p:sldId id="467" r:id="rId43"/>
    <p:sldId id="545" r:id="rId44"/>
    <p:sldId id="546" r:id="rId45"/>
    <p:sldId id="547" r:id="rId46"/>
    <p:sldId id="544" r:id="rId47"/>
    <p:sldId id="468" r:id="rId48"/>
    <p:sldId id="279" r:id="rId49"/>
    <p:sldId id="459" r:id="rId50"/>
    <p:sldId id="362" r:id="rId51"/>
    <p:sldId id="363" r:id="rId52"/>
    <p:sldId id="364" r:id="rId53"/>
    <p:sldId id="365" r:id="rId54"/>
    <p:sldId id="366" r:id="rId55"/>
    <p:sldId id="634" r:id="rId56"/>
    <p:sldId id="458" r:id="rId57"/>
    <p:sldId id="479" r:id="rId58"/>
    <p:sldId id="416" r:id="rId59"/>
    <p:sldId id="417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rawalJnu" initials="A" lastIdx="1" clrIdx="0">
    <p:extLst>
      <p:ext uri="{19B8F6BF-5375-455C-9EA6-DF929625EA0E}">
        <p15:presenceInfo xmlns:p15="http://schemas.microsoft.com/office/powerpoint/2012/main" xmlns="" userId="AgrawalJn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ED200"/>
    <a:srgbClr val="FFB5B5"/>
    <a:srgbClr val="FEBED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-1186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CCD06-253D-4B2D-8967-9802DEF1CE77}" type="datetime1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45A85-377E-45AA-A812-81A3F794B2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589088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4CACE-9E1D-465D-B3C0-4D4A190CC72A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2AF06-939E-4AB9-9EE1-AC8CF9D402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481743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97CE2C-8DDD-48BA-9318-415686F387C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52AF06-939E-4AB9-9EE1-AC8CF9D4025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9520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FB9F614-B4D4-4C4C-B7BC-8E319B057EBD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71C5613-88D9-4ED8-B3C6-876224BFFFEE}" type="datetime1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04271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37BD21-9376-4BC2-809D-B3B71CD86341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7D91D39-1EC8-48EC-82AF-DF6D5064FF40}" type="datetime1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2972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58BF9D-F3AA-4CB3-8029-ED3BA14F04BD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5C21BC-65AB-4EB6-BBDF-719ADD00ACFC}" type="datetime1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99262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C5041FE-CB17-4455-94FF-90BAADA94324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B77955-2352-4A54-A53C-794D365815C7}" type="datetime1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93045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know </a:t>
            </a:r>
            <a:r>
              <a:rPr lang="en-US" i="1" dirty="0"/>
              <a:t>a priori </a:t>
            </a:r>
            <a:r>
              <a:rPr lang="en-US" i="0" dirty="0"/>
              <a:t>how many parameters we need?</a:t>
            </a:r>
          </a:p>
          <a:p>
            <a:endParaRPr lang="en-US" i="0" dirty="0"/>
          </a:p>
          <a:p>
            <a:r>
              <a:rPr lang="en-US" i="0" dirty="0"/>
              <a:t>Cross-validation is one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B562B9-0C9B-487D-A781-7574C08D21B0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2593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http://cs231n.github.io/neural-networks-1/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VisGraph, HKUST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8F3D01-B37F-584D-9BCA-9D331F5DF9A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833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3273E-FA5C-4A77-8D99-729704EBA9D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7908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833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D8B8-410B-4083-BFD6-EA393733FBA0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059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5D8E-5DEA-4C50-9DBB-4DADE3F64742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875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9160-12E7-4686-A5D0-9E600DC396E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274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488AC-24C3-4CF3-AC06-36F01FC7687B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1258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31F1E-A4CD-4515-A7E6-3BA60A9FFF5B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3870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AB7C-3B87-4383-ADDA-29FEDA9CA212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0573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A8D4-A8E1-4AAC-802E-13DB69899607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851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00AD-0CF4-4B8D-9663-2B8A5304ECDC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3684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FDC0-60F7-4B50-B814-AE46CB3C772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28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51100-8385-4479-8E6D-B6DEA57F3C88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E0516-50B9-46E1-A8D9-1B5778713E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656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cs.uwaterloo.ca/~mli/" TargetMode="External"/><Relationship Id="rId2" Type="http://schemas.openxmlformats.org/officeDocument/2006/relationships/hyperlink" Target="https://www.macs.hw.ac.uk/~dwcorn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chinelearningmastery.com/inspirational-applications-deep-learning/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400" b="1">
                <a:solidFill>
                  <a:schemeClr val="tx1"/>
                </a:solidFill>
              </a:rPr>
              <a:t/>
            </a:r>
            <a:br>
              <a:rPr lang="en-US" altLang="en-US" sz="2400" b="1">
                <a:solidFill>
                  <a:schemeClr val="tx1"/>
                </a:solidFill>
              </a:rPr>
            </a:br>
            <a:r>
              <a:rPr lang="en-US" altLang="en-US" sz="2400" b="1">
                <a:solidFill>
                  <a:schemeClr val="tx1"/>
                </a:solidFill>
              </a:rPr>
              <a:t/>
            </a:r>
            <a:br>
              <a:rPr lang="en-US" altLang="en-US" sz="2400" b="1">
                <a:solidFill>
                  <a:schemeClr val="tx1"/>
                </a:solidFill>
              </a:rPr>
            </a:br>
            <a:r>
              <a:rPr lang="en-US" altLang="en-US" sz="2400" b="1">
                <a:solidFill>
                  <a:schemeClr val="tx1"/>
                </a:solidFill>
              </a:rPr>
              <a:t/>
            </a:r>
            <a:br>
              <a:rPr lang="en-US" altLang="en-US" sz="2400" b="1">
                <a:solidFill>
                  <a:schemeClr val="tx1"/>
                </a:solidFill>
              </a:rPr>
            </a:br>
            <a:r>
              <a:rPr lang="en-US" altLang="en-US" sz="2400" b="1">
                <a:solidFill>
                  <a:schemeClr val="tx1"/>
                </a:solidFill>
              </a:rPr>
              <a:t/>
            </a:r>
            <a:br>
              <a:rPr lang="en-US" altLang="en-US" sz="2400" b="1">
                <a:solidFill>
                  <a:schemeClr val="tx1"/>
                </a:solidFill>
              </a:rPr>
            </a:br>
            <a:r>
              <a:rPr lang="en-US" altLang="en-US" sz="3200" b="1">
                <a:solidFill>
                  <a:schemeClr val="tx1"/>
                </a:solidFill>
              </a:rPr>
              <a:t/>
            </a:r>
            <a:br>
              <a:rPr lang="en-US" altLang="en-US" sz="3200" b="1">
                <a:solidFill>
                  <a:schemeClr val="tx1"/>
                </a:solidFill>
              </a:rPr>
            </a:br>
            <a:r>
              <a:rPr lang="en-US" altLang="en-US" sz="2400">
                <a:solidFill>
                  <a:schemeClr val="tx1"/>
                </a:solidFill>
              </a:rPr>
              <a:t> </a:t>
            </a:r>
            <a:r>
              <a:rPr lang="en-US" altLang="en-US" sz="3600">
                <a:solidFill>
                  <a:schemeClr val="tx1"/>
                </a:solidFill>
              </a:rPr>
              <a:t/>
            </a:r>
            <a:br>
              <a:rPr lang="en-US" altLang="en-US" sz="3600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228600" y="1158874"/>
            <a:ext cx="8686800" cy="5334000"/>
          </a:xfrm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altLang="en-US" sz="4800" b="1" dirty="0">
                <a:solidFill>
                  <a:srgbClr val="FF0000"/>
                </a:solidFill>
              </a:rPr>
              <a:t>Convolutional Neural Network and its Variants</a:t>
            </a:r>
            <a:endParaRPr lang="en-US" altLang="en-US" dirty="0"/>
          </a:p>
          <a:p>
            <a:pPr algn="ctr">
              <a:buFontTx/>
              <a:buNone/>
            </a:pPr>
            <a:endParaRPr lang="es-ES_tradnl" altLang="en-US" dirty="0"/>
          </a:p>
          <a:p>
            <a:pPr>
              <a:buFontTx/>
              <a:buNone/>
            </a:pPr>
            <a:r>
              <a:rPr lang="en-US" altLang="en-US" dirty="0"/>
              <a:t> </a:t>
            </a:r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0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4CD55F-3A94-4A1B-A07E-DCD9D5EFBC27}" type="slidenum">
              <a:rPr lang="ar-SA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2740-6BDB-4918-8F64-A49B294AA3EB}" type="datetime1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83730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CE0F48-98F9-49B3-B295-03727C0D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17ABD5-0772-4DBC-A13D-F6E8678D3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  <a:p>
            <a:r>
              <a:rPr lang="en-IN" dirty="0"/>
              <a:t>Multilayer Perceptron</a:t>
            </a:r>
          </a:p>
          <a:p>
            <a:r>
              <a:rPr lang="en-IN" dirty="0"/>
              <a:t>Shallow vs Deep</a:t>
            </a:r>
          </a:p>
          <a:p>
            <a:r>
              <a:rPr lang="en-IN" dirty="0"/>
              <a:t>Building Blocks of CNN</a:t>
            </a:r>
          </a:p>
          <a:p>
            <a:r>
              <a:rPr lang="en-IN" dirty="0"/>
              <a:t>Challenges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87ADA9-79FA-4AAC-9428-CDB2A0F0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4023B2-15DF-4035-9468-462B15B9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885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5A64D3-71EF-45B5-AE4C-6C60EEC0D3A5}" type="slidenum">
              <a:rPr lang="ar-SA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pic>
        <p:nvPicPr>
          <p:cNvPr id="22531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3517900" cy="354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514600"/>
            <a:ext cx="33861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16127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mvc-001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47800"/>
            <a:ext cx="23622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 descr="mvc-001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2286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 descr="mvc-009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0"/>
            <a:ext cx="23622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 descr="mvc-009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23622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Box 5"/>
          <p:cNvSpPr txBox="1">
            <a:spLocks noChangeArrowheads="1"/>
          </p:cNvSpPr>
          <p:nvPr/>
        </p:nvSpPr>
        <p:spPr bwMode="auto">
          <a:xfrm>
            <a:off x="1905000" y="381000"/>
            <a:ext cx="5715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FF0000"/>
                </a:solidFill>
              </a:rPr>
              <a:t>Face Recognition</a:t>
            </a:r>
          </a:p>
        </p:txBody>
      </p:sp>
    </p:spTree>
    <p:extLst>
      <p:ext uri="{BB962C8B-B14F-4D97-AF65-F5344CB8AC3E}">
        <p14:creationId xmlns:p14="http://schemas.microsoft.com/office/powerpoint/2010/main" xmlns="" val="321165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5DFAA6-D8BC-4642-8EE3-B19F4FF9C845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ChangeArrowheads="1"/>
          </p:cNvSpPr>
          <p:nvPr/>
        </p:nvSpPr>
        <p:spPr bwMode="auto">
          <a:xfrm>
            <a:off x="914400" y="3810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3600" b="1">
                <a:solidFill>
                  <a:srgbClr val="FF0000"/>
                </a:solidFill>
              </a:rPr>
              <a:t>Multilayer Perceptron (MLP)</a:t>
            </a:r>
          </a:p>
        </p:txBody>
      </p:sp>
      <p:pic>
        <p:nvPicPr>
          <p:cNvPr id="5325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24013" y="2295525"/>
            <a:ext cx="5895975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40691" y="3952672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 dirty="0" err="1"/>
              <a:t>W</a:t>
            </a:r>
            <a:r>
              <a:rPr lang="en-GB" altLang="en-US" b="1" baseline="-25000" dirty="0" err="1"/>
              <a:t>ji</a:t>
            </a:r>
            <a:endParaRPr lang="en-GB" alt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5362705" y="4322004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W</a:t>
            </a:r>
            <a:r>
              <a:rPr lang="en-GB" altLang="en-US" b="1" baseline="-25000" dirty="0" err="1">
                <a:solidFill>
                  <a:prstClr val="black"/>
                </a:solidFill>
              </a:rPr>
              <a:t>kj</a:t>
            </a:r>
            <a:endParaRPr lang="en-GB" altLang="en-US" b="1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19392" y="3271877"/>
            <a:ext cx="240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i</a:t>
            </a:r>
            <a:endParaRPr lang="en-GB" altLang="en-US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75540" y="4043362"/>
            <a:ext cx="243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j</a:t>
            </a:r>
            <a:endParaRPr lang="en-GB" altLang="en-US" b="1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89690" y="5000291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k</a:t>
            </a:r>
            <a:endParaRPr lang="en-GB" alt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53560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5DFAA6-D8BC-4642-8EE3-B19F4FF9C845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ChangeArrowheads="1"/>
          </p:cNvSpPr>
          <p:nvPr/>
        </p:nvSpPr>
        <p:spPr bwMode="auto">
          <a:xfrm>
            <a:off x="914400" y="3810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3600" b="1" dirty="0">
                <a:solidFill>
                  <a:srgbClr val="FF0000"/>
                </a:solidFill>
              </a:rPr>
              <a:t>Multilayer Perceptron (MLP)</a:t>
            </a:r>
          </a:p>
        </p:txBody>
      </p:sp>
      <p:pic>
        <p:nvPicPr>
          <p:cNvPr id="5325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90675" y="1350138"/>
            <a:ext cx="5895975" cy="3467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44620" y="3584582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 dirty="0" err="1"/>
              <a:t>W</a:t>
            </a:r>
            <a:r>
              <a:rPr lang="en-GB" altLang="en-US" b="1" baseline="-25000" dirty="0" err="1"/>
              <a:t>ji</a:t>
            </a:r>
            <a:endParaRPr lang="en-GB" alt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4837564" y="371739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W</a:t>
            </a:r>
            <a:r>
              <a:rPr lang="en-GB" altLang="en-US" b="1" baseline="-25000" dirty="0" err="1">
                <a:solidFill>
                  <a:prstClr val="black"/>
                </a:solidFill>
              </a:rPr>
              <a:t>kj</a:t>
            </a:r>
            <a:endParaRPr lang="en-GB" altLang="en-US" b="1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19392" y="3271877"/>
            <a:ext cx="240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i</a:t>
            </a:r>
            <a:endParaRPr lang="en-GB" altLang="en-US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72334" y="3717390"/>
            <a:ext cx="243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j</a:t>
            </a:r>
            <a:endParaRPr lang="en-GB" altLang="en-US" b="1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56207" y="3641209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GB" altLang="en-US" b="1" dirty="0" err="1">
                <a:solidFill>
                  <a:prstClr val="black"/>
                </a:solidFill>
              </a:rPr>
              <a:t>k</a:t>
            </a:r>
            <a:endParaRPr lang="en-GB" altLang="en-US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952500" y="4519613"/>
          <a:ext cx="5230813" cy="701675"/>
        </p:xfrm>
        <a:graphic>
          <a:graphicData uri="http://schemas.openxmlformats.org/presentationml/2006/ole">
            <p:oleObj spid="_x0000_s1056" name="Equation" r:id="rId4" imgW="2438280" imgH="431640" progId="Equation.3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869409" y="5285677"/>
            <a:ext cx="2208327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i="1" dirty="0" err="1"/>
              <a:t>y</a:t>
            </a:r>
            <a:r>
              <a:rPr lang="en-US" altLang="en-US" sz="2800" i="1" baseline="-25000" dirty="0" err="1"/>
              <a:t>j</a:t>
            </a:r>
            <a:r>
              <a:rPr lang="en-US" altLang="en-US" sz="2800" i="1" baseline="-25000" dirty="0"/>
              <a:t> </a:t>
            </a:r>
            <a:r>
              <a:rPr lang="en-US" altLang="en-US" sz="2800" i="1" dirty="0"/>
              <a:t>= f(</a:t>
            </a:r>
            <a:r>
              <a:rPr lang="en-US" altLang="en-US" sz="2800" i="1" dirty="0" err="1"/>
              <a:t>net</a:t>
            </a:r>
            <a:r>
              <a:rPr lang="en-US" altLang="en-US" sz="2800" i="1" baseline="-25000" dirty="0" err="1"/>
              <a:t>j</a:t>
            </a:r>
            <a:r>
              <a:rPr lang="en-US" altLang="en-US" sz="2800" i="1" dirty="0"/>
              <a:t>)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80423" y="5830284"/>
          <a:ext cx="4567238" cy="820738"/>
        </p:xfrm>
        <a:graphic>
          <a:graphicData uri="http://schemas.openxmlformats.org/presentationml/2006/ole">
            <p:oleObj spid="_x0000_s1057" name="Equation" r:id="rId5" imgW="2552700" imgH="457200" progId="Equation.3">
              <p:embed/>
            </p:oleObj>
          </a:graphicData>
        </a:graphic>
      </p:graphicFrame>
      <p:sp>
        <p:nvSpPr>
          <p:cNvPr id="7" name="Rectangle 6"/>
          <p:cNvSpPr/>
          <p:nvPr/>
        </p:nvSpPr>
        <p:spPr>
          <a:xfrm>
            <a:off x="5675288" y="5918834"/>
            <a:ext cx="19821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i="1" dirty="0" err="1"/>
              <a:t>z</a:t>
            </a:r>
            <a:r>
              <a:rPr lang="en-US" altLang="en-US" sz="2800" i="1" baseline="-25000" dirty="0" err="1"/>
              <a:t>k</a:t>
            </a:r>
            <a:r>
              <a:rPr lang="en-US" altLang="en-US" sz="2800" i="1" dirty="0"/>
              <a:t> = f(</a:t>
            </a:r>
            <a:r>
              <a:rPr lang="en-US" altLang="en-US" sz="2800" i="1" dirty="0" err="1"/>
              <a:t>net</a:t>
            </a:r>
            <a:r>
              <a:rPr lang="en-US" altLang="en-US" sz="2800" i="1" baseline="-25000" dirty="0" err="1"/>
              <a:t>k</a:t>
            </a:r>
            <a:r>
              <a:rPr lang="en-US" altLang="en-US" sz="2800" i="1" dirty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31177476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Handwritten Character Recognition</a:t>
            </a:r>
            <a:br>
              <a:rPr lang="en-US" b="1" dirty="0">
                <a:solidFill>
                  <a:srgbClr val="FF0000"/>
                </a:solidFill>
                <a:latin typeface="+mn-lt"/>
              </a:rPr>
            </a:b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25530" y="1302199"/>
            <a:ext cx="5895975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91257" y="3953814"/>
            <a:ext cx="39666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Image size= 100 x 100</a:t>
            </a:r>
          </a:p>
          <a:p>
            <a:r>
              <a:rPr lang="en-US" dirty="0"/>
              <a:t>No. of nodes at hidden layer= 10</a:t>
            </a:r>
            <a:r>
              <a:rPr lang="en-US" baseline="30000" dirty="0"/>
              <a:t>6</a:t>
            </a:r>
          </a:p>
          <a:p>
            <a:endParaRPr lang="en-US" baseline="30000" dirty="0"/>
          </a:p>
          <a:p>
            <a:r>
              <a:rPr lang="en-US" dirty="0"/>
              <a:t>No. of Classes =26</a:t>
            </a:r>
          </a:p>
          <a:p>
            <a:r>
              <a:rPr lang="en-US" dirty="0"/>
              <a:t>No. of Weights to be learned= 10</a:t>
            </a:r>
            <a:r>
              <a:rPr lang="en-US" baseline="30000" dirty="0"/>
              <a:t>10</a:t>
            </a:r>
          </a:p>
          <a:p>
            <a:endParaRPr lang="en-US" dirty="0"/>
          </a:p>
          <a:p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xmlns="" val="2651531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  <a:latin typeface="+mn-lt"/>
              </a:rPr>
              <a:t>Deep Architecture</a:t>
            </a:r>
            <a:endParaRPr lang="en-GB" altLang="en-US" sz="4000" b="1" dirty="0">
              <a:solidFill>
                <a:srgbClr val="FF0000"/>
              </a:solidFill>
            </a:endParaRPr>
          </a:p>
        </p:txBody>
      </p:sp>
      <p:pic>
        <p:nvPicPr>
          <p:cNvPr id="890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82105" y="1800427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904D-F968-4607-BE67-362DFC1366CA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1560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Multilayer neural networks have been around for</a:t>
            </a:r>
          </a:p>
          <a:p>
            <a:pPr marL="0" indent="0">
              <a:buNone/>
            </a:pPr>
            <a:r>
              <a:rPr lang="en-GB" altLang="en-US" dirty="0"/>
              <a:t>   25 years.  What’s actually new?</a:t>
            </a:r>
          </a:p>
          <a:p>
            <a:endParaRPr lang="en-GB" altLang="en-US" dirty="0"/>
          </a:p>
          <a:p>
            <a:r>
              <a:rPr lang="en-GB" altLang="en-US" dirty="0"/>
              <a:t>We had good algorithms for learning the weights in networks with 1  or 2 hidden layer(s)</a:t>
            </a:r>
          </a:p>
          <a:p>
            <a:endParaRPr lang="en-GB" altLang="en-US" dirty="0"/>
          </a:p>
          <a:p>
            <a:r>
              <a:rPr lang="en-GB" altLang="en-US" dirty="0"/>
              <a:t>But these algorithms are not good at learning the weights for networks with more hidden layers </a:t>
            </a:r>
          </a:p>
          <a:p>
            <a:pPr marL="0" indent="0">
              <a:buFontTx/>
              <a:buNone/>
            </a:pPr>
            <a:r>
              <a:rPr lang="en-GB" altLang="en-US" dirty="0"/>
              <a:t>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7105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099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0" y="30163"/>
            <a:ext cx="9144000" cy="6691312"/>
          </a:xfrm>
        </p:spPr>
      </p:pic>
      <p:sp>
        <p:nvSpPr>
          <p:cNvPr id="41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7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7421A1-36D7-4273-AB89-09787189974F}" type="slidenum">
              <a:rPr lang="en-US" altLang="en-US" sz="14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-488950" y="3402013"/>
            <a:ext cx="977900" cy="485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676400" cy="243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DC5B-887F-413B-BAD6-9FECC0E5649A}" type="datetime1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5605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  <a:latin typeface="+mn-lt"/>
              </a:rPr>
              <a:t>New way to train multi-layer NNs</a:t>
            </a:r>
            <a:r>
              <a:rPr lang="en-GB" altLang="en-US" sz="4000" b="1" dirty="0">
                <a:solidFill>
                  <a:srgbClr val="FF0000"/>
                </a:solidFill>
              </a:rPr>
              <a:t>…</a:t>
            </a:r>
          </a:p>
        </p:txBody>
      </p:sp>
      <p:pic>
        <p:nvPicPr>
          <p:cNvPr id="890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1288" y="1790700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904D-F968-4607-BE67-362DFC1366CA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3070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</a:rPr>
              <a:t>New way to train multi-layer NNs…</a:t>
            </a:r>
            <a:endParaRPr lang="en-GB" altLang="en-US" sz="4000" dirty="0"/>
          </a:p>
        </p:txBody>
      </p:sp>
      <p:pic>
        <p:nvPicPr>
          <p:cNvPr id="901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1288" y="1790700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704850" y="4033838"/>
            <a:ext cx="3317875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Train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27200" y="1574800"/>
            <a:ext cx="1320800" cy="2306638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1B4E-C00C-4343-8B43-56E87D803DA7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18586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</a:rPr>
              <a:t>New way to train multi-layer NNs…</a:t>
            </a:r>
            <a:endParaRPr lang="en-GB" altLang="en-US" sz="4000" dirty="0"/>
          </a:p>
        </p:txBody>
      </p:sp>
      <p:pic>
        <p:nvPicPr>
          <p:cNvPr id="911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1288" y="1790700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704850" y="3962400"/>
            <a:ext cx="3532188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Train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16238" y="1574800"/>
            <a:ext cx="1320800" cy="2306638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752600" y="4632325"/>
            <a:ext cx="3317875" cy="7223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9BDAB-C248-498D-9331-AC271370F8CF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54980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</a:rPr>
              <a:t>New way to train multi-layer NNs…</a:t>
            </a:r>
            <a:endParaRPr lang="en-GB" altLang="en-US" sz="4000" dirty="0"/>
          </a:p>
        </p:txBody>
      </p:sp>
      <p:pic>
        <p:nvPicPr>
          <p:cNvPr id="921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1288" y="1790700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704850" y="4033838"/>
            <a:ext cx="3486150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Train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 first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752600" y="4632325"/>
            <a:ext cx="3317875" cy="7223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3184525" y="5273675"/>
            <a:ext cx="3317875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727200"/>
            <a:ext cx="1320800" cy="2306638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DF8BA-ED1A-4FF9-96FC-F301AF765A74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7927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</a:rPr>
              <a:t>New way to train multi-layer NNs…</a:t>
            </a:r>
            <a:endParaRPr lang="en-GB" altLang="en-US" sz="4000" dirty="0"/>
          </a:p>
        </p:txBody>
      </p:sp>
      <p:pic>
        <p:nvPicPr>
          <p:cNvPr id="931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1288" y="1790700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457200" y="3962400"/>
            <a:ext cx="3562350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Train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 first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752600" y="4632325"/>
            <a:ext cx="3317875" cy="7223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3184525" y="5273675"/>
            <a:ext cx="3317875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0" y="1717675"/>
            <a:ext cx="1320800" cy="2305050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3814763" y="5770563"/>
            <a:ext cx="3317875" cy="7223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825E1-0542-491F-B9E7-B598A57C95A7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560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</a:rPr>
              <a:t>New way to train multi-layer NNs…</a:t>
            </a:r>
            <a:endParaRPr lang="en-GB" altLang="en-US" sz="4000" dirty="0"/>
          </a:p>
        </p:txBody>
      </p:sp>
      <p:pic>
        <p:nvPicPr>
          <p:cNvPr id="942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1288" y="1790700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704850" y="4033838"/>
            <a:ext cx="3409950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Train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 first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752600" y="4632325"/>
            <a:ext cx="3317875" cy="7223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3184525" y="5273675"/>
            <a:ext cx="3317875" cy="7207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7200" y="1706563"/>
            <a:ext cx="1320800" cy="2306637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3814763" y="5770563"/>
            <a:ext cx="3317875" cy="7223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then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5473700" y="6257925"/>
            <a:ext cx="3317875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kern="0" dirty="0"/>
              <a:t>finally </a:t>
            </a:r>
            <a:r>
              <a:rPr lang="en-GB" altLang="en-US" sz="2800" b="1" kern="0" dirty="0"/>
              <a:t>this</a:t>
            </a:r>
            <a:r>
              <a:rPr lang="en-GB" altLang="en-US" sz="2800" kern="0" dirty="0"/>
              <a:t> layer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AE91-D8B4-477C-94FE-A5B25F0C90D8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7861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>
          <a:xfrm>
            <a:off x="198438" y="304800"/>
            <a:ext cx="8864600" cy="1300163"/>
          </a:xfrm>
        </p:spPr>
        <p:txBody>
          <a:bodyPr/>
          <a:lstStyle/>
          <a:p>
            <a:pPr algn="ctr"/>
            <a:r>
              <a:rPr lang="en-GB" altLang="en-US" sz="4000" b="1" dirty="0">
                <a:solidFill>
                  <a:srgbClr val="FF0000"/>
                </a:solidFill>
              </a:rPr>
              <a:t>New way to train multi-layer NNs…</a:t>
            </a:r>
            <a:endParaRPr lang="en-GB" altLang="en-US" sz="4000" dirty="0"/>
          </a:p>
        </p:txBody>
      </p:sp>
      <p:pic>
        <p:nvPicPr>
          <p:cNvPr id="952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1288" y="1790700"/>
            <a:ext cx="6804025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233363" y="3789363"/>
            <a:ext cx="6548437" cy="1981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>
              <a:defRPr/>
            </a:pPr>
            <a:r>
              <a:rPr lang="en-GB" altLang="en-US" sz="2800" i="1" kern="0" dirty="0"/>
              <a:t>EACH of the (non-output) layers is trained to be an </a:t>
            </a:r>
            <a:r>
              <a:rPr lang="en-GB" altLang="en-US" sz="3200" b="1" i="1" kern="0" dirty="0" err="1"/>
              <a:t>autoencoder</a:t>
            </a:r>
            <a:endParaRPr lang="en-GB" altLang="en-US" sz="3200" b="1" i="1" kern="0" dirty="0"/>
          </a:p>
        </p:txBody>
      </p:sp>
      <p:sp>
        <p:nvSpPr>
          <p:cNvPr id="6" name="Rounded Rectangle 5"/>
          <p:cNvSpPr/>
          <p:nvPr/>
        </p:nvSpPr>
        <p:spPr>
          <a:xfrm>
            <a:off x="1727200" y="1574800"/>
            <a:ext cx="1320800" cy="2306638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2195513" y="5476875"/>
            <a:ext cx="6223000" cy="1219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6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GB" altLang="en-US" sz="2800" i="1" kern="0" dirty="0"/>
              <a:t>Basically, it is forced to learn good features that describe what comes from the previous layer</a:t>
            </a:r>
            <a:endParaRPr lang="en-GB" altLang="en-US" b="1" i="1" kern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6E55-4A9F-414A-AB6D-C483CD2DF859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55860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7281" y="680160"/>
            <a:ext cx="5716068" cy="62517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sz="4000" b="1" spc="-11" dirty="0">
                <a:solidFill>
                  <a:srgbClr val="FF0000"/>
                </a:solidFill>
                <a:latin typeface="+mn-lt"/>
              </a:rPr>
              <a:t>What </a:t>
            </a:r>
            <a:r>
              <a:rPr sz="4000" b="1" dirty="0">
                <a:solidFill>
                  <a:srgbClr val="FF0000"/>
                </a:solidFill>
                <a:latin typeface="+mn-lt"/>
              </a:rPr>
              <a:t>is Deep</a:t>
            </a:r>
            <a:r>
              <a:rPr sz="4000" b="1" spc="-15" dirty="0">
                <a:solidFill>
                  <a:srgbClr val="FF0000"/>
                </a:solidFill>
                <a:latin typeface="+mn-lt"/>
              </a:rPr>
              <a:t> </a:t>
            </a:r>
            <a:r>
              <a:rPr sz="4000" b="1" spc="-4" dirty="0">
                <a:solidFill>
                  <a:srgbClr val="FF0000"/>
                </a:solidFill>
                <a:latin typeface="+mn-lt"/>
              </a:rPr>
              <a:t>Learning</a:t>
            </a:r>
            <a:endParaRPr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4601" y="2289174"/>
            <a:ext cx="1244600" cy="1028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552575" y="2603500"/>
            <a:ext cx="625475" cy="454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1291070" y="2322367"/>
            <a:ext cx="1149522" cy="935181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1694381" y="2668038"/>
            <a:ext cx="34290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4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spc="-19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9875" y="2289174"/>
            <a:ext cx="1660524" cy="1028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2851150" y="2603500"/>
            <a:ext cx="1577975" cy="4540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2858601" y="2322367"/>
            <a:ext cx="1563177" cy="935181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2993037" y="2668038"/>
            <a:ext cx="129444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11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8" dirty="0">
                <a:solidFill>
                  <a:srgbClr val="FFFFFF"/>
                </a:solidFill>
                <a:latin typeface="Calibri"/>
                <a:cs typeface="Calibri"/>
              </a:rPr>
              <a:t>extraction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91075" y="2289174"/>
            <a:ext cx="3108324" cy="1028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5597525" y="2603500"/>
            <a:ext cx="1495425" cy="4540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4839785" y="2322367"/>
            <a:ext cx="3013143" cy="935181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5740258" y="2668038"/>
            <a:ext cx="121253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r>
              <a:rPr sz="1350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44601" y="4178300"/>
            <a:ext cx="1244600" cy="10318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1552575" y="4492625"/>
            <a:ext cx="625475" cy="457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/>
          <p:nvPr/>
        </p:nvSpPr>
        <p:spPr>
          <a:xfrm>
            <a:off x="1291070" y="4212660"/>
            <a:ext cx="1149522" cy="935182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object 18"/>
          <p:cNvSpPr txBox="1"/>
          <p:nvPr/>
        </p:nvSpPr>
        <p:spPr>
          <a:xfrm>
            <a:off x="1694381" y="4558331"/>
            <a:ext cx="34290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4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spc="-19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09875" y="4178300"/>
            <a:ext cx="1660524" cy="103187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/>
          <p:nvPr/>
        </p:nvSpPr>
        <p:spPr>
          <a:xfrm>
            <a:off x="2851150" y="4492625"/>
            <a:ext cx="1577975" cy="4572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/>
          <p:nvPr/>
        </p:nvSpPr>
        <p:spPr>
          <a:xfrm>
            <a:off x="2858601" y="4212660"/>
            <a:ext cx="1563177" cy="935182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2993037" y="4558331"/>
            <a:ext cx="129444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11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8" dirty="0">
                <a:solidFill>
                  <a:srgbClr val="FFFFFF"/>
                </a:solidFill>
                <a:latin typeface="Calibri"/>
                <a:cs typeface="Calibri"/>
              </a:rPr>
              <a:t>extraction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05575" y="4178300"/>
            <a:ext cx="1479549" cy="103187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/>
          <p:nvPr/>
        </p:nvSpPr>
        <p:spPr>
          <a:xfrm>
            <a:off x="6740525" y="4492625"/>
            <a:ext cx="1012824" cy="4572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object 25"/>
          <p:cNvSpPr/>
          <p:nvPr/>
        </p:nvSpPr>
        <p:spPr>
          <a:xfrm>
            <a:off x="6553185" y="4212660"/>
            <a:ext cx="1384588" cy="935182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6" name="object 26"/>
          <p:cNvSpPr txBox="1"/>
          <p:nvPr/>
        </p:nvSpPr>
        <p:spPr>
          <a:xfrm>
            <a:off x="6880480" y="4558331"/>
            <a:ext cx="72961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350" spc="-23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ed</a:t>
            </a:r>
            <a:r>
              <a:rPr sz="1350" spc="-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350" spc="-4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46639" y="5309551"/>
            <a:ext cx="104013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latin typeface="Calibri"/>
                <a:cs typeface="Calibri"/>
              </a:rPr>
              <a:t>Deep</a:t>
            </a:r>
            <a:r>
              <a:rPr sz="1350" b="1" spc="-56" dirty="0">
                <a:latin typeface="Calibri"/>
                <a:cs typeface="Calibri"/>
              </a:rPr>
              <a:t> </a:t>
            </a:r>
            <a:r>
              <a:rPr sz="1350" b="1" spc="-4" dirty="0">
                <a:latin typeface="Calibri"/>
                <a:cs typeface="Calibri"/>
              </a:rPr>
              <a:t>Learning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708379" y="4150315"/>
            <a:ext cx="1864043" cy="1044416"/>
          </a:xfrm>
          <a:custGeom>
            <a:avLst/>
            <a:gdLst/>
            <a:ahLst/>
            <a:cxnLst/>
            <a:rect l="l" t="t" r="r" b="b"/>
            <a:pathLst>
              <a:path w="2485390" h="1392554">
                <a:moveTo>
                  <a:pt x="0" y="1392381"/>
                </a:moveTo>
                <a:lnTo>
                  <a:pt x="2484826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/>
          <p:cNvSpPr/>
          <p:nvPr/>
        </p:nvSpPr>
        <p:spPr>
          <a:xfrm>
            <a:off x="2708379" y="4150314"/>
            <a:ext cx="1864043" cy="1044416"/>
          </a:xfrm>
          <a:custGeom>
            <a:avLst/>
            <a:gdLst/>
            <a:ahLst/>
            <a:cxnLst/>
            <a:rect l="l" t="t" r="r" b="b"/>
            <a:pathLst>
              <a:path w="2485390" h="1392554">
                <a:moveTo>
                  <a:pt x="0" y="0"/>
                </a:moveTo>
                <a:lnTo>
                  <a:pt x="2484826" y="1392382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0" name="object 30"/>
          <p:cNvSpPr/>
          <p:nvPr/>
        </p:nvSpPr>
        <p:spPr>
          <a:xfrm>
            <a:off x="4791075" y="4171950"/>
            <a:ext cx="1660524" cy="10287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1" name="object 31"/>
          <p:cNvSpPr/>
          <p:nvPr/>
        </p:nvSpPr>
        <p:spPr>
          <a:xfrm>
            <a:off x="4899025" y="4483100"/>
            <a:ext cx="1444625" cy="457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/>
          <p:nvPr/>
        </p:nvSpPr>
        <p:spPr>
          <a:xfrm>
            <a:off x="4839785" y="4204866"/>
            <a:ext cx="1563177" cy="935182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3" name="object 33"/>
          <p:cNvSpPr txBox="1"/>
          <p:nvPr/>
        </p:nvSpPr>
        <p:spPr>
          <a:xfrm>
            <a:off x="5041635" y="4550538"/>
            <a:ext cx="115966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11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350" spc="-2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4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22221" y="3762581"/>
            <a:ext cx="3367564" cy="1541145"/>
          </a:xfrm>
          <a:custGeom>
            <a:avLst/>
            <a:gdLst/>
            <a:ahLst/>
            <a:cxnLst/>
            <a:rect l="l" t="t" r="r" b="b"/>
            <a:pathLst>
              <a:path w="4490084" h="2054860">
                <a:moveTo>
                  <a:pt x="0" y="342479"/>
                </a:moveTo>
                <a:lnTo>
                  <a:pt x="3126" y="296006"/>
                </a:lnTo>
                <a:lnTo>
                  <a:pt x="12233" y="251434"/>
                </a:lnTo>
                <a:lnTo>
                  <a:pt x="26913" y="209170"/>
                </a:lnTo>
                <a:lnTo>
                  <a:pt x="46758" y="169623"/>
                </a:lnTo>
                <a:lnTo>
                  <a:pt x="71359" y="133200"/>
                </a:lnTo>
                <a:lnTo>
                  <a:pt x="100309" y="100309"/>
                </a:lnTo>
                <a:lnTo>
                  <a:pt x="133200" y="71359"/>
                </a:lnTo>
                <a:lnTo>
                  <a:pt x="169623" y="46758"/>
                </a:lnTo>
                <a:lnTo>
                  <a:pt x="209170" y="26913"/>
                </a:lnTo>
                <a:lnTo>
                  <a:pt x="251434" y="12233"/>
                </a:lnTo>
                <a:lnTo>
                  <a:pt x="296006" y="3126"/>
                </a:lnTo>
                <a:lnTo>
                  <a:pt x="342479" y="0"/>
                </a:lnTo>
                <a:lnTo>
                  <a:pt x="4146991" y="0"/>
                </a:lnTo>
                <a:lnTo>
                  <a:pt x="4193463" y="3126"/>
                </a:lnTo>
                <a:lnTo>
                  <a:pt x="4238035" y="12233"/>
                </a:lnTo>
                <a:lnTo>
                  <a:pt x="4280299" y="26913"/>
                </a:lnTo>
                <a:lnTo>
                  <a:pt x="4319846" y="46758"/>
                </a:lnTo>
                <a:lnTo>
                  <a:pt x="4356269" y="71359"/>
                </a:lnTo>
                <a:lnTo>
                  <a:pt x="4389160" y="100309"/>
                </a:lnTo>
                <a:lnTo>
                  <a:pt x="4418110" y="133200"/>
                </a:lnTo>
                <a:lnTo>
                  <a:pt x="4442711" y="169623"/>
                </a:lnTo>
                <a:lnTo>
                  <a:pt x="4462556" y="209170"/>
                </a:lnTo>
                <a:lnTo>
                  <a:pt x="4477236" y="251434"/>
                </a:lnTo>
                <a:lnTo>
                  <a:pt x="4486343" y="296006"/>
                </a:lnTo>
                <a:lnTo>
                  <a:pt x="4489470" y="342479"/>
                </a:lnTo>
                <a:lnTo>
                  <a:pt x="4489470" y="1712352"/>
                </a:lnTo>
                <a:lnTo>
                  <a:pt x="4486343" y="1758824"/>
                </a:lnTo>
                <a:lnTo>
                  <a:pt x="4477236" y="1803396"/>
                </a:lnTo>
                <a:lnTo>
                  <a:pt x="4462556" y="1845660"/>
                </a:lnTo>
                <a:lnTo>
                  <a:pt x="4442711" y="1885207"/>
                </a:lnTo>
                <a:lnTo>
                  <a:pt x="4418110" y="1921630"/>
                </a:lnTo>
                <a:lnTo>
                  <a:pt x="4389160" y="1954521"/>
                </a:lnTo>
                <a:lnTo>
                  <a:pt x="4356269" y="1983471"/>
                </a:lnTo>
                <a:lnTo>
                  <a:pt x="4319846" y="2008072"/>
                </a:lnTo>
                <a:lnTo>
                  <a:pt x="4280299" y="2027917"/>
                </a:lnTo>
                <a:lnTo>
                  <a:pt x="4238035" y="2042597"/>
                </a:lnTo>
                <a:lnTo>
                  <a:pt x="4193463" y="2051704"/>
                </a:lnTo>
                <a:lnTo>
                  <a:pt x="4146991" y="2054831"/>
                </a:lnTo>
                <a:lnTo>
                  <a:pt x="342479" y="2054831"/>
                </a:lnTo>
                <a:lnTo>
                  <a:pt x="296006" y="2051704"/>
                </a:lnTo>
                <a:lnTo>
                  <a:pt x="251434" y="2042597"/>
                </a:lnTo>
                <a:lnTo>
                  <a:pt x="209170" y="2027917"/>
                </a:lnTo>
                <a:lnTo>
                  <a:pt x="169623" y="2008072"/>
                </a:lnTo>
                <a:lnTo>
                  <a:pt x="133200" y="1983471"/>
                </a:lnTo>
                <a:lnTo>
                  <a:pt x="100309" y="1954521"/>
                </a:lnTo>
                <a:lnTo>
                  <a:pt x="71359" y="1921630"/>
                </a:lnTo>
                <a:lnTo>
                  <a:pt x="46758" y="1885207"/>
                </a:lnTo>
                <a:lnTo>
                  <a:pt x="26913" y="1845660"/>
                </a:lnTo>
                <a:lnTo>
                  <a:pt x="12233" y="1803396"/>
                </a:lnTo>
                <a:lnTo>
                  <a:pt x="3126" y="1758824"/>
                </a:lnTo>
                <a:lnTo>
                  <a:pt x="0" y="1712352"/>
                </a:lnTo>
                <a:lnTo>
                  <a:pt x="0" y="342479"/>
                </a:lnTo>
                <a:close/>
              </a:path>
            </a:pathLst>
          </a:custGeom>
          <a:ln w="38100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5" name="object 35"/>
          <p:cNvSpPr txBox="1"/>
          <p:nvPr/>
        </p:nvSpPr>
        <p:spPr>
          <a:xfrm>
            <a:off x="3121241" y="3337165"/>
            <a:ext cx="4084320" cy="7367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8" dirty="0">
                <a:latin typeface="Calibri"/>
                <a:cs typeface="Calibri"/>
              </a:rPr>
              <a:t>Conventional </a:t>
            </a:r>
            <a:r>
              <a:rPr sz="1350" b="1" spc="-4" dirty="0">
                <a:latin typeface="Calibri"/>
                <a:cs typeface="Calibri"/>
              </a:rPr>
              <a:t>Machine Learning pipeline</a:t>
            </a:r>
            <a:endParaRPr sz="1350">
              <a:latin typeface="Calibri"/>
              <a:cs typeface="Calibri"/>
            </a:endParaRPr>
          </a:p>
          <a:p>
            <a:pPr>
              <a:spcBef>
                <a:spcPts val="19"/>
              </a:spcBef>
            </a:pPr>
            <a:endParaRPr sz="2025">
              <a:latin typeface="Calibri"/>
              <a:cs typeface="Calibri"/>
            </a:endParaRPr>
          </a:p>
          <a:p>
            <a:pPr marL="2471738"/>
            <a:r>
              <a:rPr sz="1350" dirty="0">
                <a:latin typeface="Calibri"/>
                <a:cs typeface="Calibri"/>
              </a:rPr>
              <a:t>Deep </a:t>
            </a:r>
            <a:r>
              <a:rPr sz="1350" spc="-4" dirty="0">
                <a:latin typeface="Calibri"/>
                <a:cs typeface="Calibri"/>
              </a:rPr>
              <a:t>prediction</a:t>
            </a:r>
            <a:r>
              <a:rPr sz="1350" spc="-38" dirty="0">
                <a:latin typeface="Calibri"/>
                <a:cs typeface="Calibri"/>
              </a:rPr>
              <a:t> </a:t>
            </a:r>
            <a:r>
              <a:rPr sz="1350" spc="-4" dirty="0">
                <a:latin typeface="Calibri"/>
                <a:cs typeface="Calibri"/>
              </a:rPr>
              <a:t>model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11067415" y="6433619"/>
            <a:ext cx="2317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0"/>
              </a:spcBef>
            </a:pPr>
            <a:fld id="{81D60167-4931-47E6-BA6A-407CBD079E47}" type="slidenum">
              <a:rPr lang="en-IN" smtClean="0"/>
              <a:pPr marL="38100">
                <a:spcBef>
                  <a:spcPts val="40"/>
                </a:spcBef>
              </a:pPr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058137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21A9D6-213F-424B-A518-360BC346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Disadvantages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41EE7E-0368-43FD-AC32-F2370333A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</a:t>
            </a:r>
            <a:r>
              <a:rPr lang="en-US" altLang="ko-KR" b="0" dirty="0"/>
              <a:t>he number of </a:t>
            </a:r>
            <a:r>
              <a:rPr lang="en-US" altLang="ko-KR" b="0" dirty="0">
                <a:solidFill>
                  <a:srgbClr val="FF0000"/>
                </a:solidFill>
              </a:rPr>
              <a:t>trainable parameters </a:t>
            </a:r>
            <a:r>
              <a:rPr lang="en-US" altLang="ko-KR" b="0" dirty="0"/>
              <a:t>becomes extremely large</a:t>
            </a:r>
          </a:p>
          <a:p>
            <a:r>
              <a:rPr lang="en-US" altLang="ko-KR" b="0" dirty="0"/>
              <a:t>Little or no invariance to </a:t>
            </a:r>
            <a:r>
              <a:rPr lang="en-US" altLang="ko-KR" b="0" dirty="0">
                <a:solidFill>
                  <a:srgbClr val="FF0000"/>
                </a:solidFill>
              </a:rPr>
              <a:t>shifting, scaling</a:t>
            </a:r>
            <a:r>
              <a:rPr lang="en-US" altLang="ko-KR" b="0" dirty="0"/>
              <a:t>, and other forms of </a:t>
            </a:r>
            <a:r>
              <a:rPr lang="en-US" altLang="ko-KR" b="0" dirty="0">
                <a:solidFill>
                  <a:srgbClr val="FF0000"/>
                </a:solidFill>
              </a:rPr>
              <a:t>distortion</a:t>
            </a:r>
          </a:p>
          <a:p>
            <a:r>
              <a:rPr lang="en-US" altLang="ko-KR" b="0" dirty="0"/>
              <a:t>The </a:t>
            </a:r>
            <a:r>
              <a:rPr lang="en-US" altLang="ko-KR" b="0" dirty="0">
                <a:solidFill>
                  <a:srgbClr val="FF0000"/>
                </a:solidFill>
              </a:rPr>
              <a:t>topology</a:t>
            </a:r>
            <a:r>
              <a:rPr lang="en-US" altLang="ko-KR" b="0" dirty="0"/>
              <a:t> of the input data is completely ignored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77CECB-1295-4E6D-A3CE-439A6D9D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02F13DA-0989-42BA-942B-505B1F91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55941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n-lt"/>
              </a:rPr>
              <a:t>Building Blocks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96331" y="1825625"/>
            <a:ext cx="4351338" cy="43513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9922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3" y="-76200"/>
            <a:ext cx="8934275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dirty="0">
                <a:ln w="1905"/>
                <a:solidFill>
                  <a:srgbClr val="FF0000"/>
                </a:solidFill>
              </a:rPr>
              <a:t>Learning by Composition? – A Face Recognition Analogy</a:t>
            </a:r>
          </a:p>
        </p:txBody>
      </p:sp>
      <p:pic>
        <p:nvPicPr>
          <p:cNvPr id="2457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489200"/>
            <a:ext cx="1452563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366963" y="5638800"/>
            <a:ext cx="1447800" cy="1143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Image pixels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66963" y="4343400"/>
            <a:ext cx="1447800" cy="1143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Lines, circles, squares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66963" y="1219200"/>
            <a:ext cx="1447800" cy="1143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Face or not ?</a:t>
            </a:r>
          </a:p>
        </p:txBody>
      </p:sp>
      <p:sp>
        <p:nvSpPr>
          <p:cNvPr id="24588" name="TextBox 8"/>
          <p:cNvSpPr txBox="1">
            <a:spLocks noChangeArrowheads="1"/>
          </p:cNvSpPr>
          <p:nvPr/>
        </p:nvSpPr>
        <p:spPr bwMode="auto">
          <a:xfrm>
            <a:off x="2711450" y="3810000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/>
              <a:t>……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090863" y="5486400"/>
            <a:ext cx="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052763" y="4191000"/>
            <a:ext cx="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052763" y="3810000"/>
            <a:ext cx="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048000" y="2362200"/>
            <a:ext cx="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593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72100" y="1905000"/>
            <a:ext cx="3429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15000" y="5449888"/>
            <a:ext cx="2947988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 dirty="0">
                <a:latin typeface="+mn-lt"/>
              </a:rPr>
              <a:t>Brain Learning</a:t>
            </a:r>
          </a:p>
        </p:txBody>
      </p:sp>
    </p:spTree>
    <p:extLst>
      <p:ext uri="{BB962C8B-B14F-4D97-AF65-F5344CB8AC3E}">
        <p14:creationId xmlns:p14="http://schemas.microsoft.com/office/powerpoint/2010/main" xmlns="" val="273302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5611813" y="415925"/>
            <a:ext cx="311467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>
                <a:solidFill>
                  <a:srgbClr val="FF0000"/>
                </a:solidFill>
              </a:rPr>
              <a:t>Feature detectors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35844" name="Picture 4" descr="https://onlinecourses.science.psu.edu/stat857/sites/onlinecourses.science.psu.edu.stat857/files/image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8275" y="295275"/>
            <a:ext cx="398303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 descr="http://mechanicalforex.com/wp-content/uploads/2011/06/N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804988"/>
            <a:ext cx="6921500" cy="499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Rectangle 11"/>
          <p:cNvSpPr>
            <a:spLocks noChangeArrowheads="1"/>
          </p:cNvSpPr>
          <p:nvPr/>
        </p:nvSpPr>
        <p:spPr bwMode="auto">
          <a:xfrm>
            <a:off x="3846513" y="2595563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47" name="Rectangle 11"/>
          <p:cNvSpPr>
            <a:spLocks noChangeArrowheads="1"/>
          </p:cNvSpPr>
          <p:nvPr/>
        </p:nvSpPr>
        <p:spPr bwMode="auto">
          <a:xfrm>
            <a:off x="3867150" y="3195638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3857625" y="3754438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49" name="Rectangle 129"/>
          <p:cNvSpPr>
            <a:spLocks noChangeArrowheads="1"/>
          </p:cNvSpPr>
          <p:nvPr/>
        </p:nvSpPr>
        <p:spPr bwMode="auto">
          <a:xfrm>
            <a:off x="3886200" y="4414838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0" name="Rectangle 129"/>
          <p:cNvSpPr>
            <a:spLocks noChangeArrowheads="1"/>
          </p:cNvSpPr>
          <p:nvPr/>
        </p:nvSpPr>
        <p:spPr bwMode="auto">
          <a:xfrm>
            <a:off x="3886200" y="5084763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1" name="Rectangle 129"/>
          <p:cNvSpPr>
            <a:spLocks noChangeArrowheads="1"/>
          </p:cNvSpPr>
          <p:nvPr/>
        </p:nvSpPr>
        <p:spPr bwMode="auto">
          <a:xfrm>
            <a:off x="3916363" y="6100763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2" name="Rectangle 3"/>
          <p:cNvSpPr>
            <a:spLocks noChangeArrowheads="1"/>
          </p:cNvSpPr>
          <p:nvPr/>
        </p:nvSpPr>
        <p:spPr bwMode="auto">
          <a:xfrm>
            <a:off x="238125" y="35718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3" name="Rectangle 4"/>
          <p:cNvSpPr>
            <a:spLocks noChangeArrowheads="1"/>
          </p:cNvSpPr>
          <p:nvPr/>
        </p:nvSpPr>
        <p:spPr bwMode="auto">
          <a:xfrm>
            <a:off x="847725" y="35718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4" name="Rectangle 5"/>
          <p:cNvSpPr>
            <a:spLocks noChangeArrowheads="1"/>
          </p:cNvSpPr>
          <p:nvPr/>
        </p:nvSpPr>
        <p:spPr bwMode="auto">
          <a:xfrm>
            <a:off x="1152525" y="3571875"/>
            <a:ext cx="304800" cy="304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5" name="Rectangle 6"/>
          <p:cNvSpPr>
            <a:spLocks noChangeArrowheads="1"/>
          </p:cNvSpPr>
          <p:nvPr/>
        </p:nvSpPr>
        <p:spPr bwMode="auto">
          <a:xfrm>
            <a:off x="542925" y="35718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6" name="Rectangle 7"/>
          <p:cNvSpPr>
            <a:spLocks noChangeArrowheads="1"/>
          </p:cNvSpPr>
          <p:nvPr/>
        </p:nvSpPr>
        <p:spPr bwMode="auto">
          <a:xfrm>
            <a:off x="238125" y="38766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7" name="Rectangle 8"/>
          <p:cNvSpPr>
            <a:spLocks noChangeArrowheads="1"/>
          </p:cNvSpPr>
          <p:nvPr/>
        </p:nvSpPr>
        <p:spPr bwMode="auto">
          <a:xfrm>
            <a:off x="847725" y="38766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8" name="Rectangle 9"/>
          <p:cNvSpPr>
            <a:spLocks noChangeArrowheads="1"/>
          </p:cNvSpPr>
          <p:nvPr/>
        </p:nvSpPr>
        <p:spPr bwMode="auto">
          <a:xfrm>
            <a:off x="1152525" y="3876675"/>
            <a:ext cx="304800" cy="304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59" name="Rectangle 10"/>
          <p:cNvSpPr>
            <a:spLocks noChangeArrowheads="1"/>
          </p:cNvSpPr>
          <p:nvPr/>
        </p:nvSpPr>
        <p:spPr bwMode="auto">
          <a:xfrm>
            <a:off x="542925" y="38766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0" name="Rectangle 11"/>
          <p:cNvSpPr>
            <a:spLocks noChangeArrowheads="1"/>
          </p:cNvSpPr>
          <p:nvPr/>
        </p:nvSpPr>
        <p:spPr bwMode="auto">
          <a:xfrm>
            <a:off x="238125" y="41814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1" name="Rectangle 12"/>
          <p:cNvSpPr>
            <a:spLocks noChangeArrowheads="1"/>
          </p:cNvSpPr>
          <p:nvPr/>
        </p:nvSpPr>
        <p:spPr bwMode="auto">
          <a:xfrm>
            <a:off x="847725" y="41814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2" name="Rectangle 13"/>
          <p:cNvSpPr>
            <a:spLocks noChangeArrowheads="1"/>
          </p:cNvSpPr>
          <p:nvPr/>
        </p:nvSpPr>
        <p:spPr bwMode="auto">
          <a:xfrm>
            <a:off x="1152525" y="41814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3" name="Rectangle 14"/>
          <p:cNvSpPr>
            <a:spLocks noChangeArrowheads="1"/>
          </p:cNvSpPr>
          <p:nvPr/>
        </p:nvSpPr>
        <p:spPr bwMode="auto">
          <a:xfrm>
            <a:off x="542925" y="41814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4" name="Rectangle 15"/>
          <p:cNvSpPr>
            <a:spLocks noChangeArrowheads="1"/>
          </p:cNvSpPr>
          <p:nvPr/>
        </p:nvSpPr>
        <p:spPr bwMode="auto">
          <a:xfrm>
            <a:off x="238125" y="44862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5" name="Rectangle 16"/>
          <p:cNvSpPr>
            <a:spLocks noChangeArrowheads="1"/>
          </p:cNvSpPr>
          <p:nvPr/>
        </p:nvSpPr>
        <p:spPr bwMode="auto">
          <a:xfrm>
            <a:off x="847725" y="44862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6" name="Rectangle 17"/>
          <p:cNvSpPr>
            <a:spLocks noChangeArrowheads="1"/>
          </p:cNvSpPr>
          <p:nvPr/>
        </p:nvSpPr>
        <p:spPr bwMode="auto">
          <a:xfrm>
            <a:off x="1152525" y="44862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7" name="Rectangle 18"/>
          <p:cNvSpPr>
            <a:spLocks noChangeArrowheads="1"/>
          </p:cNvSpPr>
          <p:nvPr/>
        </p:nvSpPr>
        <p:spPr bwMode="auto">
          <a:xfrm>
            <a:off x="542925" y="44862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8" name="Rectangle 19"/>
          <p:cNvSpPr>
            <a:spLocks noChangeArrowheads="1"/>
          </p:cNvSpPr>
          <p:nvPr/>
        </p:nvSpPr>
        <p:spPr bwMode="auto">
          <a:xfrm>
            <a:off x="238125" y="47910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69" name="Rectangle 20"/>
          <p:cNvSpPr>
            <a:spLocks noChangeArrowheads="1"/>
          </p:cNvSpPr>
          <p:nvPr/>
        </p:nvSpPr>
        <p:spPr bwMode="auto">
          <a:xfrm>
            <a:off x="847725" y="47910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0" name="Rectangle 21"/>
          <p:cNvSpPr>
            <a:spLocks noChangeArrowheads="1"/>
          </p:cNvSpPr>
          <p:nvPr/>
        </p:nvSpPr>
        <p:spPr bwMode="auto">
          <a:xfrm>
            <a:off x="1152525" y="47910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1" name="Rectangle 22"/>
          <p:cNvSpPr>
            <a:spLocks noChangeArrowheads="1"/>
          </p:cNvSpPr>
          <p:nvPr/>
        </p:nvSpPr>
        <p:spPr bwMode="auto">
          <a:xfrm>
            <a:off x="542925" y="47910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2" name="Rectangle 127"/>
          <p:cNvSpPr>
            <a:spLocks noChangeArrowheads="1"/>
          </p:cNvSpPr>
          <p:nvPr/>
        </p:nvSpPr>
        <p:spPr bwMode="auto">
          <a:xfrm>
            <a:off x="542925" y="38766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3" name="Rectangle 128"/>
          <p:cNvSpPr>
            <a:spLocks noChangeArrowheads="1"/>
          </p:cNvSpPr>
          <p:nvPr/>
        </p:nvSpPr>
        <p:spPr bwMode="auto">
          <a:xfrm>
            <a:off x="847725" y="38766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4" name="Rectangle 129"/>
          <p:cNvSpPr>
            <a:spLocks noChangeArrowheads="1"/>
          </p:cNvSpPr>
          <p:nvPr/>
        </p:nvSpPr>
        <p:spPr bwMode="auto">
          <a:xfrm>
            <a:off x="542925" y="35718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5" name="Rectangle 130"/>
          <p:cNvSpPr>
            <a:spLocks noChangeArrowheads="1"/>
          </p:cNvSpPr>
          <p:nvPr/>
        </p:nvSpPr>
        <p:spPr bwMode="auto">
          <a:xfrm>
            <a:off x="542925" y="41814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6" name="Rectangle 131"/>
          <p:cNvSpPr>
            <a:spLocks noChangeArrowheads="1"/>
          </p:cNvSpPr>
          <p:nvPr/>
        </p:nvSpPr>
        <p:spPr bwMode="auto">
          <a:xfrm>
            <a:off x="542925" y="44862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7" name="Rectangle 132"/>
          <p:cNvSpPr>
            <a:spLocks noChangeArrowheads="1"/>
          </p:cNvSpPr>
          <p:nvPr/>
        </p:nvSpPr>
        <p:spPr bwMode="auto">
          <a:xfrm>
            <a:off x="847725" y="47910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8" name="Rectangle 3"/>
          <p:cNvSpPr>
            <a:spLocks noChangeArrowheads="1"/>
          </p:cNvSpPr>
          <p:nvPr/>
        </p:nvSpPr>
        <p:spPr bwMode="auto">
          <a:xfrm>
            <a:off x="1477963" y="3581400"/>
            <a:ext cx="304800" cy="304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79" name="Rectangle 4"/>
          <p:cNvSpPr>
            <a:spLocks noChangeArrowheads="1"/>
          </p:cNvSpPr>
          <p:nvPr/>
        </p:nvSpPr>
        <p:spPr bwMode="auto">
          <a:xfrm>
            <a:off x="2087563" y="3581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0" name="Rectangle 6"/>
          <p:cNvSpPr>
            <a:spLocks noChangeArrowheads="1"/>
          </p:cNvSpPr>
          <p:nvPr/>
        </p:nvSpPr>
        <p:spPr bwMode="auto">
          <a:xfrm>
            <a:off x="1782763" y="3581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1" name="Rectangle 7"/>
          <p:cNvSpPr>
            <a:spLocks noChangeArrowheads="1"/>
          </p:cNvSpPr>
          <p:nvPr/>
        </p:nvSpPr>
        <p:spPr bwMode="auto">
          <a:xfrm>
            <a:off x="1477963" y="38862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2" name="Rectangle 8"/>
          <p:cNvSpPr>
            <a:spLocks noChangeArrowheads="1"/>
          </p:cNvSpPr>
          <p:nvPr/>
        </p:nvSpPr>
        <p:spPr bwMode="auto">
          <a:xfrm>
            <a:off x="2087563" y="3886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3" name="Rectangle 10"/>
          <p:cNvSpPr>
            <a:spLocks noChangeArrowheads="1"/>
          </p:cNvSpPr>
          <p:nvPr/>
        </p:nvSpPr>
        <p:spPr bwMode="auto">
          <a:xfrm>
            <a:off x="1782763" y="3886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4" name="Rectangle 11"/>
          <p:cNvSpPr>
            <a:spLocks noChangeArrowheads="1"/>
          </p:cNvSpPr>
          <p:nvPr/>
        </p:nvSpPr>
        <p:spPr bwMode="auto">
          <a:xfrm>
            <a:off x="1477963" y="4191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5" name="Rectangle 12"/>
          <p:cNvSpPr>
            <a:spLocks noChangeArrowheads="1"/>
          </p:cNvSpPr>
          <p:nvPr/>
        </p:nvSpPr>
        <p:spPr bwMode="auto">
          <a:xfrm>
            <a:off x="2087563" y="4191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6" name="Rectangle 14"/>
          <p:cNvSpPr>
            <a:spLocks noChangeArrowheads="1"/>
          </p:cNvSpPr>
          <p:nvPr/>
        </p:nvSpPr>
        <p:spPr bwMode="auto">
          <a:xfrm>
            <a:off x="1782763" y="4191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7" name="Rectangle 15"/>
          <p:cNvSpPr>
            <a:spLocks noChangeArrowheads="1"/>
          </p:cNvSpPr>
          <p:nvPr/>
        </p:nvSpPr>
        <p:spPr bwMode="auto">
          <a:xfrm>
            <a:off x="1477963" y="4495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8" name="Rectangle 16"/>
          <p:cNvSpPr>
            <a:spLocks noChangeArrowheads="1"/>
          </p:cNvSpPr>
          <p:nvPr/>
        </p:nvSpPr>
        <p:spPr bwMode="auto">
          <a:xfrm>
            <a:off x="2087563" y="4495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89" name="Rectangle 18"/>
          <p:cNvSpPr>
            <a:spLocks noChangeArrowheads="1"/>
          </p:cNvSpPr>
          <p:nvPr/>
        </p:nvSpPr>
        <p:spPr bwMode="auto">
          <a:xfrm>
            <a:off x="1782763" y="4495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0" name="Rectangle 19"/>
          <p:cNvSpPr>
            <a:spLocks noChangeArrowheads="1"/>
          </p:cNvSpPr>
          <p:nvPr/>
        </p:nvSpPr>
        <p:spPr bwMode="auto">
          <a:xfrm>
            <a:off x="1477963" y="48006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1" name="Rectangle 20"/>
          <p:cNvSpPr>
            <a:spLocks noChangeArrowheads="1"/>
          </p:cNvSpPr>
          <p:nvPr/>
        </p:nvSpPr>
        <p:spPr bwMode="auto">
          <a:xfrm>
            <a:off x="2087563" y="48006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2" name="Rectangle 22"/>
          <p:cNvSpPr>
            <a:spLocks noChangeArrowheads="1"/>
          </p:cNvSpPr>
          <p:nvPr/>
        </p:nvSpPr>
        <p:spPr bwMode="auto">
          <a:xfrm>
            <a:off x="1477963" y="48006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3" name="Rectangle 127"/>
          <p:cNvSpPr>
            <a:spLocks noChangeArrowheads="1"/>
          </p:cNvSpPr>
          <p:nvPr/>
        </p:nvSpPr>
        <p:spPr bwMode="auto">
          <a:xfrm>
            <a:off x="1782763" y="38862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4" name="Rectangle 128"/>
          <p:cNvSpPr>
            <a:spLocks noChangeArrowheads="1"/>
          </p:cNvSpPr>
          <p:nvPr/>
        </p:nvSpPr>
        <p:spPr bwMode="auto">
          <a:xfrm>
            <a:off x="1773238" y="511492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5" name="Rectangle 129"/>
          <p:cNvSpPr>
            <a:spLocks noChangeArrowheads="1"/>
          </p:cNvSpPr>
          <p:nvPr/>
        </p:nvSpPr>
        <p:spPr bwMode="auto">
          <a:xfrm>
            <a:off x="1782763" y="35814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6" name="Rectangle 130"/>
          <p:cNvSpPr>
            <a:spLocks noChangeArrowheads="1"/>
          </p:cNvSpPr>
          <p:nvPr/>
        </p:nvSpPr>
        <p:spPr bwMode="auto">
          <a:xfrm>
            <a:off x="1782763" y="41910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7" name="Rectangle 131"/>
          <p:cNvSpPr>
            <a:spLocks noChangeArrowheads="1"/>
          </p:cNvSpPr>
          <p:nvPr/>
        </p:nvSpPr>
        <p:spPr bwMode="auto">
          <a:xfrm>
            <a:off x="1782763" y="44958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8" name="Rectangle 132"/>
          <p:cNvSpPr>
            <a:spLocks noChangeArrowheads="1"/>
          </p:cNvSpPr>
          <p:nvPr/>
        </p:nvSpPr>
        <p:spPr bwMode="auto">
          <a:xfrm>
            <a:off x="2087563" y="48006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899" name="Rectangle 3"/>
          <p:cNvSpPr>
            <a:spLocks noChangeArrowheads="1"/>
          </p:cNvSpPr>
          <p:nvPr/>
        </p:nvSpPr>
        <p:spPr bwMode="auto">
          <a:xfrm>
            <a:off x="258763" y="5105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0" name="Rectangle 4"/>
          <p:cNvSpPr>
            <a:spLocks noChangeArrowheads="1"/>
          </p:cNvSpPr>
          <p:nvPr/>
        </p:nvSpPr>
        <p:spPr bwMode="auto">
          <a:xfrm>
            <a:off x="868363" y="5105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1" name="Rectangle 5"/>
          <p:cNvSpPr>
            <a:spLocks noChangeArrowheads="1"/>
          </p:cNvSpPr>
          <p:nvPr/>
        </p:nvSpPr>
        <p:spPr bwMode="auto">
          <a:xfrm>
            <a:off x="1173163" y="5105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2" name="Rectangle 6"/>
          <p:cNvSpPr>
            <a:spLocks noChangeArrowheads="1"/>
          </p:cNvSpPr>
          <p:nvPr/>
        </p:nvSpPr>
        <p:spPr bwMode="auto">
          <a:xfrm>
            <a:off x="563563" y="5105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3" name="Rectangle 7"/>
          <p:cNvSpPr>
            <a:spLocks noChangeArrowheads="1"/>
          </p:cNvSpPr>
          <p:nvPr/>
        </p:nvSpPr>
        <p:spPr bwMode="auto">
          <a:xfrm>
            <a:off x="258763" y="54102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4" name="Rectangle 8"/>
          <p:cNvSpPr>
            <a:spLocks noChangeArrowheads="1"/>
          </p:cNvSpPr>
          <p:nvPr/>
        </p:nvSpPr>
        <p:spPr bwMode="auto">
          <a:xfrm>
            <a:off x="868363" y="5410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5" name="Rectangle 9"/>
          <p:cNvSpPr>
            <a:spLocks noChangeArrowheads="1"/>
          </p:cNvSpPr>
          <p:nvPr/>
        </p:nvSpPr>
        <p:spPr bwMode="auto">
          <a:xfrm>
            <a:off x="1173163" y="5410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6" name="Rectangle 10"/>
          <p:cNvSpPr>
            <a:spLocks noChangeArrowheads="1"/>
          </p:cNvSpPr>
          <p:nvPr/>
        </p:nvSpPr>
        <p:spPr bwMode="auto">
          <a:xfrm>
            <a:off x="563563" y="5410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7" name="Rectangle 11"/>
          <p:cNvSpPr>
            <a:spLocks noChangeArrowheads="1"/>
          </p:cNvSpPr>
          <p:nvPr/>
        </p:nvSpPr>
        <p:spPr bwMode="auto">
          <a:xfrm>
            <a:off x="258763" y="5715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8" name="Rectangle 12"/>
          <p:cNvSpPr>
            <a:spLocks noChangeArrowheads="1"/>
          </p:cNvSpPr>
          <p:nvPr/>
        </p:nvSpPr>
        <p:spPr bwMode="auto">
          <a:xfrm>
            <a:off x="868363" y="5715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09" name="Rectangle 13"/>
          <p:cNvSpPr>
            <a:spLocks noChangeArrowheads="1"/>
          </p:cNvSpPr>
          <p:nvPr/>
        </p:nvSpPr>
        <p:spPr bwMode="auto">
          <a:xfrm>
            <a:off x="1173163" y="5715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0" name="Rectangle 14"/>
          <p:cNvSpPr>
            <a:spLocks noChangeArrowheads="1"/>
          </p:cNvSpPr>
          <p:nvPr/>
        </p:nvSpPr>
        <p:spPr bwMode="auto">
          <a:xfrm>
            <a:off x="563563" y="5715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1" name="Rectangle 15"/>
          <p:cNvSpPr>
            <a:spLocks noChangeArrowheads="1"/>
          </p:cNvSpPr>
          <p:nvPr/>
        </p:nvSpPr>
        <p:spPr bwMode="auto">
          <a:xfrm>
            <a:off x="258763" y="6019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2" name="Rectangle 16"/>
          <p:cNvSpPr>
            <a:spLocks noChangeArrowheads="1"/>
          </p:cNvSpPr>
          <p:nvPr/>
        </p:nvSpPr>
        <p:spPr bwMode="auto">
          <a:xfrm>
            <a:off x="868363" y="6019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3" name="Rectangle 17"/>
          <p:cNvSpPr>
            <a:spLocks noChangeArrowheads="1"/>
          </p:cNvSpPr>
          <p:nvPr/>
        </p:nvSpPr>
        <p:spPr bwMode="auto">
          <a:xfrm>
            <a:off x="1173163" y="6019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4" name="Rectangle 18"/>
          <p:cNvSpPr>
            <a:spLocks noChangeArrowheads="1"/>
          </p:cNvSpPr>
          <p:nvPr/>
        </p:nvSpPr>
        <p:spPr bwMode="auto">
          <a:xfrm>
            <a:off x="563563" y="6019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5" name="Rectangle 127"/>
          <p:cNvSpPr>
            <a:spLocks noChangeArrowheads="1"/>
          </p:cNvSpPr>
          <p:nvPr/>
        </p:nvSpPr>
        <p:spPr bwMode="auto">
          <a:xfrm>
            <a:off x="1508125" y="4770438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6" name="Rectangle 128"/>
          <p:cNvSpPr>
            <a:spLocks noChangeArrowheads="1"/>
          </p:cNvSpPr>
          <p:nvPr/>
        </p:nvSpPr>
        <p:spPr bwMode="auto">
          <a:xfrm>
            <a:off x="868363" y="54102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7" name="Rectangle 129"/>
          <p:cNvSpPr>
            <a:spLocks noChangeArrowheads="1"/>
          </p:cNvSpPr>
          <p:nvPr/>
        </p:nvSpPr>
        <p:spPr bwMode="auto">
          <a:xfrm>
            <a:off x="1193800" y="57150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8" name="Rectangle 130"/>
          <p:cNvSpPr>
            <a:spLocks noChangeArrowheads="1"/>
          </p:cNvSpPr>
          <p:nvPr/>
        </p:nvSpPr>
        <p:spPr bwMode="auto">
          <a:xfrm>
            <a:off x="858838" y="4475163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19" name="Rectangle 131"/>
          <p:cNvSpPr>
            <a:spLocks noChangeArrowheads="1"/>
          </p:cNvSpPr>
          <p:nvPr/>
        </p:nvSpPr>
        <p:spPr bwMode="auto">
          <a:xfrm>
            <a:off x="1184275" y="4779963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0" name="Rectangle 3"/>
          <p:cNvSpPr>
            <a:spLocks noChangeArrowheads="1"/>
          </p:cNvSpPr>
          <p:nvPr/>
        </p:nvSpPr>
        <p:spPr bwMode="auto">
          <a:xfrm>
            <a:off x="1468438" y="51149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1" name="Rectangle 4"/>
          <p:cNvSpPr>
            <a:spLocks noChangeArrowheads="1"/>
          </p:cNvSpPr>
          <p:nvPr/>
        </p:nvSpPr>
        <p:spPr bwMode="auto">
          <a:xfrm>
            <a:off x="2078038" y="51149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2" name="Rectangle 6"/>
          <p:cNvSpPr>
            <a:spLocks noChangeArrowheads="1"/>
          </p:cNvSpPr>
          <p:nvPr/>
        </p:nvSpPr>
        <p:spPr bwMode="auto">
          <a:xfrm>
            <a:off x="1468438" y="51149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3" name="Rectangle 7"/>
          <p:cNvSpPr>
            <a:spLocks noChangeArrowheads="1"/>
          </p:cNvSpPr>
          <p:nvPr/>
        </p:nvSpPr>
        <p:spPr bwMode="auto">
          <a:xfrm>
            <a:off x="1762125" y="48006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4" name="Rectangle 8"/>
          <p:cNvSpPr>
            <a:spLocks noChangeArrowheads="1"/>
          </p:cNvSpPr>
          <p:nvPr/>
        </p:nvSpPr>
        <p:spPr bwMode="auto">
          <a:xfrm>
            <a:off x="2078038" y="54197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5" name="Rectangle 10"/>
          <p:cNvSpPr>
            <a:spLocks noChangeArrowheads="1"/>
          </p:cNvSpPr>
          <p:nvPr/>
        </p:nvSpPr>
        <p:spPr bwMode="auto">
          <a:xfrm>
            <a:off x="1468438" y="54197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6" name="Rectangle 11"/>
          <p:cNvSpPr>
            <a:spLocks noChangeArrowheads="1"/>
          </p:cNvSpPr>
          <p:nvPr/>
        </p:nvSpPr>
        <p:spPr bwMode="auto">
          <a:xfrm>
            <a:off x="1468438" y="57245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7" name="Rectangle 12"/>
          <p:cNvSpPr>
            <a:spLocks noChangeArrowheads="1"/>
          </p:cNvSpPr>
          <p:nvPr/>
        </p:nvSpPr>
        <p:spPr bwMode="auto">
          <a:xfrm>
            <a:off x="2078038" y="57245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8" name="Rectangle 14"/>
          <p:cNvSpPr>
            <a:spLocks noChangeArrowheads="1"/>
          </p:cNvSpPr>
          <p:nvPr/>
        </p:nvSpPr>
        <p:spPr bwMode="auto">
          <a:xfrm>
            <a:off x="1468438" y="57245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29" name="Rectangle 15"/>
          <p:cNvSpPr>
            <a:spLocks noChangeArrowheads="1"/>
          </p:cNvSpPr>
          <p:nvPr/>
        </p:nvSpPr>
        <p:spPr bwMode="auto">
          <a:xfrm>
            <a:off x="1468438" y="60293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0" name="Rectangle 16"/>
          <p:cNvSpPr>
            <a:spLocks noChangeArrowheads="1"/>
          </p:cNvSpPr>
          <p:nvPr/>
        </p:nvSpPr>
        <p:spPr bwMode="auto">
          <a:xfrm>
            <a:off x="2078038" y="60293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1" name="Rectangle 18"/>
          <p:cNvSpPr>
            <a:spLocks noChangeArrowheads="1"/>
          </p:cNvSpPr>
          <p:nvPr/>
        </p:nvSpPr>
        <p:spPr bwMode="auto">
          <a:xfrm>
            <a:off x="1468438" y="60293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2" name="Rectangle 127"/>
          <p:cNvSpPr>
            <a:spLocks noChangeArrowheads="1"/>
          </p:cNvSpPr>
          <p:nvPr/>
        </p:nvSpPr>
        <p:spPr bwMode="auto">
          <a:xfrm>
            <a:off x="1468438" y="541972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3" name="Rectangle 128"/>
          <p:cNvSpPr>
            <a:spLocks noChangeArrowheads="1"/>
          </p:cNvSpPr>
          <p:nvPr/>
        </p:nvSpPr>
        <p:spPr bwMode="auto">
          <a:xfrm>
            <a:off x="542925" y="481012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4" name="Rectangle 129"/>
          <p:cNvSpPr>
            <a:spLocks noChangeArrowheads="1"/>
          </p:cNvSpPr>
          <p:nvPr/>
        </p:nvSpPr>
        <p:spPr bwMode="auto">
          <a:xfrm>
            <a:off x="1468438" y="511492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5" name="Rectangle 130"/>
          <p:cNvSpPr>
            <a:spLocks noChangeArrowheads="1"/>
          </p:cNvSpPr>
          <p:nvPr/>
        </p:nvSpPr>
        <p:spPr bwMode="auto">
          <a:xfrm>
            <a:off x="1468438" y="572452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6" name="Rectangle 131"/>
          <p:cNvSpPr>
            <a:spLocks noChangeArrowheads="1"/>
          </p:cNvSpPr>
          <p:nvPr/>
        </p:nvSpPr>
        <p:spPr bwMode="auto">
          <a:xfrm>
            <a:off x="1468438" y="602932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7" name="Rectangle 11"/>
          <p:cNvSpPr>
            <a:spLocks noChangeArrowheads="1"/>
          </p:cNvSpPr>
          <p:nvPr/>
        </p:nvSpPr>
        <p:spPr bwMode="auto">
          <a:xfrm>
            <a:off x="249238" y="38766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8" name="Rectangle 11"/>
          <p:cNvSpPr>
            <a:spLocks noChangeArrowheads="1"/>
          </p:cNvSpPr>
          <p:nvPr/>
        </p:nvSpPr>
        <p:spPr bwMode="auto">
          <a:xfrm>
            <a:off x="542925" y="3560763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39" name="Rectangle 22"/>
          <p:cNvSpPr>
            <a:spLocks noChangeArrowheads="1"/>
          </p:cNvSpPr>
          <p:nvPr/>
        </p:nvSpPr>
        <p:spPr bwMode="auto">
          <a:xfrm>
            <a:off x="269875" y="5389563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40" name="Rectangle 21"/>
          <p:cNvSpPr>
            <a:spLocks noChangeArrowheads="1"/>
          </p:cNvSpPr>
          <p:nvPr/>
        </p:nvSpPr>
        <p:spPr bwMode="auto">
          <a:xfrm>
            <a:off x="2087563" y="481012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41" name="Rectangle 21"/>
          <p:cNvSpPr>
            <a:spLocks noChangeArrowheads="1"/>
          </p:cNvSpPr>
          <p:nvPr/>
        </p:nvSpPr>
        <p:spPr bwMode="auto">
          <a:xfrm>
            <a:off x="889000" y="54006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42" name="Rectangle 15"/>
          <p:cNvSpPr>
            <a:spLocks noChangeArrowheads="1"/>
          </p:cNvSpPr>
          <p:nvPr/>
        </p:nvSpPr>
        <p:spPr bwMode="auto">
          <a:xfrm>
            <a:off x="1773238" y="54006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43" name="Rectangle 16"/>
          <p:cNvSpPr>
            <a:spLocks noChangeArrowheads="1"/>
          </p:cNvSpPr>
          <p:nvPr/>
        </p:nvSpPr>
        <p:spPr bwMode="auto">
          <a:xfrm>
            <a:off x="1793875" y="6019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44" name="Rectangle 16"/>
          <p:cNvSpPr>
            <a:spLocks noChangeArrowheads="1"/>
          </p:cNvSpPr>
          <p:nvPr/>
        </p:nvSpPr>
        <p:spPr bwMode="auto">
          <a:xfrm>
            <a:off x="1793875" y="57054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35945" name="Rectangle 131"/>
          <p:cNvSpPr>
            <a:spLocks noChangeArrowheads="1"/>
          </p:cNvSpPr>
          <p:nvPr/>
        </p:nvSpPr>
        <p:spPr bwMode="auto">
          <a:xfrm>
            <a:off x="1184275" y="601027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583F-649E-400E-AD18-8756DBAF3FA2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2569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574675" y="296863"/>
            <a:ext cx="7772400" cy="1143000"/>
          </a:xfrm>
        </p:spPr>
        <p:txBody>
          <a:bodyPr/>
          <a:lstStyle/>
          <a:p>
            <a:r>
              <a:rPr lang="en-GB" altLang="en-US">
                <a:solidFill>
                  <a:srgbClr val="FF3300"/>
                </a:solidFill>
              </a:rPr>
              <a:t> </a:t>
            </a:r>
            <a:endParaRPr lang="en-GB" altLang="en-US" i="1">
              <a:solidFill>
                <a:srgbClr val="FF3300"/>
              </a:solidFill>
            </a:endParaRPr>
          </a:p>
        </p:txBody>
      </p:sp>
      <p:sp>
        <p:nvSpPr>
          <p:cNvPr id="50179" name="TextBox 262"/>
          <p:cNvSpPr txBox="1">
            <a:spLocks noChangeArrowheads="1"/>
          </p:cNvSpPr>
          <p:nvPr/>
        </p:nvSpPr>
        <p:spPr bwMode="auto">
          <a:xfrm>
            <a:off x="2247900" y="64214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444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63</a:t>
            </a:r>
          </a:p>
        </p:txBody>
      </p:sp>
      <p:pic>
        <p:nvPicPr>
          <p:cNvPr id="50180" name="Picture 4" descr="https://onlinecourses.science.psu.edu/stat857/sites/onlinecourses.science.psu.edu.stat857/files/image_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7663" y="101600"/>
            <a:ext cx="8518525" cy="67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100"/>
          <p:cNvSpPr txBox="1">
            <a:spLocks noChangeArrowheads="1"/>
          </p:cNvSpPr>
          <p:nvPr/>
        </p:nvSpPr>
        <p:spPr bwMode="auto">
          <a:xfrm>
            <a:off x="-17463" y="347503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1</a:t>
            </a:r>
          </a:p>
        </p:txBody>
      </p:sp>
      <p:sp>
        <p:nvSpPr>
          <p:cNvPr id="50182" name="TextBox 2"/>
          <p:cNvSpPr txBox="1">
            <a:spLocks noChangeArrowheads="1"/>
          </p:cNvSpPr>
          <p:nvPr/>
        </p:nvSpPr>
        <p:spPr bwMode="auto">
          <a:xfrm>
            <a:off x="5211763" y="1482725"/>
            <a:ext cx="2822575" cy="7080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/>
              <a:t>vertical lines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808163" y="771525"/>
            <a:ext cx="3403600" cy="1065213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H="1">
            <a:off x="4195763" y="2190750"/>
            <a:ext cx="1016000" cy="174625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6319838" y="2112963"/>
            <a:ext cx="2032000" cy="147320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47E8-89E9-49C3-86FE-81472483C09A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66512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574675" y="296863"/>
            <a:ext cx="7772400" cy="1143000"/>
          </a:xfrm>
        </p:spPr>
        <p:txBody>
          <a:bodyPr/>
          <a:lstStyle/>
          <a:p>
            <a:r>
              <a:rPr lang="en-GB" altLang="en-US">
                <a:solidFill>
                  <a:srgbClr val="FF3300"/>
                </a:solidFill>
              </a:rPr>
              <a:t> </a:t>
            </a:r>
            <a:endParaRPr lang="en-GB" altLang="en-US" i="1">
              <a:solidFill>
                <a:srgbClr val="FF3300"/>
              </a:solidFill>
            </a:endParaRPr>
          </a:p>
        </p:txBody>
      </p:sp>
      <p:sp>
        <p:nvSpPr>
          <p:cNvPr id="52227" name="TextBox 262"/>
          <p:cNvSpPr txBox="1">
            <a:spLocks noChangeArrowheads="1"/>
          </p:cNvSpPr>
          <p:nvPr/>
        </p:nvSpPr>
        <p:spPr bwMode="auto">
          <a:xfrm>
            <a:off x="2247900" y="64214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444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63</a:t>
            </a:r>
          </a:p>
        </p:txBody>
      </p:sp>
      <p:pic>
        <p:nvPicPr>
          <p:cNvPr id="52228" name="Picture 4" descr="https://onlinecourses.science.psu.edu/stat857/sites/onlinecourses.science.psu.edu.stat857/files/image_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7663" y="101600"/>
            <a:ext cx="8518525" cy="67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TextBox 100"/>
          <p:cNvSpPr txBox="1">
            <a:spLocks noChangeArrowheads="1"/>
          </p:cNvSpPr>
          <p:nvPr/>
        </p:nvSpPr>
        <p:spPr bwMode="auto">
          <a:xfrm>
            <a:off x="-17463" y="347503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1</a:t>
            </a:r>
          </a:p>
        </p:txBody>
      </p:sp>
      <p:sp>
        <p:nvSpPr>
          <p:cNvPr id="52230" name="TextBox 2"/>
          <p:cNvSpPr txBox="1">
            <a:spLocks noChangeArrowheads="1"/>
          </p:cNvSpPr>
          <p:nvPr/>
        </p:nvSpPr>
        <p:spPr bwMode="auto">
          <a:xfrm>
            <a:off x="5211763" y="1482725"/>
            <a:ext cx="3478212" cy="7080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/>
              <a:t>Horizontal lines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904875" y="965200"/>
            <a:ext cx="4306888" cy="871538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H="1">
            <a:off x="2493963" y="2190750"/>
            <a:ext cx="2717800" cy="1516063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6319838" y="2112963"/>
            <a:ext cx="152400" cy="2428875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29BE-E3C9-4D30-8541-C5301AC4C685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85062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574675" y="296863"/>
            <a:ext cx="7772400" cy="1143000"/>
          </a:xfrm>
        </p:spPr>
        <p:txBody>
          <a:bodyPr/>
          <a:lstStyle/>
          <a:p>
            <a:r>
              <a:rPr lang="en-GB" altLang="en-US">
                <a:solidFill>
                  <a:srgbClr val="FF3300"/>
                </a:solidFill>
              </a:rPr>
              <a:t> </a:t>
            </a:r>
            <a:endParaRPr lang="en-GB" altLang="en-US" i="1">
              <a:solidFill>
                <a:srgbClr val="FF3300"/>
              </a:solidFill>
            </a:endParaRPr>
          </a:p>
        </p:txBody>
      </p:sp>
      <p:sp>
        <p:nvSpPr>
          <p:cNvPr id="54275" name="TextBox 262"/>
          <p:cNvSpPr txBox="1">
            <a:spLocks noChangeArrowheads="1"/>
          </p:cNvSpPr>
          <p:nvPr/>
        </p:nvSpPr>
        <p:spPr bwMode="auto">
          <a:xfrm>
            <a:off x="2247900" y="64214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444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63</a:t>
            </a:r>
          </a:p>
        </p:txBody>
      </p:sp>
      <p:pic>
        <p:nvPicPr>
          <p:cNvPr id="54276" name="Picture 4" descr="https://onlinecourses.science.psu.edu/stat857/sites/onlinecourses.science.psu.edu.stat857/files/image_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7663" y="101600"/>
            <a:ext cx="8518525" cy="67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TextBox 100"/>
          <p:cNvSpPr txBox="1">
            <a:spLocks noChangeArrowheads="1"/>
          </p:cNvSpPr>
          <p:nvPr/>
        </p:nvSpPr>
        <p:spPr bwMode="auto">
          <a:xfrm>
            <a:off x="-17463" y="347503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1</a:t>
            </a:r>
          </a:p>
        </p:txBody>
      </p:sp>
      <p:sp>
        <p:nvSpPr>
          <p:cNvPr id="54278" name="TextBox 2"/>
          <p:cNvSpPr txBox="1">
            <a:spLocks noChangeArrowheads="1"/>
          </p:cNvSpPr>
          <p:nvPr/>
        </p:nvSpPr>
        <p:spPr bwMode="auto">
          <a:xfrm>
            <a:off x="5211763" y="1482725"/>
            <a:ext cx="2851150" cy="7080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/>
              <a:t>Small circles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2493963" y="965200"/>
            <a:ext cx="2717800" cy="871538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5699125" y="2190750"/>
            <a:ext cx="101600" cy="202565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6319838" y="2112963"/>
            <a:ext cx="1900237" cy="803275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BBB9-4262-4C71-AFB6-13F1DBCEA325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62268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574675" y="296863"/>
            <a:ext cx="7772400" cy="1143000"/>
          </a:xfrm>
        </p:spPr>
        <p:txBody>
          <a:bodyPr/>
          <a:lstStyle/>
          <a:p>
            <a:r>
              <a:rPr lang="en-GB" altLang="en-US">
                <a:solidFill>
                  <a:srgbClr val="FF3300"/>
                </a:solidFill>
              </a:rPr>
              <a:t> </a:t>
            </a:r>
            <a:endParaRPr lang="en-GB" altLang="en-US" i="1">
              <a:solidFill>
                <a:srgbClr val="FF3300"/>
              </a:solidFill>
            </a:endParaRPr>
          </a:p>
        </p:txBody>
      </p:sp>
      <p:sp>
        <p:nvSpPr>
          <p:cNvPr id="56323" name="TextBox 262"/>
          <p:cNvSpPr txBox="1">
            <a:spLocks noChangeArrowheads="1"/>
          </p:cNvSpPr>
          <p:nvPr/>
        </p:nvSpPr>
        <p:spPr bwMode="auto">
          <a:xfrm>
            <a:off x="2247900" y="64214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444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63</a:t>
            </a:r>
          </a:p>
        </p:txBody>
      </p:sp>
      <p:pic>
        <p:nvPicPr>
          <p:cNvPr id="56324" name="Picture 4" descr="https://onlinecourses.science.psu.edu/stat857/sites/onlinecourses.science.psu.edu.stat857/files/image_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7663" y="101600"/>
            <a:ext cx="8518525" cy="67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TextBox 100"/>
          <p:cNvSpPr txBox="1">
            <a:spLocks noChangeArrowheads="1"/>
          </p:cNvSpPr>
          <p:nvPr/>
        </p:nvSpPr>
        <p:spPr bwMode="auto">
          <a:xfrm>
            <a:off x="-17463" y="3475038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1</a:t>
            </a:r>
          </a:p>
        </p:txBody>
      </p:sp>
      <p:sp>
        <p:nvSpPr>
          <p:cNvPr id="56326" name="TextBox 2"/>
          <p:cNvSpPr txBox="1">
            <a:spLocks noChangeArrowheads="1"/>
          </p:cNvSpPr>
          <p:nvPr/>
        </p:nvSpPr>
        <p:spPr bwMode="auto">
          <a:xfrm>
            <a:off x="5211763" y="1482725"/>
            <a:ext cx="2851150" cy="7080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/>
              <a:t>Small circles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2493963" y="965200"/>
            <a:ext cx="2717800" cy="871538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5699125" y="2190750"/>
            <a:ext cx="101600" cy="202565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6319838" y="2112963"/>
            <a:ext cx="1900237" cy="803275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30" name="TextBox 9"/>
          <p:cNvSpPr txBox="1">
            <a:spLocks noChangeArrowheads="1"/>
          </p:cNvSpPr>
          <p:nvPr/>
        </p:nvSpPr>
        <p:spPr bwMode="auto">
          <a:xfrm>
            <a:off x="239713" y="4776788"/>
            <a:ext cx="8435975" cy="19383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/>
              <a:t>But what about position invariance  ???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/>
              <a:t>our example unit detectors were tied to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/>
              <a:t>specific parts of the image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FF9B-F346-46A0-99D0-4CBBB8B54014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9512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11623FC1-32AD-4AFC-A236-5D2EA7C14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62" y="263236"/>
            <a:ext cx="9000566" cy="645823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BB0C2A-121B-451A-8306-C0BC0001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9BD363C-6110-4454-9D79-BE88F247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EEF632B-AFAA-4333-9826-084FB7807813}"/>
              </a:ext>
            </a:extLst>
          </p:cNvPr>
          <p:cNvSpPr/>
          <p:nvPr/>
        </p:nvSpPr>
        <p:spPr>
          <a:xfrm>
            <a:off x="1441186" y="4418793"/>
            <a:ext cx="1545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Original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C3F0ECF-9CD5-471C-81A4-C90F0DC608E3}"/>
              </a:ext>
            </a:extLst>
          </p:cNvPr>
          <p:cNvSpPr txBox="1"/>
          <p:nvPr/>
        </p:nvSpPr>
        <p:spPr>
          <a:xfrm>
            <a:off x="3939335" y="4491106"/>
            <a:ext cx="1605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Horizontal Edge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9E00844-D597-4292-9946-A39CFD170153}"/>
              </a:ext>
            </a:extLst>
          </p:cNvPr>
          <p:cNvSpPr txBox="1"/>
          <p:nvPr/>
        </p:nvSpPr>
        <p:spPr>
          <a:xfrm>
            <a:off x="6484690" y="4516273"/>
            <a:ext cx="1605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Vertical Edge</a:t>
            </a:r>
          </a:p>
        </p:txBody>
      </p:sp>
    </p:spTree>
    <p:extLst>
      <p:ext uri="{BB962C8B-B14F-4D97-AF65-F5344CB8AC3E}">
        <p14:creationId xmlns:p14="http://schemas.microsoft.com/office/powerpoint/2010/main" xmlns="" val="199822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xmlns="" id="{933A1C1E-B1E4-4F58-AE9D-9AD2B6E81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Sobel Edges</a:t>
            </a:r>
          </a:p>
        </p:txBody>
      </p:sp>
      <p:pic>
        <p:nvPicPr>
          <p:cNvPr id="28675" name="Content Placeholder 3">
            <a:extLst>
              <a:ext uri="{FF2B5EF4-FFF2-40B4-BE49-F238E27FC236}">
                <a16:creationId xmlns:a16="http://schemas.microsoft.com/office/drawing/2014/main" xmlns="" id="{AE38653C-303D-45F5-8B47-DEBEEC2501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57200" y="1749425"/>
            <a:ext cx="8229600" cy="4227513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61" y="365126"/>
            <a:ext cx="8744755" cy="132556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  <a:latin typeface="+mn-lt"/>
              </a:rPr>
              <a:t>Convolutional Neural Network (CNN)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3" descr="lenet-architectu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14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274" y="2240923"/>
            <a:ext cx="9001843" cy="350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C886B13-E64F-48B1-8E5C-F8D979006922}"/>
              </a:ext>
            </a:extLst>
          </p:cNvPr>
          <p:cNvSpPr txBox="1"/>
          <p:nvPr/>
        </p:nvSpPr>
        <p:spPr>
          <a:xfrm>
            <a:off x="1881554" y="6031523"/>
            <a:ext cx="17572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 x 5 x 16</a:t>
            </a:r>
          </a:p>
          <a:p>
            <a:r>
              <a:rPr lang="en-IN" dirty="0"/>
              <a:t>=(5-5)/1 +1 =1</a:t>
            </a:r>
          </a:p>
          <a:p>
            <a:r>
              <a:rPr lang="en-IN" dirty="0"/>
              <a:t>=(16-16)/1 +1 =1</a:t>
            </a:r>
          </a:p>
        </p:txBody>
      </p:sp>
    </p:spTree>
    <p:extLst>
      <p:ext uri="{BB962C8B-B14F-4D97-AF65-F5344CB8AC3E}">
        <p14:creationId xmlns:p14="http://schemas.microsoft.com/office/powerpoint/2010/main" xmlns="" val="29922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>
            <a:extLst>
              <a:ext uri="{FF2B5EF4-FFF2-40B4-BE49-F238E27FC236}">
                <a16:creationId xmlns:a16="http://schemas.microsoft.com/office/drawing/2014/main" xmlns="" id="{F3194BA2-49D5-4B38-9C2A-E46FFB32D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Convolution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xmlns="" id="{1FF16B4B-BF3E-4219-B2B1-27EB858553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文字方塊 4">
            <a:extLst>
              <a:ext uri="{FF2B5EF4-FFF2-40B4-BE49-F238E27FC236}">
                <a16:creationId xmlns:a16="http://schemas.microsoft.com/office/drawing/2014/main" xmlns="" id="{7607D9FF-FB67-4B23-9ECC-06147D7EF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6 x 6 image</a:t>
            </a:r>
            <a:endParaRPr lang="zh-TW" altLang="en-US" sz="2400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xmlns="" id="{10C123BE-CA1E-437D-BDF1-28D61476B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54436793"/>
              </p:ext>
            </p:extLst>
          </p:nvPr>
        </p:nvGraphicFramePr>
        <p:xfrm>
          <a:off x="5259388" y="20685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" name="文字方塊 6">
            <a:extLst>
              <a:ext uri="{FF2B5EF4-FFF2-40B4-BE49-F238E27FC236}">
                <a16:creationId xmlns:a16="http://schemas.microsoft.com/office/drawing/2014/main" xmlns="" id="{629DC047-8DEA-4E4B-B00C-0AC1B22C6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5" y="242093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1</a:t>
            </a:r>
            <a:endParaRPr lang="zh-TW" altLang="en-US" sz="2400"/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xmlns="" id="{F093ADB6-9D0F-4BD3-B010-5AAF40DBAF8B}"/>
              </a:ext>
            </a:extLst>
          </p:cNvPr>
          <p:cNvGraphicFramePr>
            <a:graphicFrameLocks noGrp="1"/>
          </p:cNvGraphicFramePr>
          <p:nvPr/>
        </p:nvGraphicFramePr>
        <p:xfrm>
          <a:off x="5259388" y="36941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文字方塊 8">
            <a:extLst>
              <a:ext uri="{FF2B5EF4-FFF2-40B4-BE49-F238E27FC236}">
                <a16:creationId xmlns:a16="http://schemas.microsoft.com/office/drawing/2014/main" xmlns="" id="{BA1D8059-5914-4DB1-92E3-AAD3D8CCB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5" y="40322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2</a:t>
            </a:r>
            <a:endParaRPr lang="zh-TW" altLang="en-US" sz="2400"/>
          </a:p>
        </p:txBody>
      </p:sp>
      <p:sp>
        <p:nvSpPr>
          <p:cNvPr id="11" name="文字方塊 9">
            <a:extLst>
              <a:ext uri="{FF2B5EF4-FFF2-40B4-BE49-F238E27FC236}">
                <a16:creationId xmlns:a16="http://schemas.microsoft.com/office/drawing/2014/main" xmlns="" id="{B2B72456-B808-4E0C-8D97-C827F236FBC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830094" y="5234782"/>
            <a:ext cx="7080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b="1"/>
              <a:t>……</a:t>
            </a:r>
            <a:endParaRPr lang="zh-TW" altLang="en-US" sz="2800" b="1"/>
          </a:p>
        </p:txBody>
      </p:sp>
      <p:sp>
        <p:nvSpPr>
          <p:cNvPr id="12" name="文字方塊 10">
            <a:extLst>
              <a:ext uri="{FF2B5EF4-FFF2-40B4-BE49-F238E27FC236}">
                <a16:creationId xmlns:a16="http://schemas.microsoft.com/office/drawing/2014/main" xmlns="" id="{FF04A270-A3BB-4127-9A8D-0320F416A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004888"/>
            <a:ext cx="39624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dirty="0"/>
              <a:t>These are the network parameters to be learned.</a:t>
            </a:r>
            <a:endParaRPr lang="zh-TW" altLang="en-US" sz="2400" b="1" dirty="0"/>
          </a:p>
        </p:txBody>
      </p:sp>
      <p:sp>
        <p:nvSpPr>
          <p:cNvPr id="15" name="文字方塊 12">
            <a:extLst>
              <a:ext uri="{FF2B5EF4-FFF2-40B4-BE49-F238E27FC236}">
                <a16:creationId xmlns:a16="http://schemas.microsoft.com/office/drawing/2014/main" xmlns="" id="{6A56CD9F-8110-4B7E-AD87-73F43F8CF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5849938"/>
            <a:ext cx="3556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Each filter detects a small pattern (3 x 3). </a:t>
            </a: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2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>
            <a:extLst>
              <a:ext uri="{FF2B5EF4-FFF2-40B4-BE49-F238E27FC236}">
                <a16:creationId xmlns:a16="http://schemas.microsoft.com/office/drawing/2014/main" xmlns="" id="{2B4528C0-1DBA-4DC3-8DD4-26374FD0D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45280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Convolution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xmlns="" id="{58550033-375C-499F-B141-EB7886E9AB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270" name="文字方塊 4">
            <a:extLst>
              <a:ext uri="{FF2B5EF4-FFF2-40B4-BE49-F238E27FC236}">
                <a16:creationId xmlns:a16="http://schemas.microsoft.com/office/drawing/2014/main" xmlns="" id="{8B297F96-47E7-417D-A985-C7C75B99E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6 x 6 image</a:t>
            </a:r>
            <a:endParaRPr lang="zh-TW" altLang="en-US" sz="2400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xmlns="" id="{E9CB9666-51B2-4DA1-9B47-02D5AE746E6B}"/>
              </a:ext>
            </a:extLst>
          </p:cNvPr>
          <p:cNvGraphicFramePr>
            <a:graphicFrameLocks noGrp="1"/>
          </p:cNvGraphicFramePr>
          <p:nvPr/>
        </p:nvGraphicFramePr>
        <p:xfrm>
          <a:off x="5564188" y="47783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289" name="文字方塊 6">
            <a:extLst>
              <a:ext uri="{FF2B5EF4-FFF2-40B4-BE49-F238E27FC236}">
                <a16:creationId xmlns:a16="http://schemas.microsoft.com/office/drawing/2014/main" xmlns="" id="{465D642E-3DE0-49E8-B6E5-668DAB588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9334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xmlns="" id="{19669C08-310A-457F-AE85-C0751BEF8634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xmlns="" id="{07DE70E2-A40F-485D-907B-48A780D40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xmlns="" id="{B34181C7-011D-4B84-B6C2-A9FD9398E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矩形 27">
            <a:extLst>
              <a:ext uri="{FF2B5EF4-FFF2-40B4-BE49-F238E27FC236}">
                <a16:creationId xmlns:a16="http://schemas.microsoft.com/office/drawing/2014/main" xmlns="" id="{E4EFF5E8-C2D6-4054-8288-06A7F45FEE8A}"/>
              </a:ext>
            </a:extLst>
          </p:cNvPr>
          <p:cNvSpPr/>
          <p:nvPr/>
        </p:nvSpPr>
        <p:spPr>
          <a:xfrm>
            <a:off x="1484313" y="2398713"/>
            <a:ext cx="1417637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3" name="矩形 33">
            <a:extLst>
              <a:ext uri="{FF2B5EF4-FFF2-40B4-BE49-F238E27FC236}">
                <a16:creationId xmlns:a16="http://schemas.microsoft.com/office/drawing/2014/main" xmlns="" id="{0AD00049-18DB-41AB-BAED-AD8CA143A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208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s</a:t>
            </a:r>
            <a:r>
              <a:rPr lang="zh-TW" altLang="en-US" sz="2400"/>
              <a:t>tride</a:t>
            </a:r>
            <a:r>
              <a:rPr lang="en-US" altLang="zh-TW" sz="2400"/>
              <a:t>=1</a:t>
            </a:r>
            <a:endParaRPr lang="zh-TW" altLang="en-US" sz="24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E84679F2-0168-45CF-A011-5117299C32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62400" y="3124200"/>
            <a:ext cx="6858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003A40F-2B13-42FC-A080-9D40662BA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438400"/>
            <a:ext cx="9540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Dot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  <p:bldP spid="13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xmlns="" id="{C6FE125F-D17F-46A4-A5B1-0D59FDA68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Convolution</a:t>
            </a:r>
            <a:endParaRPr lang="zh-TW" altLang="en-US" dirty="0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xmlns="" id="{F80D4282-BF6E-41B3-B5F3-6FA31588C9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0294" name="文字方塊 4">
            <a:extLst>
              <a:ext uri="{FF2B5EF4-FFF2-40B4-BE49-F238E27FC236}">
                <a16:creationId xmlns:a16="http://schemas.microsoft.com/office/drawing/2014/main" xmlns="" id="{83B91C5C-0F91-44AF-8C26-284077F11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6 x 6 image</a:t>
            </a:r>
            <a:endParaRPr lang="zh-TW" altLang="en-US" sz="2400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xmlns="" id="{DA6B74C6-EF0B-4F09-AE41-3D45C56EDFFE}"/>
              </a:ext>
            </a:extLst>
          </p:cNvPr>
          <p:cNvGraphicFramePr>
            <a:graphicFrameLocks noGrp="1"/>
          </p:cNvGraphicFramePr>
          <p:nvPr/>
        </p:nvGraphicFramePr>
        <p:xfrm>
          <a:off x="5564188" y="47783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313" name="文字方塊 6">
            <a:extLst>
              <a:ext uri="{FF2B5EF4-FFF2-40B4-BE49-F238E27FC236}">
                <a16:creationId xmlns:a16="http://schemas.microsoft.com/office/drawing/2014/main" xmlns="" id="{A1E3D5A6-4B71-4BB3-8A5F-5BE0A2D28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9334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xmlns="" id="{BACD7268-F611-488A-9C9C-360F75D4DA1F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xmlns="" id="{B1578E7D-DD7A-4967-B649-38C4C22F6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xmlns="" id="{837F917A-7EAE-468E-9ACE-CD4812D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矩形 27">
            <a:extLst>
              <a:ext uri="{FF2B5EF4-FFF2-40B4-BE49-F238E27FC236}">
                <a16:creationId xmlns:a16="http://schemas.microsoft.com/office/drawing/2014/main" xmlns="" id="{6E2D1A6E-8AA0-4A03-9963-429CD3BC8546}"/>
              </a:ext>
            </a:extLst>
          </p:cNvPr>
          <p:cNvSpPr/>
          <p:nvPr/>
        </p:nvSpPr>
        <p:spPr>
          <a:xfrm>
            <a:off x="19637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0318" name="矩形 33">
            <a:extLst>
              <a:ext uri="{FF2B5EF4-FFF2-40B4-BE49-F238E27FC236}">
                <a16:creationId xmlns:a16="http://schemas.microsoft.com/office/drawing/2014/main" xmlns="" id="{DDEB5B2C-7BB8-4506-8275-B1549090D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If s</a:t>
            </a:r>
            <a:r>
              <a:rPr lang="zh-TW" altLang="en-US" sz="2400"/>
              <a:t>tride</a:t>
            </a:r>
            <a:r>
              <a:rPr lang="en-US" altLang="zh-TW" sz="2400"/>
              <a:t>=2</a:t>
            </a:r>
            <a:endParaRPr lang="zh-TW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87EF177-0005-4486-87AF-9FED041D1022}"/>
              </a:ext>
            </a:extLst>
          </p:cNvPr>
          <p:cNvSpPr txBox="1"/>
          <p:nvPr/>
        </p:nvSpPr>
        <p:spPr>
          <a:xfrm>
            <a:off x="4949505" y="2193925"/>
            <a:ext cx="2858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F(t) = max(0,t)=  max(0,1)=1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>
            <a:extLst>
              <a:ext uri="{FF2B5EF4-FFF2-40B4-BE49-F238E27FC236}">
                <a16:creationId xmlns:a16="http://schemas.microsoft.com/office/drawing/2014/main" xmlns="" id="{6E36B0B2-7C0C-4CA4-A774-C1BA9C059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Convolution</a:t>
            </a:r>
            <a:endParaRPr lang="zh-TW" altLang="en-US" dirty="0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xmlns="" id="{FFB233F0-C2F6-47B7-9C75-4180E61539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1318" name="文字方塊 4">
            <a:extLst>
              <a:ext uri="{FF2B5EF4-FFF2-40B4-BE49-F238E27FC236}">
                <a16:creationId xmlns:a16="http://schemas.microsoft.com/office/drawing/2014/main" xmlns="" id="{6F7C3A82-5655-4058-A3CD-EC1B748E8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6 x 6 image</a:t>
            </a:r>
            <a:endParaRPr lang="zh-TW" altLang="en-US" sz="2400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xmlns="" id="{C362EB8F-F02C-4291-B245-B4C6306E725E}"/>
              </a:ext>
            </a:extLst>
          </p:cNvPr>
          <p:cNvGraphicFramePr>
            <a:graphicFrameLocks noGrp="1"/>
          </p:cNvGraphicFramePr>
          <p:nvPr/>
        </p:nvGraphicFramePr>
        <p:xfrm>
          <a:off x="5564188" y="47783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337" name="文字方塊 6">
            <a:extLst>
              <a:ext uri="{FF2B5EF4-FFF2-40B4-BE49-F238E27FC236}">
                <a16:creationId xmlns:a16="http://schemas.microsoft.com/office/drawing/2014/main" xmlns="" id="{7DE294A6-50DE-4BE5-A924-15F8F14D3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9334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xmlns="" id="{9BF866F7-B0F8-471F-AA5C-CAD4B008C398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xmlns="" id="{8288D5B6-B43E-4AAC-B4C2-B849DE07B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xmlns="" id="{E2F391BA-B7CD-4213-88B9-382F17E73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橢圓 13">
            <a:extLst>
              <a:ext uri="{FF2B5EF4-FFF2-40B4-BE49-F238E27FC236}">
                <a16:creationId xmlns:a16="http://schemas.microsoft.com/office/drawing/2014/main" xmlns="" id="{6E396F55-989A-4F54-AEC2-FE1CFB440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橢圓 14">
            <a:extLst>
              <a:ext uri="{FF2B5EF4-FFF2-40B4-BE49-F238E27FC236}">
                <a16:creationId xmlns:a16="http://schemas.microsoft.com/office/drawing/2014/main" xmlns="" id="{9A56F6E7-65E9-4F7D-A0D8-AD0AB4432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橢圓 15">
            <a:extLst>
              <a:ext uri="{FF2B5EF4-FFF2-40B4-BE49-F238E27FC236}">
                <a16:creationId xmlns:a16="http://schemas.microsoft.com/office/drawing/2014/main" xmlns="" id="{FF3447B8-208E-41B7-9237-595899432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" name="橢圓 16">
            <a:extLst>
              <a:ext uri="{FF2B5EF4-FFF2-40B4-BE49-F238E27FC236}">
                <a16:creationId xmlns:a16="http://schemas.microsoft.com/office/drawing/2014/main" xmlns="" id="{4146D1F7-7C05-4FEA-8B8D-C92E35378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" name="橢圓 17">
            <a:extLst>
              <a:ext uri="{FF2B5EF4-FFF2-40B4-BE49-F238E27FC236}">
                <a16:creationId xmlns:a16="http://schemas.microsoft.com/office/drawing/2014/main" xmlns="" id="{054B0CA0-2E29-4BED-B153-6D6AABA44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" name="橢圓 18">
            <a:extLst>
              <a:ext uri="{FF2B5EF4-FFF2-40B4-BE49-F238E27FC236}">
                <a16:creationId xmlns:a16="http://schemas.microsoft.com/office/drawing/2014/main" xmlns="" id="{7C914E52-7B5E-42AC-B5CC-CB644CEA1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" name="橢圓 19">
            <a:extLst>
              <a:ext uri="{FF2B5EF4-FFF2-40B4-BE49-F238E27FC236}">
                <a16:creationId xmlns:a16="http://schemas.microsoft.com/office/drawing/2014/main" xmlns="" id="{8D13C537-9BFC-4766-956E-2B0DE76B5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" name="橢圓 20">
            <a:extLst>
              <a:ext uri="{FF2B5EF4-FFF2-40B4-BE49-F238E27FC236}">
                <a16:creationId xmlns:a16="http://schemas.microsoft.com/office/drawing/2014/main" xmlns="" id="{7E56B6BE-EA89-4339-937A-0D607CC05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橢圓 21">
            <a:extLst>
              <a:ext uri="{FF2B5EF4-FFF2-40B4-BE49-F238E27FC236}">
                <a16:creationId xmlns:a16="http://schemas.microsoft.com/office/drawing/2014/main" xmlns="" id="{9EB0B2A1-79E0-4D21-8CF0-CFD782310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1" name="橢圓 22">
            <a:extLst>
              <a:ext uri="{FF2B5EF4-FFF2-40B4-BE49-F238E27FC236}">
                <a16:creationId xmlns:a16="http://schemas.microsoft.com/office/drawing/2014/main" xmlns="" id="{98893791-1E49-4BF3-BDB6-4879CA3BF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2" name="橢圓 23">
            <a:extLst>
              <a:ext uri="{FF2B5EF4-FFF2-40B4-BE49-F238E27FC236}">
                <a16:creationId xmlns:a16="http://schemas.microsoft.com/office/drawing/2014/main" xmlns="" id="{019355B5-9A78-44A0-A54A-98D54D815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338" y="525938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3" name="橢圓 24">
            <a:extLst>
              <a:ext uri="{FF2B5EF4-FFF2-40B4-BE49-F238E27FC236}">
                <a16:creationId xmlns:a16="http://schemas.microsoft.com/office/drawing/2014/main" xmlns="" id="{B43E6A01-70EE-446A-813A-F76E43378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52466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4" name="橢圓 25">
            <a:extLst>
              <a:ext uri="{FF2B5EF4-FFF2-40B4-BE49-F238E27FC236}">
                <a16:creationId xmlns:a16="http://schemas.microsoft.com/office/drawing/2014/main" xmlns="" id="{F7D9FADF-71F6-4F18-9282-05DACFE12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" name="橢圓 26">
            <a:extLst>
              <a:ext uri="{FF2B5EF4-FFF2-40B4-BE49-F238E27FC236}">
                <a16:creationId xmlns:a16="http://schemas.microsoft.com/office/drawing/2014/main" xmlns="" id="{285B2C07-97BB-44AD-97FD-9BA0A0763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6" name="矩形 27">
            <a:extLst>
              <a:ext uri="{FF2B5EF4-FFF2-40B4-BE49-F238E27FC236}">
                <a16:creationId xmlns:a16="http://schemas.microsoft.com/office/drawing/2014/main" xmlns="" id="{C619007F-AA36-4CF9-B3E9-9869C8F4E4E4}"/>
              </a:ext>
            </a:extLst>
          </p:cNvPr>
          <p:cNvSpPr/>
          <p:nvPr/>
        </p:nvSpPr>
        <p:spPr>
          <a:xfrm>
            <a:off x="1484313" y="2398713"/>
            <a:ext cx="1417637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7" name="矩形 28">
            <a:extLst>
              <a:ext uri="{FF2B5EF4-FFF2-40B4-BE49-F238E27FC236}">
                <a16:creationId xmlns:a16="http://schemas.microsoft.com/office/drawing/2014/main" xmlns="" id="{0235B3EF-DBA6-4CCF-B085-4DCAF224BEA0}"/>
              </a:ext>
            </a:extLst>
          </p:cNvPr>
          <p:cNvSpPr/>
          <p:nvPr/>
        </p:nvSpPr>
        <p:spPr>
          <a:xfrm>
            <a:off x="1930400" y="2401888"/>
            <a:ext cx="1417638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8" name="矩形 29">
            <a:extLst>
              <a:ext uri="{FF2B5EF4-FFF2-40B4-BE49-F238E27FC236}">
                <a16:creationId xmlns:a16="http://schemas.microsoft.com/office/drawing/2014/main" xmlns="" id="{713FDDC6-393D-426B-8F15-DF70BFB407C5}"/>
              </a:ext>
            </a:extLst>
          </p:cNvPr>
          <p:cNvSpPr/>
          <p:nvPr/>
        </p:nvSpPr>
        <p:spPr>
          <a:xfrm>
            <a:off x="2433638" y="240506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9" name="矩形 30">
            <a:extLst>
              <a:ext uri="{FF2B5EF4-FFF2-40B4-BE49-F238E27FC236}">
                <a16:creationId xmlns:a16="http://schemas.microsoft.com/office/drawing/2014/main" xmlns="" id="{9762B126-0872-4A09-8BA3-41BD4BE8C31B}"/>
              </a:ext>
            </a:extLst>
          </p:cNvPr>
          <p:cNvSpPr/>
          <p:nvPr/>
        </p:nvSpPr>
        <p:spPr>
          <a:xfrm>
            <a:off x="985838" y="2809875"/>
            <a:ext cx="1416050" cy="13827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1359" name="矩形 33">
            <a:extLst>
              <a:ext uri="{FF2B5EF4-FFF2-40B4-BE49-F238E27FC236}">
                <a16:creationId xmlns:a16="http://schemas.microsoft.com/office/drawing/2014/main" xmlns="" id="{D3372F39-CB46-459F-AA09-37638E42B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208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s</a:t>
            </a:r>
            <a:r>
              <a:rPr lang="zh-TW" altLang="en-US" sz="2400"/>
              <a:t>tride</a:t>
            </a:r>
            <a:r>
              <a:rPr lang="en-US" altLang="zh-TW" sz="2400"/>
              <a:t>=1</a:t>
            </a:r>
            <a:endParaRPr lang="zh-TW" altLang="en-US" sz="2400"/>
          </a:p>
        </p:txBody>
      </p:sp>
      <p:sp>
        <p:nvSpPr>
          <p:cNvPr id="31" name="矩形 31">
            <a:extLst>
              <a:ext uri="{FF2B5EF4-FFF2-40B4-BE49-F238E27FC236}">
                <a16:creationId xmlns:a16="http://schemas.microsoft.com/office/drawing/2014/main" xmlns="" id="{899E6D78-58EC-4A72-89CD-9365A7D68D9F}"/>
              </a:ext>
            </a:extLst>
          </p:cNvPr>
          <p:cNvSpPr/>
          <p:nvPr/>
        </p:nvSpPr>
        <p:spPr>
          <a:xfrm>
            <a:off x="2433638" y="3767138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2" name="矩形 7">
            <a:extLst>
              <a:ext uri="{FF2B5EF4-FFF2-40B4-BE49-F238E27FC236}">
                <a16:creationId xmlns:a16="http://schemas.microsoft.com/office/drawing/2014/main" xmlns="" id="{95BD8F1D-843D-4273-A004-36243AE1D5A9}"/>
              </a:ext>
            </a:extLst>
          </p:cNvPr>
          <p:cNvSpPr/>
          <p:nvPr/>
        </p:nvSpPr>
        <p:spPr>
          <a:xfrm>
            <a:off x="5564188" y="477838"/>
            <a:ext cx="523875" cy="455612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3" name="矩形 35">
            <a:extLst>
              <a:ext uri="{FF2B5EF4-FFF2-40B4-BE49-F238E27FC236}">
                <a16:creationId xmlns:a16="http://schemas.microsoft.com/office/drawing/2014/main" xmlns="" id="{4325AFE5-C481-4E5B-8A53-CBF4379D5236}"/>
              </a:ext>
            </a:extLst>
          </p:cNvPr>
          <p:cNvSpPr/>
          <p:nvPr/>
        </p:nvSpPr>
        <p:spPr>
          <a:xfrm>
            <a:off x="6119813" y="936625"/>
            <a:ext cx="525462" cy="455613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4" name="矩形 36">
            <a:extLst>
              <a:ext uri="{FF2B5EF4-FFF2-40B4-BE49-F238E27FC236}">
                <a16:creationId xmlns:a16="http://schemas.microsoft.com/office/drawing/2014/main" xmlns="" id="{C77713CD-7650-4808-B40F-336CCBD00FD6}"/>
              </a:ext>
            </a:extLst>
          </p:cNvPr>
          <p:cNvSpPr/>
          <p:nvPr/>
        </p:nvSpPr>
        <p:spPr>
          <a:xfrm>
            <a:off x="6645275" y="1404938"/>
            <a:ext cx="523875" cy="455612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cxnSp>
        <p:nvCxnSpPr>
          <p:cNvPr id="35" name="直線接點 9">
            <a:extLst>
              <a:ext uri="{FF2B5EF4-FFF2-40B4-BE49-F238E27FC236}">
                <a16:creationId xmlns:a16="http://schemas.microsoft.com/office/drawing/2014/main" xmlns="" id="{2D960799-3E34-4116-8539-6BAD8551A808}"/>
              </a:ext>
            </a:extLst>
          </p:cNvPr>
          <p:cNvCxnSpPr/>
          <p:nvPr/>
        </p:nvCxnSpPr>
        <p:spPr>
          <a:xfrm>
            <a:off x="5564188" y="477838"/>
            <a:ext cx="1604962" cy="1382712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7">
            <a:extLst>
              <a:ext uri="{FF2B5EF4-FFF2-40B4-BE49-F238E27FC236}">
                <a16:creationId xmlns:a16="http://schemas.microsoft.com/office/drawing/2014/main" xmlns="" id="{82BDCBA2-C90F-415B-9AC0-92E553072CA0}"/>
              </a:ext>
            </a:extLst>
          </p:cNvPr>
          <p:cNvSpPr/>
          <p:nvPr/>
        </p:nvSpPr>
        <p:spPr>
          <a:xfrm>
            <a:off x="4713288" y="2786063"/>
            <a:ext cx="728662" cy="70802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7" name="矩形 38">
            <a:extLst>
              <a:ext uri="{FF2B5EF4-FFF2-40B4-BE49-F238E27FC236}">
                <a16:creationId xmlns:a16="http://schemas.microsoft.com/office/drawing/2014/main" xmlns="" id="{D547952A-8381-4B67-B191-CCEB6E3238CA}"/>
              </a:ext>
            </a:extLst>
          </p:cNvPr>
          <p:cNvSpPr/>
          <p:nvPr/>
        </p:nvSpPr>
        <p:spPr>
          <a:xfrm>
            <a:off x="4732338" y="5262563"/>
            <a:ext cx="728662" cy="70802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cxnSp>
        <p:nvCxnSpPr>
          <p:cNvPr id="39" name="直線接點 40">
            <a:extLst>
              <a:ext uri="{FF2B5EF4-FFF2-40B4-BE49-F238E27FC236}">
                <a16:creationId xmlns:a16="http://schemas.microsoft.com/office/drawing/2014/main" xmlns="" id="{9FC3641A-942E-4C7D-BAAF-39F8417389A6}"/>
              </a:ext>
            </a:extLst>
          </p:cNvPr>
          <p:cNvCxnSpPr/>
          <p:nvPr/>
        </p:nvCxnSpPr>
        <p:spPr>
          <a:xfrm>
            <a:off x="928688" y="2425700"/>
            <a:ext cx="1606550" cy="138271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41">
            <a:extLst>
              <a:ext uri="{FF2B5EF4-FFF2-40B4-BE49-F238E27FC236}">
                <a16:creationId xmlns:a16="http://schemas.microsoft.com/office/drawing/2014/main" xmlns="" id="{4BB578EA-AF99-4C97-ABFD-9DC5EAB38117}"/>
              </a:ext>
            </a:extLst>
          </p:cNvPr>
          <p:cNvCxnSpPr/>
          <p:nvPr/>
        </p:nvCxnSpPr>
        <p:spPr>
          <a:xfrm>
            <a:off x="881063" y="3760788"/>
            <a:ext cx="1604962" cy="1382712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1" grpId="0" animBg="1"/>
      <p:bldP spid="31" grpId="1" animBg="1"/>
      <p:bldP spid="32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3002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Multiple Convolutions</a:t>
            </a:r>
          </a:p>
        </p:txBody>
      </p:sp>
      <p:pic>
        <p:nvPicPr>
          <p:cNvPr id="5" name="Picture 4" descr="Screen Shot 2017-10-02 at 9.01.1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77133"/>
            <a:ext cx="9144000" cy="55457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4453" y="6222910"/>
            <a:ext cx="84939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Animation: Andrej </a:t>
            </a:r>
            <a:r>
              <a:rPr lang="en-US" dirty="0" err="1"/>
              <a:t>Karpathy</a:t>
            </a:r>
            <a:r>
              <a:rPr lang="en-US" dirty="0"/>
              <a:t> http://cs231n.github.io/convolutional-networks/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497460"/>
            <a:ext cx="2895600" cy="365125"/>
          </a:xfrm>
        </p:spPr>
        <p:txBody>
          <a:bodyPr/>
          <a:lstStyle/>
          <a:p>
            <a:r>
              <a:rPr lang="en-US" dirty="0"/>
              <a:t>CS8725 - Supervised Learning</a:t>
            </a:r>
          </a:p>
        </p:txBody>
      </p:sp>
    </p:spTree>
    <p:extLst>
      <p:ext uri="{BB962C8B-B14F-4D97-AF65-F5344CB8AC3E}">
        <p14:creationId xmlns:p14="http://schemas.microsoft.com/office/powerpoint/2010/main" xmlns="" val="558421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>
            <a:extLst>
              <a:ext uri="{FF2B5EF4-FFF2-40B4-BE49-F238E27FC236}">
                <a16:creationId xmlns:a16="http://schemas.microsoft.com/office/drawing/2014/main" xmlns="" id="{A7A39DD8-9690-4C37-8E16-F27001434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Convolution</a:t>
            </a:r>
            <a:endParaRPr lang="zh-TW" altLang="en-US" dirty="0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xmlns="" id="{9104F246-D515-4280-8325-7965E9CF8F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2342" name="文字方塊 4">
            <a:extLst>
              <a:ext uri="{FF2B5EF4-FFF2-40B4-BE49-F238E27FC236}">
                <a16:creationId xmlns:a16="http://schemas.microsoft.com/office/drawing/2014/main" xmlns="" id="{EBE3DFA3-1A0A-4E06-9C7F-6A63C08F7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6 x 6 image</a:t>
            </a:r>
            <a:endParaRPr lang="zh-TW" altLang="en-US" sz="2400"/>
          </a:p>
        </p:txBody>
      </p:sp>
      <p:sp>
        <p:nvSpPr>
          <p:cNvPr id="7" name="橢圓 11">
            <a:extLst>
              <a:ext uri="{FF2B5EF4-FFF2-40B4-BE49-F238E27FC236}">
                <a16:creationId xmlns:a16="http://schemas.microsoft.com/office/drawing/2014/main" xmlns="" id="{192E6976-4FF7-4465-9AB9-AB18BFA62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" name="橢圓 12">
            <a:extLst>
              <a:ext uri="{FF2B5EF4-FFF2-40B4-BE49-F238E27FC236}">
                <a16:creationId xmlns:a16="http://schemas.microsoft.com/office/drawing/2014/main" xmlns="" id="{E167DE54-B0F5-4D43-AC03-453C3F4F8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" name="橢圓 13">
            <a:extLst>
              <a:ext uri="{FF2B5EF4-FFF2-40B4-BE49-F238E27FC236}">
                <a16:creationId xmlns:a16="http://schemas.microsoft.com/office/drawing/2014/main" xmlns="" id="{CBD7D9EE-7D7E-4F60-AC99-3E9C0831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" name="橢圓 14">
            <a:extLst>
              <a:ext uri="{FF2B5EF4-FFF2-40B4-BE49-F238E27FC236}">
                <a16:creationId xmlns:a16="http://schemas.microsoft.com/office/drawing/2014/main" xmlns="" id="{4EF170C9-F7DC-443C-9F6D-FB67915A6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5">
            <a:extLst>
              <a:ext uri="{FF2B5EF4-FFF2-40B4-BE49-F238E27FC236}">
                <a16:creationId xmlns:a16="http://schemas.microsoft.com/office/drawing/2014/main" xmlns="" id="{CE19ED82-2329-42BC-AD7E-AB882B0E7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橢圓 16">
            <a:extLst>
              <a:ext uri="{FF2B5EF4-FFF2-40B4-BE49-F238E27FC236}">
                <a16:creationId xmlns:a16="http://schemas.microsoft.com/office/drawing/2014/main" xmlns="" id="{D5BB8D1B-67BE-4B07-A470-53349001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橢圓 17">
            <a:extLst>
              <a:ext uri="{FF2B5EF4-FFF2-40B4-BE49-F238E27FC236}">
                <a16:creationId xmlns:a16="http://schemas.microsoft.com/office/drawing/2014/main" xmlns="" id="{DB4C45CA-6395-4AF2-B425-AAB19B48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橢圓 18">
            <a:extLst>
              <a:ext uri="{FF2B5EF4-FFF2-40B4-BE49-F238E27FC236}">
                <a16:creationId xmlns:a16="http://schemas.microsoft.com/office/drawing/2014/main" xmlns="" id="{D4379F80-86B2-40FD-8F6A-7832C5DB4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" name="橢圓 19">
            <a:extLst>
              <a:ext uri="{FF2B5EF4-FFF2-40B4-BE49-F238E27FC236}">
                <a16:creationId xmlns:a16="http://schemas.microsoft.com/office/drawing/2014/main" xmlns="" id="{EC96D7EB-8E5B-4ED9-8664-9F8CF9B3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" name="橢圓 20">
            <a:extLst>
              <a:ext uri="{FF2B5EF4-FFF2-40B4-BE49-F238E27FC236}">
                <a16:creationId xmlns:a16="http://schemas.microsoft.com/office/drawing/2014/main" xmlns="" id="{22B83AD3-1E21-4611-8CC4-6F1BC1AE6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" name="橢圓 21">
            <a:extLst>
              <a:ext uri="{FF2B5EF4-FFF2-40B4-BE49-F238E27FC236}">
                <a16:creationId xmlns:a16="http://schemas.microsoft.com/office/drawing/2014/main" xmlns="" id="{84556DDE-74F3-47EF-A946-28146A47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" name="橢圓 22">
            <a:extLst>
              <a:ext uri="{FF2B5EF4-FFF2-40B4-BE49-F238E27FC236}">
                <a16:creationId xmlns:a16="http://schemas.microsoft.com/office/drawing/2014/main" xmlns="" id="{28F9DEE9-6C78-4DBE-AF90-6F85C7213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" name="橢圓 23">
            <a:extLst>
              <a:ext uri="{FF2B5EF4-FFF2-40B4-BE49-F238E27FC236}">
                <a16:creationId xmlns:a16="http://schemas.microsoft.com/office/drawing/2014/main" xmlns="" id="{1DED314F-2195-44CF-886F-307ACE55D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52466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橢圓 24">
            <a:extLst>
              <a:ext uri="{FF2B5EF4-FFF2-40B4-BE49-F238E27FC236}">
                <a16:creationId xmlns:a16="http://schemas.microsoft.com/office/drawing/2014/main" xmlns="" id="{9C77D3BD-F3FF-4F96-B246-8C943DC5B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52466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1" name="橢圓 25">
            <a:extLst>
              <a:ext uri="{FF2B5EF4-FFF2-40B4-BE49-F238E27FC236}">
                <a16:creationId xmlns:a16="http://schemas.microsoft.com/office/drawing/2014/main" xmlns="" id="{20ED1361-1214-4283-BE72-E8E840F4F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2" name="橢圓 26">
            <a:extLst>
              <a:ext uri="{FF2B5EF4-FFF2-40B4-BE49-F238E27FC236}">
                <a16:creationId xmlns:a16="http://schemas.microsoft.com/office/drawing/2014/main" xmlns="" id="{90E8EF89-5071-4773-A650-3EBEFCF4F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23" name="表格 34">
            <a:extLst>
              <a:ext uri="{FF2B5EF4-FFF2-40B4-BE49-F238E27FC236}">
                <a16:creationId xmlns:a16="http://schemas.microsoft.com/office/drawing/2014/main" xmlns="" id="{15619510-EB66-4AE9-A5F0-FCA6DC813D81}"/>
              </a:ext>
            </a:extLst>
          </p:cNvPr>
          <p:cNvGraphicFramePr>
            <a:graphicFrameLocks noGrp="1"/>
          </p:cNvGraphicFramePr>
          <p:nvPr/>
        </p:nvGraphicFramePr>
        <p:xfrm>
          <a:off x="5686425" y="365125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2377" name="文字方塊 35">
            <a:extLst>
              <a:ext uri="{FF2B5EF4-FFF2-40B4-BE49-F238E27FC236}">
                <a16:creationId xmlns:a16="http://schemas.microsoft.com/office/drawing/2014/main" xmlns="" id="{7B43C53C-79F6-42D6-8E63-37708057E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820738"/>
            <a:ext cx="1447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Filter 2</a:t>
            </a: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25" name="矩形 36">
            <a:extLst>
              <a:ext uri="{FF2B5EF4-FFF2-40B4-BE49-F238E27FC236}">
                <a16:creationId xmlns:a16="http://schemas.microsoft.com/office/drawing/2014/main" xmlns="" id="{04415694-975E-411B-B5F0-9C5FD3F08579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6" name="矩形 37">
            <a:extLst>
              <a:ext uri="{FF2B5EF4-FFF2-40B4-BE49-F238E27FC236}">
                <a16:creationId xmlns:a16="http://schemas.microsoft.com/office/drawing/2014/main" xmlns="" id="{FA2B6FC9-3552-4679-9FAC-481117E8F273}"/>
              </a:ext>
            </a:extLst>
          </p:cNvPr>
          <p:cNvSpPr/>
          <p:nvPr/>
        </p:nvSpPr>
        <p:spPr>
          <a:xfrm>
            <a:off x="1489075" y="2398713"/>
            <a:ext cx="1417638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7" name="矩形 38">
            <a:extLst>
              <a:ext uri="{FF2B5EF4-FFF2-40B4-BE49-F238E27FC236}">
                <a16:creationId xmlns:a16="http://schemas.microsoft.com/office/drawing/2014/main" xmlns="" id="{162DEF56-2E53-4082-B17F-9F575295DDC8}"/>
              </a:ext>
            </a:extLst>
          </p:cNvPr>
          <p:cNvSpPr/>
          <p:nvPr/>
        </p:nvSpPr>
        <p:spPr>
          <a:xfrm>
            <a:off x="1930400" y="2400300"/>
            <a:ext cx="1417638" cy="138271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8" name="矩形 39">
            <a:extLst>
              <a:ext uri="{FF2B5EF4-FFF2-40B4-BE49-F238E27FC236}">
                <a16:creationId xmlns:a16="http://schemas.microsoft.com/office/drawing/2014/main" xmlns="" id="{E4125C90-0060-4116-ABEA-50632EF2E8C7}"/>
              </a:ext>
            </a:extLst>
          </p:cNvPr>
          <p:cNvSpPr/>
          <p:nvPr/>
        </p:nvSpPr>
        <p:spPr>
          <a:xfrm>
            <a:off x="2406650" y="2398713"/>
            <a:ext cx="1417638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9" name="矩形 40">
            <a:extLst>
              <a:ext uri="{FF2B5EF4-FFF2-40B4-BE49-F238E27FC236}">
                <a16:creationId xmlns:a16="http://schemas.microsoft.com/office/drawing/2014/main" xmlns="" id="{9963D5F3-E867-49DB-A35A-994831E8D123}"/>
              </a:ext>
            </a:extLst>
          </p:cNvPr>
          <p:cNvSpPr/>
          <p:nvPr/>
        </p:nvSpPr>
        <p:spPr>
          <a:xfrm>
            <a:off x="985838" y="2809875"/>
            <a:ext cx="1416050" cy="138271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0" name="橢圓 41">
            <a:extLst>
              <a:ext uri="{FF2B5EF4-FFF2-40B4-BE49-F238E27FC236}">
                <a16:creationId xmlns:a16="http://schemas.microsoft.com/office/drawing/2014/main" xmlns="" id="{747661E9-A5F5-401D-800E-1E34238D9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29956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橢圓 42">
            <a:extLst>
              <a:ext uri="{FF2B5EF4-FFF2-40B4-BE49-F238E27FC236}">
                <a16:creationId xmlns:a16="http://schemas.microsoft.com/office/drawing/2014/main" xmlns="" id="{C6A9CD2A-4B3C-4A5A-A888-C00C9BC53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29956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" name="橢圓 43">
            <a:extLst>
              <a:ext uri="{FF2B5EF4-FFF2-40B4-BE49-F238E27FC236}">
                <a16:creationId xmlns:a16="http://schemas.microsoft.com/office/drawing/2014/main" xmlns="" id="{C5370F3A-078F-4C90-B14C-CE7CC5D40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2995613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3" name="橢圓 44">
            <a:extLst>
              <a:ext uri="{FF2B5EF4-FFF2-40B4-BE49-F238E27FC236}">
                <a16:creationId xmlns:a16="http://schemas.microsoft.com/office/drawing/2014/main" xmlns="" id="{FD55C20B-2129-44AB-B56E-64D76B384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29956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" name="橢圓 45">
            <a:extLst>
              <a:ext uri="{FF2B5EF4-FFF2-40B4-BE49-F238E27FC236}">
                <a16:creationId xmlns:a16="http://schemas.microsoft.com/office/drawing/2014/main" xmlns="" id="{F785CF69-4D5E-4E31-B1E4-4F5ADFD95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37957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" name="橢圓 46">
            <a:extLst>
              <a:ext uri="{FF2B5EF4-FFF2-40B4-BE49-F238E27FC236}">
                <a16:creationId xmlns:a16="http://schemas.microsoft.com/office/drawing/2014/main" xmlns="" id="{E9139D18-09AC-497D-A1E4-8D4C75789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37957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" name="橢圓 47">
            <a:extLst>
              <a:ext uri="{FF2B5EF4-FFF2-40B4-BE49-F238E27FC236}">
                <a16:creationId xmlns:a16="http://schemas.microsoft.com/office/drawing/2014/main" xmlns="" id="{15A30DE2-520D-4B83-B9E9-722376F3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3795713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" name="橢圓 48">
            <a:extLst>
              <a:ext uri="{FF2B5EF4-FFF2-40B4-BE49-F238E27FC236}">
                <a16:creationId xmlns:a16="http://schemas.microsoft.com/office/drawing/2014/main" xmlns="" id="{C77DD603-5A59-4DB3-827B-872985C0A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37957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" name="橢圓 49">
            <a:extLst>
              <a:ext uri="{FF2B5EF4-FFF2-40B4-BE49-F238E27FC236}">
                <a16:creationId xmlns:a16="http://schemas.microsoft.com/office/drawing/2014/main" xmlns="" id="{90240AB1-61CC-4CBB-910D-21E134B31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9" name="橢圓 50">
            <a:extLst>
              <a:ext uri="{FF2B5EF4-FFF2-40B4-BE49-F238E27FC236}">
                <a16:creationId xmlns:a16="http://schemas.microsoft.com/office/drawing/2014/main" xmlns="" id="{4696FB70-8B3E-4C24-A02B-11554FD14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0" name="橢圓 51">
            <a:extLst>
              <a:ext uri="{FF2B5EF4-FFF2-40B4-BE49-F238E27FC236}">
                <a16:creationId xmlns:a16="http://schemas.microsoft.com/office/drawing/2014/main" xmlns="" id="{8B387256-7252-4E16-A186-A70D70677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4654550"/>
            <a:ext cx="719137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1" name="橢圓 52">
            <a:extLst>
              <a:ext uri="{FF2B5EF4-FFF2-40B4-BE49-F238E27FC236}">
                <a16:creationId xmlns:a16="http://schemas.microsoft.com/office/drawing/2014/main" xmlns="" id="{6EA0ACC0-482B-409F-9592-F62BEC505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2" name="橢圓 53">
            <a:extLst>
              <a:ext uri="{FF2B5EF4-FFF2-40B4-BE49-F238E27FC236}">
                <a16:creationId xmlns:a16="http://schemas.microsoft.com/office/drawing/2014/main" xmlns="" id="{AE3C4944-151C-4AE2-9BCF-525CED71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3" name="橢圓 54">
            <a:extLst>
              <a:ext uri="{FF2B5EF4-FFF2-40B4-BE49-F238E27FC236}">
                <a16:creationId xmlns:a16="http://schemas.microsoft.com/office/drawing/2014/main" xmlns="" id="{889C97DE-0F2A-43E5-99BB-C0E74C2CD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" name="橢圓 55">
            <a:extLst>
              <a:ext uri="{FF2B5EF4-FFF2-40B4-BE49-F238E27FC236}">
                <a16:creationId xmlns:a16="http://schemas.microsoft.com/office/drawing/2014/main" xmlns="" id="{8D24AC40-EBC8-4942-B6F3-86E360435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5454650"/>
            <a:ext cx="719137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-4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" name="橢圓 56">
            <a:extLst>
              <a:ext uri="{FF2B5EF4-FFF2-40B4-BE49-F238E27FC236}">
                <a16:creationId xmlns:a16="http://schemas.microsoft.com/office/drawing/2014/main" xmlns="" id="{9FE91BA8-4F27-4104-AB4D-23E4DD985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" name="文字方塊 2">
            <a:extLst>
              <a:ext uri="{FF2B5EF4-FFF2-40B4-BE49-F238E27FC236}">
                <a16:creationId xmlns:a16="http://schemas.microsoft.com/office/drawing/2014/main" xmlns="" id="{D02FD29D-A4C9-4330-961D-742BDFC2A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05740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>
                <a:solidFill>
                  <a:srgbClr val="0000FF"/>
                </a:solidFill>
              </a:rPr>
              <a:t>Repeat this for each filter</a:t>
            </a:r>
            <a:endParaRPr lang="zh-TW" altLang="en-US" sz="2800">
              <a:solidFill>
                <a:srgbClr val="0000FF"/>
              </a:solidFill>
            </a:endParaRPr>
          </a:p>
        </p:txBody>
      </p:sp>
      <p:sp>
        <p:nvSpPr>
          <p:cNvPr id="47" name="矩形 57">
            <a:extLst>
              <a:ext uri="{FF2B5EF4-FFF2-40B4-BE49-F238E27FC236}">
                <a16:creationId xmlns:a16="http://schemas.microsoft.com/office/drawing/2014/main" xmlns="" id="{0B660012-20C2-4C98-894F-59F9461B65E8}"/>
              </a:ext>
            </a:extLst>
          </p:cNvPr>
          <p:cNvSpPr/>
          <p:nvPr/>
        </p:nvSpPr>
        <p:spPr>
          <a:xfrm>
            <a:off x="2416175" y="3783013"/>
            <a:ext cx="1416050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2401" name="矩形 58">
            <a:extLst>
              <a:ext uri="{FF2B5EF4-FFF2-40B4-BE49-F238E27FC236}">
                <a16:creationId xmlns:a16="http://schemas.microsoft.com/office/drawing/2014/main" xmlns="" id="{F3C641A0-FC0D-4F1B-9CBB-169690374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208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s</a:t>
            </a:r>
            <a:r>
              <a:rPr lang="zh-TW" altLang="en-US" sz="2400"/>
              <a:t>tride</a:t>
            </a:r>
            <a:r>
              <a:rPr lang="en-US" altLang="zh-TW" sz="2400"/>
              <a:t>=1</a:t>
            </a:r>
            <a:endParaRPr lang="zh-TW" altLang="en-US" sz="2400"/>
          </a:p>
        </p:txBody>
      </p:sp>
      <p:sp>
        <p:nvSpPr>
          <p:cNvPr id="49" name="文字方塊 59">
            <a:extLst>
              <a:ext uri="{FF2B5EF4-FFF2-40B4-BE49-F238E27FC236}">
                <a16:creationId xmlns:a16="http://schemas.microsoft.com/office/drawing/2014/main" xmlns="" id="{23C43A9A-1C69-45EC-90D3-D8CB2F210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365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Two 4 x 4 images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Forming 2 x 4 x 4 matrix</a:t>
            </a:r>
            <a:endParaRPr lang="zh-TW" altLang="en-US" sz="2000">
              <a:solidFill>
                <a:srgbClr val="FF0000"/>
              </a:solidFill>
            </a:endParaRPr>
          </a:p>
        </p:txBody>
      </p:sp>
      <p:sp>
        <p:nvSpPr>
          <p:cNvPr id="50" name="矩形 5">
            <a:extLst>
              <a:ext uri="{FF2B5EF4-FFF2-40B4-BE49-F238E27FC236}">
                <a16:creationId xmlns:a16="http://schemas.microsoft.com/office/drawing/2014/main" xmlns="" id="{62039778-3232-4D8D-B939-766E91FC360E}"/>
              </a:ext>
            </a:extLst>
          </p:cNvPr>
          <p:cNvSpPr/>
          <p:nvPr/>
        </p:nvSpPr>
        <p:spPr>
          <a:xfrm>
            <a:off x="5334000" y="4038600"/>
            <a:ext cx="2320925" cy="9731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Feature</a:t>
            </a:r>
          </a:p>
          <a:p>
            <a:pPr algn="ctr" eaLnBrk="1" hangingPunct="1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Map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 animBg="1"/>
      <p:bldP spid="49" grpId="0"/>
      <p:bldP spid="5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xmlns="" id="{7F920881-B86F-48FF-A742-AF29B04C4730}"/>
              </a:ext>
            </a:extLst>
          </p:cNvPr>
          <p:cNvGraphicFramePr>
            <a:graphicFrameLocks/>
          </p:cNvGraphicFramePr>
          <p:nvPr/>
        </p:nvGraphicFramePr>
        <p:xfrm>
          <a:off x="400050" y="184943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5413" name="文字方塊 4">
            <a:extLst>
              <a:ext uri="{FF2B5EF4-FFF2-40B4-BE49-F238E27FC236}">
                <a16:creationId xmlns:a16="http://schemas.microsoft.com/office/drawing/2014/main" xmlns="" id="{939815D0-5FE3-4A01-8884-D8E0D85B7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4640263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6 x 6 image</a:t>
            </a:r>
            <a:endParaRPr lang="zh-TW" altLang="en-US" sz="240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C62A036F-7581-4C23-B60E-36294165FC4C}"/>
              </a:ext>
            </a:extLst>
          </p:cNvPr>
          <p:cNvGraphicFramePr>
            <a:graphicFrameLocks noGrp="1"/>
          </p:cNvGraphicFramePr>
          <p:nvPr/>
        </p:nvGraphicFramePr>
        <p:xfrm>
          <a:off x="400050" y="15240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2127C88E-06F0-4E82-BCF7-907FD9C5C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263" y="23653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91803F30-707B-4F41-8CA3-1392EC85C109}"/>
              </a:ext>
            </a:extLst>
          </p:cNvPr>
          <p:cNvSpPr/>
          <p:nvPr/>
        </p:nvSpPr>
        <p:spPr>
          <a:xfrm>
            <a:off x="400050" y="1849438"/>
            <a:ext cx="1417638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pic>
        <p:nvPicPr>
          <p:cNvPr id="9" name="圖片 31">
            <a:extLst>
              <a:ext uri="{FF2B5EF4-FFF2-40B4-BE49-F238E27FC236}">
                <a16:creationId xmlns:a16="http://schemas.microsoft.com/office/drawing/2014/main" xmlns="" id="{FBBC7886-63C9-4C59-BAD4-828473F6D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6375" y="1196975"/>
            <a:ext cx="2239963" cy="222726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單箭頭接點 33">
            <a:extLst>
              <a:ext uri="{FF2B5EF4-FFF2-40B4-BE49-F238E27FC236}">
                <a16:creationId xmlns:a16="http://schemas.microsoft.com/office/drawing/2014/main" xmlns="" id="{A916F69C-8606-4A2B-BD10-51C6C3637369}"/>
              </a:ext>
            </a:extLst>
          </p:cNvPr>
          <p:cNvCxnSpPr/>
          <p:nvPr/>
        </p:nvCxnSpPr>
        <p:spPr>
          <a:xfrm>
            <a:off x="2022475" y="838200"/>
            <a:ext cx="860425" cy="5699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34">
            <a:extLst>
              <a:ext uri="{FF2B5EF4-FFF2-40B4-BE49-F238E27FC236}">
                <a16:creationId xmlns:a16="http://schemas.microsoft.com/office/drawing/2014/main" xmlns="" id="{BD6B5D75-8C0F-4BA4-B64F-E2273DBC4B11}"/>
              </a:ext>
            </a:extLst>
          </p:cNvPr>
          <p:cNvCxnSpPr/>
          <p:nvPr/>
        </p:nvCxnSpPr>
        <p:spPr>
          <a:xfrm flipV="1">
            <a:off x="1839913" y="1571625"/>
            <a:ext cx="1042987" cy="965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37">
            <a:extLst>
              <a:ext uri="{FF2B5EF4-FFF2-40B4-BE49-F238E27FC236}">
                <a16:creationId xmlns:a16="http://schemas.microsoft.com/office/drawing/2014/main" xmlns="" id="{00F10056-6137-4CF7-947A-9EBFBCF0B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4921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</a:t>
            </a:r>
            <a:endParaRPr lang="zh-TW" altLang="en-US" sz="2400"/>
          </a:p>
        </p:txBody>
      </p:sp>
      <p:sp>
        <p:nvSpPr>
          <p:cNvPr id="13" name="文字方塊 38">
            <a:extLst>
              <a:ext uri="{FF2B5EF4-FFF2-40B4-BE49-F238E27FC236}">
                <a16:creationId xmlns:a16="http://schemas.microsoft.com/office/drawing/2014/main" xmlns="" id="{4C60EE07-5776-4496-BDDD-5D470724F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511175"/>
            <a:ext cx="387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2</a:t>
            </a:r>
            <a:endParaRPr lang="zh-TW" altLang="en-US" sz="2400"/>
          </a:p>
        </p:txBody>
      </p:sp>
      <p:sp>
        <p:nvSpPr>
          <p:cNvPr id="14" name="文字方塊 39">
            <a:extLst>
              <a:ext uri="{FF2B5EF4-FFF2-40B4-BE49-F238E27FC236}">
                <a16:creationId xmlns:a16="http://schemas.microsoft.com/office/drawing/2014/main" xmlns="" id="{4F8236A0-1604-4B25-9335-013386C0C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96043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3</a:t>
            </a:r>
            <a:endParaRPr lang="zh-TW" altLang="en-US" sz="2400"/>
          </a:p>
        </p:txBody>
      </p:sp>
      <p:sp>
        <p:nvSpPr>
          <p:cNvPr id="15" name="文字方塊 40">
            <a:extLst>
              <a:ext uri="{FF2B5EF4-FFF2-40B4-BE49-F238E27FC236}">
                <a16:creationId xmlns:a16="http://schemas.microsoft.com/office/drawing/2014/main" xmlns="" id="{82A00AD3-5133-42F6-B5A5-9A47DCD58B6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308600" y="1811338"/>
            <a:ext cx="820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17" name="文字方塊 42">
            <a:extLst>
              <a:ext uri="{FF2B5EF4-FFF2-40B4-BE49-F238E27FC236}">
                <a16:creationId xmlns:a16="http://schemas.microsoft.com/office/drawing/2014/main" xmlns="" id="{09C2AD0A-8E59-4BBA-82EB-AE4B63CCD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2701925"/>
            <a:ext cx="387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8</a:t>
            </a:r>
            <a:endParaRPr lang="zh-TW" altLang="en-US" sz="2400"/>
          </a:p>
        </p:txBody>
      </p:sp>
      <p:sp>
        <p:nvSpPr>
          <p:cNvPr id="18" name="文字方塊 43">
            <a:extLst>
              <a:ext uri="{FF2B5EF4-FFF2-40B4-BE49-F238E27FC236}">
                <a16:creationId xmlns:a16="http://schemas.microsoft.com/office/drawing/2014/main" xmlns="" id="{75626EC7-F200-474C-9D71-0A5D5F503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315118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9</a:t>
            </a:r>
            <a:endParaRPr lang="zh-TW" altLang="en-US" sz="2400"/>
          </a:p>
        </p:txBody>
      </p:sp>
      <p:sp>
        <p:nvSpPr>
          <p:cNvPr id="19" name="文字方塊 44">
            <a:extLst>
              <a:ext uri="{FF2B5EF4-FFF2-40B4-BE49-F238E27FC236}">
                <a16:creationId xmlns:a16="http://schemas.microsoft.com/office/drawing/2014/main" xmlns="" id="{E1BCEF82-8814-4ACA-8196-66A3D606E69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46713" y="3987800"/>
            <a:ext cx="53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0" name="文字方塊 45">
            <a:extLst>
              <a:ext uri="{FF2B5EF4-FFF2-40B4-BE49-F238E27FC236}">
                <a16:creationId xmlns:a16="http://schemas.microsoft.com/office/drawing/2014/main" xmlns="" id="{70F8A110-BC1E-4DD2-A8BE-332C23F5C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4438650"/>
            <a:ext cx="522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13</a:t>
            </a:r>
            <a:endParaRPr lang="zh-TW" altLang="en-US" sz="2400"/>
          </a:p>
        </p:txBody>
      </p:sp>
      <p:sp>
        <p:nvSpPr>
          <p:cNvPr id="21" name="文字方塊 46">
            <a:extLst>
              <a:ext uri="{FF2B5EF4-FFF2-40B4-BE49-F238E27FC236}">
                <a16:creationId xmlns:a16="http://schemas.microsoft.com/office/drawing/2014/main" xmlns="" id="{E1A79E0E-44C4-47F6-9EA6-70CA239B7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902200"/>
            <a:ext cx="52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14</a:t>
            </a:r>
            <a:endParaRPr lang="zh-TW" altLang="en-US" sz="2400"/>
          </a:p>
        </p:txBody>
      </p:sp>
      <p:sp>
        <p:nvSpPr>
          <p:cNvPr id="22" name="文字方塊 47">
            <a:extLst>
              <a:ext uri="{FF2B5EF4-FFF2-40B4-BE49-F238E27FC236}">
                <a16:creationId xmlns:a16="http://schemas.microsoft.com/office/drawing/2014/main" xmlns="" id="{DEC821EE-6447-45B1-8338-9FE0CB98E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5380038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15</a:t>
            </a:r>
            <a:endParaRPr lang="zh-TW" altLang="en-US" sz="2400"/>
          </a:p>
        </p:txBody>
      </p:sp>
      <p:sp>
        <p:nvSpPr>
          <p:cNvPr id="23" name="文字方塊 48">
            <a:extLst>
              <a:ext uri="{FF2B5EF4-FFF2-40B4-BE49-F238E27FC236}">
                <a16:creationId xmlns:a16="http://schemas.microsoft.com/office/drawing/2014/main" xmlns="" id="{0C67964D-DDBA-4450-8621-528F1DBE90F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95131" y="6217444"/>
            <a:ext cx="423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4" name="文字方塊 49">
            <a:extLst>
              <a:ext uri="{FF2B5EF4-FFF2-40B4-BE49-F238E27FC236}">
                <a16:creationId xmlns:a16="http://schemas.microsoft.com/office/drawing/2014/main" xmlns="" id="{9080FC24-C1B9-4777-84CC-C1780A2D1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5303838"/>
            <a:ext cx="2370138" cy="1200150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Only connect to 9 inputs, not fully connected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" name="文字方塊 50">
            <a:extLst>
              <a:ext uri="{FF2B5EF4-FFF2-40B4-BE49-F238E27FC236}">
                <a16:creationId xmlns:a16="http://schemas.microsoft.com/office/drawing/2014/main" xmlns="" id="{219D1119-2E4D-448E-B55B-C3C9BE50F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1408113"/>
            <a:ext cx="388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4:</a:t>
            </a:r>
            <a:endParaRPr lang="zh-TW" altLang="en-US" sz="2400"/>
          </a:p>
        </p:txBody>
      </p:sp>
      <p:sp>
        <p:nvSpPr>
          <p:cNvPr id="26" name="文字方塊 51">
            <a:extLst>
              <a:ext uri="{FF2B5EF4-FFF2-40B4-BE49-F238E27FC236}">
                <a16:creationId xmlns:a16="http://schemas.microsoft.com/office/drawing/2014/main" xmlns="" id="{D70875D1-C57C-40F8-8349-0B8780445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25" y="3562350"/>
            <a:ext cx="63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10:</a:t>
            </a:r>
            <a:endParaRPr lang="zh-TW" altLang="en-US" sz="2400"/>
          </a:p>
        </p:txBody>
      </p:sp>
      <p:sp>
        <p:nvSpPr>
          <p:cNvPr id="27" name="文字方塊 52">
            <a:extLst>
              <a:ext uri="{FF2B5EF4-FFF2-40B4-BE49-F238E27FC236}">
                <a16:creationId xmlns:a16="http://schemas.microsoft.com/office/drawing/2014/main" xmlns="" id="{9666F93D-97E3-4B4C-87E3-80AA435BF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5789613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16</a:t>
            </a:r>
            <a:endParaRPr lang="zh-TW" altLang="en-US" sz="2400"/>
          </a:p>
        </p:txBody>
      </p:sp>
      <p:sp>
        <p:nvSpPr>
          <p:cNvPr id="28" name="矩形 54">
            <a:extLst>
              <a:ext uri="{FF2B5EF4-FFF2-40B4-BE49-F238E27FC236}">
                <a16:creationId xmlns:a16="http://schemas.microsoft.com/office/drawing/2014/main" xmlns="" id="{4E82C364-E635-4FF0-ABCC-951D91EDA72E}"/>
              </a:ext>
            </a:extLst>
          </p:cNvPr>
          <p:cNvSpPr/>
          <p:nvPr/>
        </p:nvSpPr>
        <p:spPr>
          <a:xfrm>
            <a:off x="5888038" y="1460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9" name="矩形 55">
            <a:extLst>
              <a:ext uri="{FF2B5EF4-FFF2-40B4-BE49-F238E27FC236}">
                <a16:creationId xmlns:a16="http://schemas.microsoft.com/office/drawing/2014/main" xmlns="" id="{DBA788AF-0543-4F6A-BF9B-B2E5741ED584}"/>
              </a:ext>
            </a:extLst>
          </p:cNvPr>
          <p:cNvSpPr/>
          <p:nvPr/>
        </p:nvSpPr>
        <p:spPr>
          <a:xfrm>
            <a:off x="5888038" y="61436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矩形 56">
            <a:extLst>
              <a:ext uri="{FF2B5EF4-FFF2-40B4-BE49-F238E27FC236}">
                <a16:creationId xmlns:a16="http://schemas.microsoft.com/office/drawing/2014/main" xmlns="" id="{619DCE58-D71F-4BD6-BDC9-3A57D1746165}"/>
              </a:ext>
            </a:extLst>
          </p:cNvPr>
          <p:cNvSpPr/>
          <p:nvPr/>
        </p:nvSpPr>
        <p:spPr>
          <a:xfrm>
            <a:off x="5888038" y="10572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1" name="矩形 57">
            <a:extLst>
              <a:ext uri="{FF2B5EF4-FFF2-40B4-BE49-F238E27FC236}">
                <a16:creationId xmlns:a16="http://schemas.microsoft.com/office/drawing/2014/main" xmlns="" id="{37244A3C-68D0-49F0-B889-CFD9BB0ED5E4}"/>
              </a:ext>
            </a:extLst>
          </p:cNvPr>
          <p:cNvSpPr/>
          <p:nvPr/>
        </p:nvSpPr>
        <p:spPr>
          <a:xfrm>
            <a:off x="5888038" y="1517650"/>
            <a:ext cx="269875" cy="271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2" name="矩形 58">
            <a:extLst>
              <a:ext uri="{FF2B5EF4-FFF2-40B4-BE49-F238E27FC236}">
                <a16:creationId xmlns:a16="http://schemas.microsoft.com/office/drawing/2014/main" xmlns="" id="{169B0BB0-65C1-40A6-B4AD-420CD07736AC}"/>
              </a:ext>
            </a:extLst>
          </p:cNvPr>
          <p:cNvSpPr/>
          <p:nvPr/>
        </p:nvSpPr>
        <p:spPr>
          <a:xfrm>
            <a:off x="5888038" y="23558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3" name="矩形 59">
            <a:extLst>
              <a:ext uri="{FF2B5EF4-FFF2-40B4-BE49-F238E27FC236}">
                <a16:creationId xmlns:a16="http://schemas.microsoft.com/office/drawing/2014/main" xmlns="" id="{8DB8FFE4-9A0D-489E-BB1E-5D3F0DD23284}"/>
              </a:ext>
            </a:extLst>
          </p:cNvPr>
          <p:cNvSpPr/>
          <p:nvPr/>
        </p:nvSpPr>
        <p:spPr>
          <a:xfrm>
            <a:off x="5888038" y="28257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4" name="矩形 60">
            <a:extLst>
              <a:ext uri="{FF2B5EF4-FFF2-40B4-BE49-F238E27FC236}">
                <a16:creationId xmlns:a16="http://schemas.microsoft.com/office/drawing/2014/main" xmlns="" id="{651A071B-F7AB-4D98-AB2A-50D9FD8F9D80}"/>
              </a:ext>
            </a:extLst>
          </p:cNvPr>
          <p:cNvSpPr/>
          <p:nvPr/>
        </p:nvSpPr>
        <p:spPr>
          <a:xfrm>
            <a:off x="5888038" y="32670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5" name="矩形 61">
            <a:extLst>
              <a:ext uri="{FF2B5EF4-FFF2-40B4-BE49-F238E27FC236}">
                <a16:creationId xmlns:a16="http://schemas.microsoft.com/office/drawing/2014/main" xmlns="" id="{9F78B5BA-8315-49A2-9372-2DFB602C0AF4}"/>
              </a:ext>
            </a:extLst>
          </p:cNvPr>
          <p:cNvSpPr/>
          <p:nvPr/>
        </p:nvSpPr>
        <p:spPr>
          <a:xfrm>
            <a:off x="5888038" y="37290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6" name="矩形 62">
            <a:extLst>
              <a:ext uri="{FF2B5EF4-FFF2-40B4-BE49-F238E27FC236}">
                <a16:creationId xmlns:a16="http://schemas.microsoft.com/office/drawing/2014/main" xmlns="" id="{00E788E6-6DB0-4B0D-9FB7-0D7267ADF4A2}"/>
              </a:ext>
            </a:extLst>
          </p:cNvPr>
          <p:cNvSpPr/>
          <p:nvPr/>
        </p:nvSpPr>
        <p:spPr>
          <a:xfrm>
            <a:off x="5888038" y="451961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7" name="矩形 63">
            <a:extLst>
              <a:ext uri="{FF2B5EF4-FFF2-40B4-BE49-F238E27FC236}">
                <a16:creationId xmlns:a16="http://schemas.microsoft.com/office/drawing/2014/main" xmlns="" id="{3AA4055C-659B-4274-A31D-5674FE3CC4AC}"/>
              </a:ext>
            </a:extLst>
          </p:cNvPr>
          <p:cNvSpPr/>
          <p:nvPr/>
        </p:nvSpPr>
        <p:spPr>
          <a:xfrm>
            <a:off x="5888038" y="498792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8" name="矩形 64">
            <a:extLst>
              <a:ext uri="{FF2B5EF4-FFF2-40B4-BE49-F238E27FC236}">
                <a16:creationId xmlns:a16="http://schemas.microsoft.com/office/drawing/2014/main" xmlns="" id="{A5BCE788-BEA0-43A3-A309-3E3CC376B5FA}"/>
              </a:ext>
            </a:extLst>
          </p:cNvPr>
          <p:cNvSpPr/>
          <p:nvPr/>
        </p:nvSpPr>
        <p:spPr>
          <a:xfrm>
            <a:off x="5888038" y="54308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9" name="矩形 65">
            <a:extLst>
              <a:ext uri="{FF2B5EF4-FFF2-40B4-BE49-F238E27FC236}">
                <a16:creationId xmlns:a16="http://schemas.microsoft.com/office/drawing/2014/main" xmlns="" id="{68116A40-BF07-47ED-9CD3-6DB987B37BF8}"/>
              </a:ext>
            </a:extLst>
          </p:cNvPr>
          <p:cNvSpPr/>
          <p:nvPr/>
        </p:nvSpPr>
        <p:spPr>
          <a:xfrm>
            <a:off x="5888038" y="589280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40" name="直線單箭頭接點 67">
            <a:extLst>
              <a:ext uri="{FF2B5EF4-FFF2-40B4-BE49-F238E27FC236}">
                <a16:creationId xmlns:a16="http://schemas.microsoft.com/office/drawing/2014/main" xmlns="" id="{FDC9BAE5-E5DD-481C-9D5A-49B78034C6B5}"/>
              </a:ext>
            </a:extLst>
          </p:cNvPr>
          <p:cNvCxnSpPr>
            <a:stCxn id="28" idx="3"/>
          </p:cNvCxnSpPr>
          <p:nvPr/>
        </p:nvCxnSpPr>
        <p:spPr>
          <a:xfrm>
            <a:off x="6157913" y="280988"/>
            <a:ext cx="1420812" cy="12763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68">
            <a:extLst>
              <a:ext uri="{FF2B5EF4-FFF2-40B4-BE49-F238E27FC236}">
                <a16:creationId xmlns:a16="http://schemas.microsoft.com/office/drawing/2014/main" xmlns="" id="{71A0300C-64F5-4469-9A5B-6B9026222A5D}"/>
              </a:ext>
            </a:extLst>
          </p:cNvPr>
          <p:cNvCxnSpPr>
            <a:stCxn id="29" idx="3"/>
          </p:cNvCxnSpPr>
          <p:nvPr/>
        </p:nvCxnSpPr>
        <p:spPr>
          <a:xfrm>
            <a:off x="6157913" y="749300"/>
            <a:ext cx="1420812" cy="80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70">
            <a:extLst>
              <a:ext uri="{FF2B5EF4-FFF2-40B4-BE49-F238E27FC236}">
                <a16:creationId xmlns:a16="http://schemas.microsoft.com/office/drawing/2014/main" xmlns="" id="{05AF5C5E-5638-421F-BEE4-C042FE7813C4}"/>
              </a:ext>
            </a:extLst>
          </p:cNvPr>
          <p:cNvCxnSpPr>
            <a:stCxn id="30" idx="3"/>
          </p:cNvCxnSpPr>
          <p:nvPr/>
        </p:nvCxnSpPr>
        <p:spPr>
          <a:xfrm>
            <a:off x="6157913" y="1192213"/>
            <a:ext cx="1420812" cy="365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78">
            <a:extLst>
              <a:ext uri="{FF2B5EF4-FFF2-40B4-BE49-F238E27FC236}">
                <a16:creationId xmlns:a16="http://schemas.microsoft.com/office/drawing/2014/main" xmlns="" id="{2D7A1880-A50A-4193-8227-1B110228FFC5}"/>
              </a:ext>
            </a:extLst>
          </p:cNvPr>
          <p:cNvCxnSpPr/>
          <p:nvPr/>
        </p:nvCxnSpPr>
        <p:spPr>
          <a:xfrm flipV="1">
            <a:off x="6176963" y="1597025"/>
            <a:ext cx="1350962" cy="89376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79">
            <a:extLst>
              <a:ext uri="{FF2B5EF4-FFF2-40B4-BE49-F238E27FC236}">
                <a16:creationId xmlns:a16="http://schemas.microsoft.com/office/drawing/2014/main" xmlns="" id="{D6E5010F-C473-4C0F-900A-023C8B61958A}"/>
              </a:ext>
            </a:extLst>
          </p:cNvPr>
          <p:cNvCxnSpPr>
            <a:endCxn id="49" idx="2"/>
          </p:cNvCxnSpPr>
          <p:nvPr/>
        </p:nvCxnSpPr>
        <p:spPr>
          <a:xfrm flipV="1">
            <a:off x="6176963" y="1536700"/>
            <a:ext cx="1371600" cy="141605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80">
            <a:extLst>
              <a:ext uri="{FF2B5EF4-FFF2-40B4-BE49-F238E27FC236}">
                <a16:creationId xmlns:a16="http://schemas.microsoft.com/office/drawing/2014/main" xmlns="" id="{940A5103-EF74-40EE-BCE0-D2B7D75E693E}"/>
              </a:ext>
            </a:extLst>
          </p:cNvPr>
          <p:cNvCxnSpPr>
            <a:endCxn id="49" idx="2"/>
          </p:cNvCxnSpPr>
          <p:nvPr/>
        </p:nvCxnSpPr>
        <p:spPr>
          <a:xfrm flipV="1">
            <a:off x="6176963" y="1536700"/>
            <a:ext cx="1371600" cy="1863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81">
            <a:extLst>
              <a:ext uri="{FF2B5EF4-FFF2-40B4-BE49-F238E27FC236}">
                <a16:creationId xmlns:a16="http://schemas.microsoft.com/office/drawing/2014/main" xmlns="" id="{5BAB3A7A-3DE4-467C-9465-B7B751710E78}"/>
              </a:ext>
            </a:extLst>
          </p:cNvPr>
          <p:cNvCxnSpPr>
            <a:stCxn id="36" idx="3"/>
          </p:cNvCxnSpPr>
          <p:nvPr/>
        </p:nvCxnSpPr>
        <p:spPr>
          <a:xfrm flipV="1">
            <a:off x="6157913" y="1644650"/>
            <a:ext cx="1350962" cy="30099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82">
            <a:extLst>
              <a:ext uri="{FF2B5EF4-FFF2-40B4-BE49-F238E27FC236}">
                <a16:creationId xmlns:a16="http://schemas.microsoft.com/office/drawing/2014/main" xmlns="" id="{14698389-440E-4F21-A967-2AB416F17F92}"/>
              </a:ext>
            </a:extLst>
          </p:cNvPr>
          <p:cNvCxnSpPr>
            <a:endCxn id="49" idx="2"/>
          </p:cNvCxnSpPr>
          <p:nvPr/>
        </p:nvCxnSpPr>
        <p:spPr>
          <a:xfrm flipV="1">
            <a:off x="6157913" y="1536700"/>
            <a:ext cx="1390650" cy="35655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83">
            <a:extLst>
              <a:ext uri="{FF2B5EF4-FFF2-40B4-BE49-F238E27FC236}">
                <a16:creationId xmlns:a16="http://schemas.microsoft.com/office/drawing/2014/main" xmlns="" id="{689461FD-711E-4EB9-B592-C2F822D897EA}"/>
              </a:ext>
            </a:extLst>
          </p:cNvPr>
          <p:cNvCxnSpPr>
            <a:endCxn id="49" idx="2"/>
          </p:cNvCxnSpPr>
          <p:nvPr/>
        </p:nvCxnSpPr>
        <p:spPr>
          <a:xfrm flipV="1">
            <a:off x="6157913" y="1536700"/>
            <a:ext cx="1390650" cy="40132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橢圓 108">
            <a:extLst>
              <a:ext uri="{FF2B5EF4-FFF2-40B4-BE49-F238E27FC236}">
                <a16:creationId xmlns:a16="http://schemas.microsoft.com/office/drawing/2014/main" xmlns="" id="{27382C17-DDE1-4D0D-BBA6-1AE3BFD1E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117792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" name="橢圓 116">
            <a:extLst>
              <a:ext uri="{FF2B5EF4-FFF2-40B4-BE49-F238E27FC236}">
                <a16:creationId xmlns:a16="http://schemas.microsoft.com/office/drawing/2014/main" xmlns="" id="{032D9525-2CB1-4424-9A4B-4BAE50BC1253}"/>
              </a:ext>
            </a:extLst>
          </p:cNvPr>
          <p:cNvSpPr/>
          <p:nvPr/>
        </p:nvSpPr>
        <p:spPr>
          <a:xfrm>
            <a:off x="446088" y="160338"/>
            <a:ext cx="455612" cy="45561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1" name="橢圓 117">
            <a:extLst>
              <a:ext uri="{FF2B5EF4-FFF2-40B4-BE49-F238E27FC236}">
                <a16:creationId xmlns:a16="http://schemas.microsoft.com/office/drawing/2014/main" xmlns="" id="{F022E592-E1EF-4CFC-A922-59826D57E43B}"/>
              </a:ext>
            </a:extLst>
          </p:cNvPr>
          <p:cNvSpPr/>
          <p:nvPr/>
        </p:nvSpPr>
        <p:spPr>
          <a:xfrm>
            <a:off x="998538" y="131763"/>
            <a:ext cx="455612" cy="4556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2" name="橢圓 118">
            <a:extLst>
              <a:ext uri="{FF2B5EF4-FFF2-40B4-BE49-F238E27FC236}">
                <a16:creationId xmlns:a16="http://schemas.microsoft.com/office/drawing/2014/main" xmlns="" id="{90524037-8041-454E-8CFA-8436BED43717}"/>
              </a:ext>
            </a:extLst>
          </p:cNvPr>
          <p:cNvSpPr/>
          <p:nvPr/>
        </p:nvSpPr>
        <p:spPr>
          <a:xfrm>
            <a:off x="1509713" y="146050"/>
            <a:ext cx="455612" cy="45402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3" name="橢圓 119">
            <a:extLst>
              <a:ext uri="{FF2B5EF4-FFF2-40B4-BE49-F238E27FC236}">
                <a16:creationId xmlns:a16="http://schemas.microsoft.com/office/drawing/2014/main" xmlns="" id="{8DD6EF50-E074-48C9-B87A-235F82FDA0C9}"/>
              </a:ext>
            </a:extLst>
          </p:cNvPr>
          <p:cNvSpPr/>
          <p:nvPr/>
        </p:nvSpPr>
        <p:spPr>
          <a:xfrm>
            <a:off x="446088" y="619125"/>
            <a:ext cx="455612" cy="455613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4" name="橢圓 120">
            <a:extLst>
              <a:ext uri="{FF2B5EF4-FFF2-40B4-BE49-F238E27FC236}">
                <a16:creationId xmlns:a16="http://schemas.microsoft.com/office/drawing/2014/main" xmlns="" id="{B843935F-1EAD-4D00-82F6-C7F2FC18BD61}"/>
              </a:ext>
            </a:extLst>
          </p:cNvPr>
          <p:cNvSpPr/>
          <p:nvPr/>
        </p:nvSpPr>
        <p:spPr>
          <a:xfrm>
            <a:off x="998538" y="590550"/>
            <a:ext cx="455612" cy="455613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5" name="橢圓 121">
            <a:extLst>
              <a:ext uri="{FF2B5EF4-FFF2-40B4-BE49-F238E27FC236}">
                <a16:creationId xmlns:a16="http://schemas.microsoft.com/office/drawing/2014/main" xmlns="" id="{D12FB3EB-8AF0-4287-A917-8C50A3F6D1D0}"/>
              </a:ext>
            </a:extLst>
          </p:cNvPr>
          <p:cNvSpPr/>
          <p:nvPr/>
        </p:nvSpPr>
        <p:spPr>
          <a:xfrm>
            <a:off x="1509713" y="603250"/>
            <a:ext cx="455612" cy="45561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6" name="橢圓 122">
            <a:extLst>
              <a:ext uri="{FF2B5EF4-FFF2-40B4-BE49-F238E27FC236}">
                <a16:creationId xmlns:a16="http://schemas.microsoft.com/office/drawing/2014/main" xmlns="" id="{30819970-1D1A-4743-8FFF-9C9937BC345A}"/>
              </a:ext>
            </a:extLst>
          </p:cNvPr>
          <p:cNvSpPr/>
          <p:nvPr/>
        </p:nvSpPr>
        <p:spPr>
          <a:xfrm>
            <a:off x="458788" y="1074738"/>
            <a:ext cx="455612" cy="45561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7" name="橢圓 123">
            <a:extLst>
              <a:ext uri="{FF2B5EF4-FFF2-40B4-BE49-F238E27FC236}">
                <a16:creationId xmlns:a16="http://schemas.microsoft.com/office/drawing/2014/main" xmlns="" id="{B8F0DFB9-43F8-49DA-897D-93C04C221429}"/>
              </a:ext>
            </a:extLst>
          </p:cNvPr>
          <p:cNvSpPr/>
          <p:nvPr/>
        </p:nvSpPr>
        <p:spPr>
          <a:xfrm>
            <a:off x="1011238" y="1046163"/>
            <a:ext cx="455612" cy="455612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8" name="橢圓 124">
            <a:extLst>
              <a:ext uri="{FF2B5EF4-FFF2-40B4-BE49-F238E27FC236}">
                <a16:creationId xmlns:a16="http://schemas.microsoft.com/office/drawing/2014/main" xmlns="" id="{827D092C-0667-4140-886C-09C0B164062F}"/>
              </a:ext>
            </a:extLst>
          </p:cNvPr>
          <p:cNvSpPr/>
          <p:nvPr/>
        </p:nvSpPr>
        <p:spPr>
          <a:xfrm>
            <a:off x="1522413" y="1058863"/>
            <a:ext cx="455612" cy="455612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9" name="文字方塊 66">
            <a:extLst>
              <a:ext uri="{FF2B5EF4-FFF2-40B4-BE49-F238E27FC236}">
                <a16:creationId xmlns:a16="http://schemas.microsoft.com/office/drawing/2014/main" xmlns="" id="{6B5776DA-4319-4A0A-887A-3498013950A4}"/>
              </a:ext>
            </a:extLst>
          </p:cNvPr>
          <p:cNvSpPr txBox="1"/>
          <p:nvPr/>
        </p:nvSpPr>
        <p:spPr>
          <a:xfrm>
            <a:off x="381000" y="5258561"/>
            <a:ext cx="327660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fewer parameters!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xmlns="" id="{D6D4A50E-4EB0-4A9D-8556-17BCA9DB1F1A}"/>
              </a:ext>
            </a:extLst>
          </p:cNvPr>
          <p:cNvGraphicFramePr>
            <a:graphicFrameLocks/>
          </p:cNvGraphicFramePr>
          <p:nvPr/>
        </p:nvGraphicFramePr>
        <p:xfrm>
          <a:off x="400050" y="184943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xmlns="" id="{441B97FD-C07E-415E-B6EC-B389A7C1CFAD}"/>
              </a:ext>
            </a:extLst>
          </p:cNvPr>
          <p:cNvGraphicFramePr>
            <a:graphicFrameLocks noGrp="1"/>
          </p:cNvGraphicFramePr>
          <p:nvPr/>
        </p:nvGraphicFramePr>
        <p:xfrm>
          <a:off x="400050" y="15240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6455" name="文字方塊 6">
            <a:extLst>
              <a:ext uri="{FF2B5EF4-FFF2-40B4-BE49-F238E27FC236}">
                <a16:creationId xmlns:a16="http://schemas.microsoft.com/office/drawing/2014/main" xmlns="" id="{9955E48B-5E6E-4A03-868A-7808FB15F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606425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xmlns="" id="{B1F32CD9-4847-4EB3-9457-8EA5DBA31116}"/>
              </a:ext>
            </a:extLst>
          </p:cNvPr>
          <p:cNvSpPr/>
          <p:nvPr/>
        </p:nvSpPr>
        <p:spPr>
          <a:xfrm>
            <a:off x="911225" y="1835150"/>
            <a:ext cx="1417638" cy="1381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6457" name="文字方塊 37">
            <a:extLst>
              <a:ext uri="{FF2B5EF4-FFF2-40B4-BE49-F238E27FC236}">
                <a16:creationId xmlns:a16="http://schemas.microsoft.com/office/drawing/2014/main" xmlns="" id="{40B45F47-B5E1-46EB-A449-AAF09BA3C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4921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1:</a:t>
            </a:r>
            <a:endParaRPr lang="zh-TW" altLang="en-US" sz="2400"/>
          </a:p>
        </p:txBody>
      </p:sp>
      <p:sp>
        <p:nvSpPr>
          <p:cNvPr id="16458" name="文字方塊 38">
            <a:extLst>
              <a:ext uri="{FF2B5EF4-FFF2-40B4-BE49-F238E27FC236}">
                <a16:creationId xmlns:a16="http://schemas.microsoft.com/office/drawing/2014/main" xmlns="" id="{7DDD71B6-2E1F-4AD9-9E6E-4028BBECE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511175"/>
            <a:ext cx="387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2:</a:t>
            </a:r>
            <a:endParaRPr lang="zh-TW" altLang="en-US" sz="2400"/>
          </a:p>
        </p:txBody>
      </p:sp>
      <p:sp>
        <p:nvSpPr>
          <p:cNvPr id="16459" name="文字方塊 39">
            <a:extLst>
              <a:ext uri="{FF2B5EF4-FFF2-40B4-BE49-F238E27FC236}">
                <a16:creationId xmlns:a16="http://schemas.microsoft.com/office/drawing/2014/main" xmlns="" id="{647DBEFA-DF4E-4B5C-B9F1-D04C7045D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96043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3:</a:t>
            </a:r>
            <a:endParaRPr lang="zh-TW" altLang="en-US" sz="2400"/>
          </a:p>
        </p:txBody>
      </p:sp>
      <p:sp>
        <p:nvSpPr>
          <p:cNvPr id="16460" name="文字方塊 40">
            <a:extLst>
              <a:ext uri="{FF2B5EF4-FFF2-40B4-BE49-F238E27FC236}">
                <a16:creationId xmlns:a16="http://schemas.microsoft.com/office/drawing/2014/main" xmlns="" id="{EBEDE8DF-0148-4D12-88E8-97BF67ADD9A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308600" y="1811338"/>
            <a:ext cx="820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16461" name="文字方塊 41">
            <a:extLst>
              <a:ext uri="{FF2B5EF4-FFF2-40B4-BE49-F238E27FC236}">
                <a16:creationId xmlns:a16="http://schemas.microsoft.com/office/drawing/2014/main" xmlns="" id="{6018CE62-225E-48BB-A0A5-52A0E43AE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223996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7:</a:t>
            </a:r>
            <a:endParaRPr lang="zh-TW" altLang="en-US" sz="2400"/>
          </a:p>
        </p:txBody>
      </p:sp>
      <p:sp>
        <p:nvSpPr>
          <p:cNvPr id="16462" name="文字方塊 42">
            <a:extLst>
              <a:ext uri="{FF2B5EF4-FFF2-40B4-BE49-F238E27FC236}">
                <a16:creationId xmlns:a16="http://schemas.microsoft.com/office/drawing/2014/main" xmlns="" id="{13B8BB23-4668-42B9-BD27-A14D7C1D5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2701925"/>
            <a:ext cx="387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8:</a:t>
            </a:r>
            <a:endParaRPr lang="zh-TW" altLang="en-US" sz="2400"/>
          </a:p>
        </p:txBody>
      </p:sp>
      <p:sp>
        <p:nvSpPr>
          <p:cNvPr id="16463" name="文字方塊 43">
            <a:extLst>
              <a:ext uri="{FF2B5EF4-FFF2-40B4-BE49-F238E27FC236}">
                <a16:creationId xmlns:a16="http://schemas.microsoft.com/office/drawing/2014/main" xmlns="" id="{1CA41B1C-82B8-408C-BF2C-73505F788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315118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9:</a:t>
            </a:r>
            <a:endParaRPr lang="zh-TW" altLang="en-US" sz="2400"/>
          </a:p>
        </p:txBody>
      </p:sp>
      <p:sp>
        <p:nvSpPr>
          <p:cNvPr id="16464" name="文字方塊 44">
            <a:extLst>
              <a:ext uri="{FF2B5EF4-FFF2-40B4-BE49-F238E27FC236}">
                <a16:creationId xmlns:a16="http://schemas.microsoft.com/office/drawing/2014/main" xmlns="" id="{B34C10D1-90B7-4CCF-A049-3E1B8B1A2FF2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46713" y="3987800"/>
            <a:ext cx="53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16465" name="文字方塊 45">
            <a:extLst>
              <a:ext uri="{FF2B5EF4-FFF2-40B4-BE49-F238E27FC236}">
                <a16:creationId xmlns:a16="http://schemas.microsoft.com/office/drawing/2014/main" xmlns="" id="{0EB97999-96D0-4FB4-80EB-22976F5B9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4438650"/>
            <a:ext cx="522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13:</a:t>
            </a:r>
            <a:endParaRPr lang="zh-TW" altLang="en-US" sz="2400"/>
          </a:p>
        </p:txBody>
      </p:sp>
      <p:sp>
        <p:nvSpPr>
          <p:cNvPr id="16466" name="文字方塊 46">
            <a:extLst>
              <a:ext uri="{FF2B5EF4-FFF2-40B4-BE49-F238E27FC236}">
                <a16:creationId xmlns:a16="http://schemas.microsoft.com/office/drawing/2014/main" xmlns="" id="{9E495E90-ECB4-4133-B73C-3AC746155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902200"/>
            <a:ext cx="52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14:</a:t>
            </a:r>
            <a:endParaRPr lang="zh-TW" altLang="en-US" sz="2400"/>
          </a:p>
        </p:txBody>
      </p:sp>
      <p:sp>
        <p:nvSpPr>
          <p:cNvPr id="16467" name="文字方塊 47">
            <a:extLst>
              <a:ext uri="{FF2B5EF4-FFF2-40B4-BE49-F238E27FC236}">
                <a16:creationId xmlns:a16="http://schemas.microsoft.com/office/drawing/2014/main" xmlns="" id="{7FDFC9A4-BBBB-4D4A-A6A1-0FECCF162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5380038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15:</a:t>
            </a:r>
            <a:endParaRPr lang="zh-TW" altLang="en-US" sz="2400"/>
          </a:p>
        </p:txBody>
      </p:sp>
      <p:sp>
        <p:nvSpPr>
          <p:cNvPr id="16468" name="文字方塊 48">
            <a:extLst>
              <a:ext uri="{FF2B5EF4-FFF2-40B4-BE49-F238E27FC236}">
                <a16:creationId xmlns:a16="http://schemas.microsoft.com/office/drawing/2014/main" xmlns="" id="{39A33998-8658-4134-8F4E-7CC25D8E724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95131" y="6217444"/>
            <a:ext cx="423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16469" name="文字方塊 50">
            <a:extLst>
              <a:ext uri="{FF2B5EF4-FFF2-40B4-BE49-F238E27FC236}">
                <a16:creationId xmlns:a16="http://schemas.microsoft.com/office/drawing/2014/main" xmlns="" id="{CF00825A-5F97-4634-8352-13AB72BEE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1408113"/>
            <a:ext cx="388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4:</a:t>
            </a:r>
            <a:endParaRPr lang="zh-TW" altLang="en-US" sz="2400"/>
          </a:p>
        </p:txBody>
      </p:sp>
      <p:sp>
        <p:nvSpPr>
          <p:cNvPr id="16470" name="文字方塊 51">
            <a:extLst>
              <a:ext uri="{FF2B5EF4-FFF2-40B4-BE49-F238E27FC236}">
                <a16:creationId xmlns:a16="http://schemas.microsoft.com/office/drawing/2014/main" xmlns="" id="{30F7D1F5-97BB-47B8-847B-2A921EF4E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25" y="3562350"/>
            <a:ext cx="63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10:</a:t>
            </a:r>
            <a:endParaRPr lang="zh-TW" altLang="en-US" sz="2400"/>
          </a:p>
        </p:txBody>
      </p:sp>
      <p:sp>
        <p:nvSpPr>
          <p:cNvPr id="16471" name="文字方塊 52">
            <a:extLst>
              <a:ext uri="{FF2B5EF4-FFF2-40B4-BE49-F238E27FC236}">
                <a16:creationId xmlns:a16="http://schemas.microsoft.com/office/drawing/2014/main" xmlns="" id="{0660AB5C-909A-4457-B79E-782958BD2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5789613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16:</a:t>
            </a:r>
            <a:endParaRPr lang="zh-TW" altLang="en-US" sz="2400"/>
          </a:p>
        </p:txBody>
      </p:sp>
      <p:sp>
        <p:nvSpPr>
          <p:cNvPr id="23" name="矩形 54">
            <a:extLst>
              <a:ext uri="{FF2B5EF4-FFF2-40B4-BE49-F238E27FC236}">
                <a16:creationId xmlns:a16="http://schemas.microsoft.com/office/drawing/2014/main" xmlns="" id="{033717C4-3D90-48BD-85A7-D10674EAFAA5}"/>
              </a:ext>
            </a:extLst>
          </p:cNvPr>
          <p:cNvSpPr/>
          <p:nvPr/>
        </p:nvSpPr>
        <p:spPr>
          <a:xfrm>
            <a:off x="5888038" y="1460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矩形 55">
            <a:extLst>
              <a:ext uri="{FF2B5EF4-FFF2-40B4-BE49-F238E27FC236}">
                <a16:creationId xmlns:a16="http://schemas.microsoft.com/office/drawing/2014/main" xmlns="" id="{9316B12E-1F83-4396-8AA6-9AF75C1294E8}"/>
              </a:ext>
            </a:extLst>
          </p:cNvPr>
          <p:cNvSpPr/>
          <p:nvPr/>
        </p:nvSpPr>
        <p:spPr>
          <a:xfrm>
            <a:off x="5888038" y="61436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5" name="矩形 56">
            <a:extLst>
              <a:ext uri="{FF2B5EF4-FFF2-40B4-BE49-F238E27FC236}">
                <a16:creationId xmlns:a16="http://schemas.microsoft.com/office/drawing/2014/main" xmlns="" id="{9A3C9951-5A41-4C21-9567-39B0035E8133}"/>
              </a:ext>
            </a:extLst>
          </p:cNvPr>
          <p:cNvSpPr/>
          <p:nvPr/>
        </p:nvSpPr>
        <p:spPr>
          <a:xfrm>
            <a:off x="5888038" y="10572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6" name="矩形 57">
            <a:extLst>
              <a:ext uri="{FF2B5EF4-FFF2-40B4-BE49-F238E27FC236}">
                <a16:creationId xmlns:a16="http://schemas.microsoft.com/office/drawing/2014/main" xmlns="" id="{FB93AA7E-1E10-472E-AB42-B6F4B7A02718}"/>
              </a:ext>
            </a:extLst>
          </p:cNvPr>
          <p:cNvSpPr/>
          <p:nvPr/>
        </p:nvSpPr>
        <p:spPr>
          <a:xfrm>
            <a:off x="5888038" y="1517650"/>
            <a:ext cx="269875" cy="271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7" name="矩形 58">
            <a:extLst>
              <a:ext uri="{FF2B5EF4-FFF2-40B4-BE49-F238E27FC236}">
                <a16:creationId xmlns:a16="http://schemas.microsoft.com/office/drawing/2014/main" xmlns="" id="{DE8F9C69-DDC2-47E1-B16F-7A69AC30CF5A}"/>
              </a:ext>
            </a:extLst>
          </p:cNvPr>
          <p:cNvSpPr/>
          <p:nvPr/>
        </p:nvSpPr>
        <p:spPr>
          <a:xfrm>
            <a:off x="5888038" y="23558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8" name="矩形 59">
            <a:extLst>
              <a:ext uri="{FF2B5EF4-FFF2-40B4-BE49-F238E27FC236}">
                <a16:creationId xmlns:a16="http://schemas.microsoft.com/office/drawing/2014/main" xmlns="" id="{B1075D26-D03F-4970-AC42-648E331330C5}"/>
              </a:ext>
            </a:extLst>
          </p:cNvPr>
          <p:cNvSpPr/>
          <p:nvPr/>
        </p:nvSpPr>
        <p:spPr>
          <a:xfrm>
            <a:off x="5888038" y="28257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9" name="矩形 60">
            <a:extLst>
              <a:ext uri="{FF2B5EF4-FFF2-40B4-BE49-F238E27FC236}">
                <a16:creationId xmlns:a16="http://schemas.microsoft.com/office/drawing/2014/main" xmlns="" id="{59102A48-DA1C-45AB-8CF9-B5CECD025583}"/>
              </a:ext>
            </a:extLst>
          </p:cNvPr>
          <p:cNvSpPr/>
          <p:nvPr/>
        </p:nvSpPr>
        <p:spPr>
          <a:xfrm>
            <a:off x="5888038" y="32670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矩形 61">
            <a:extLst>
              <a:ext uri="{FF2B5EF4-FFF2-40B4-BE49-F238E27FC236}">
                <a16:creationId xmlns:a16="http://schemas.microsoft.com/office/drawing/2014/main" xmlns="" id="{5F18B0CB-AB5A-49D4-9518-2835747F28FC}"/>
              </a:ext>
            </a:extLst>
          </p:cNvPr>
          <p:cNvSpPr/>
          <p:nvPr/>
        </p:nvSpPr>
        <p:spPr>
          <a:xfrm>
            <a:off x="5888038" y="37290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1" name="矩形 62">
            <a:extLst>
              <a:ext uri="{FF2B5EF4-FFF2-40B4-BE49-F238E27FC236}">
                <a16:creationId xmlns:a16="http://schemas.microsoft.com/office/drawing/2014/main" xmlns="" id="{13BD0131-D19C-45BF-9162-C02D756F3B26}"/>
              </a:ext>
            </a:extLst>
          </p:cNvPr>
          <p:cNvSpPr/>
          <p:nvPr/>
        </p:nvSpPr>
        <p:spPr>
          <a:xfrm>
            <a:off x="5888038" y="451961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2" name="矩形 63">
            <a:extLst>
              <a:ext uri="{FF2B5EF4-FFF2-40B4-BE49-F238E27FC236}">
                <a16:creationId xmlns:a16="http://schemas.microsoft.com/office/drawing/2014/main" xmlns="" id="{5FA666FE-629B-4712-9980-CC944824BB03}"/>
              </a:ext>
            </a:extLst>
          </p:cNvPr>
          <p:cNvSpPr/>
          <p:nvPr/>
        </p:nvSpPr>
        <p:spPr>
          <a:xfrm>
            <a:off x="5888038" y="498792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3" name="矩形 64">
            <a:extLst>
              <a:ext uri="{FF2B5EF4-FFF2-40B4-BE49-F238E27FC236}">
                <a16:creationId xmlns:a16="http://schemas.microsoft.com/office/drawing/2014/main" xmlns="" id="{D36F6266-CD62-4E51-98FB-F9317A6DA42D}"/>
              </a:ext>
            </a:extLst>
          </p:cNvPr>
          <p:cNvSpPr/>
          <p:nvPr/>
        </p:nvSpPr>
        <p:spPr>
          <a:xfrm>
            <a:off x="5888038" y="54308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4" name="矩形 65">
            <a:extLst>
              <a:ext uri="{FF2B5EF4-FFF2-40B4-BE49-F238E27FC236}">
                <a16:creationId xmlns:a16="http://schemas.microsoft.com/office/drawing/2014/main" xmlns="" id="{3C19797C-E9EA-4D1B-A017-F73CC40DD6F9}"/>
              </a:ext>
            </a:extLst>
          </p:cNvPr>
          <p:cNvSpPr/>
          <p:nvPr/>
        </p:nvSpPr>
        <p:spPr>
          <a:xfrm>
            <a:off x="5888038" y="589280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35" name="直線單箭頭接點 67">
            <a:extLst>
              <a:ext uri="{FF2B5EF4-FFF2-40B4-BE49-F238E27FC236}">
                <a16:creationId xmlns:a16="http://schemas.microsoft.com/office/drawing/2014/main" xmlns="" id="{B506D650-C32F-4627-9719-A621780227B3}"/>
              </a:ext>
            </a:extLst>
          </p:cNvPr>
          <p:cNvCxnSpPr>
            <a:stCxn id="23" idx="3"/>
          </p:cNvCxnSpPr>
          <p:nvPr/>
        </p:nvCxnSpPr>
        <p:spPr>
          <a:xfrm>
            <a:off x="6157913" y="280988"/>
            <a:ext cx="1420812" cy="12763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68">
            <a:extLst>
              <a:ext uri="{FF2B5EF4-FFF2-40B4-BE49-F238E27FC236}">
                <a16:creationId xmlns:a16="http://schemas.microsoft.com/office/drawing/2014/main" xmlns="" id="{FA6B8672-36F8-4718-A938-43CD19C7AD9F}"/>
              </a:ext>
            </a:extLst>
          </p:cNvPr>
          <p:cNvCxnSpPr>
            <a:stCxn id="24" idx="3"/>
          </p:cNvCxnSpPr>
          <p:nvPr/>
        </p:nvCxnSpPr>
        <p:spPr>
          <a:xfrm>
            <a:off x="6157913" y="749300"/>
            <a:ext cx="1420812" cy="80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70">
            <a:extLst>
              <a:ext uri="{FF2B5EF4-FFF2-40B4-BE49-F238E27FC236}">
                <a16:creationId xmlns:a16="http://schemas.microsoft.com/office/drawing/2014/main" xmlns="" id="{DA7437B2-1B0F-40E8-BC9C-FC6071D75775}"/>
              </a:ext>
            </a:extLst>
          </p:cNvPr>
          <p:cNvCxnSpPr>
            <a:stCxn id="25" idx="3"/>
          </p:cNvCxnSpPr>
          <p:nvPr/>
        </p:nvCxnSpPr>
        <p:spPr>
          <a:xfrm>
            <a:off x="6157913" y="1192213"/>
            <a:ext cx="1420812" cy="365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78">
            <a:extLst>
              <a:ext uri="{FF2B5EF4-FFF2-40B4-BE49-F238E27FC236}">
                <a16:creationId xmlns:a16="http://schemas.microsoft.com/office/drawing/2014/main" xmlns="" id="{CC9EA5FA-2535-43E3-8A2F-B790D8C3A1D0}"/>
              </a:ext>
            </a:extLst>
          </p:cNvPr>
          <p:cNvCxnSpPr/>
          <p:nvPr/>
        </p:nvCxnSpPr>
        <p:spPr>
          <a:xfrm flipV="1">
            <a:off x="6176963" y="1597025"/>
            <a:ext cx="1350962" cy="89376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79">
            <a:extLst>
              <a:ext uri="{FF2B5EF4-FFF2-40B4-BE49-F238E27FC236}">
                <a16:creationId xmlns:a16="http://schemas.microsoft.com/office/drawing/2014/main" xmlns="" id="{00E010B1-113B-4FFF-891A-24060A87B257}"/>
              </a:ext>
            </a:extLst>
          </p:cNvPr>
          <p:cNvCxnSpPr>
            <a:endCxn id="44" idx="2"/>
          </p:cNvCxnSpPr>
          <p:nvPr/>
        </p:nvCxnSpPr>
        <p:spPr>
          <a:xfrm flipV="1">
            <a:off x="6176963" y="1536700"/>
            <a:ext cx="1371600" cy="141605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80">
            <a:extLst>
              <a:ext uri="{FF2B5EF4-FFF2-40B4-BE49-F238E27FC236}">
                <a16:creationId xmlns:a16="http://schemas.microsoft.com/office/drawing/2014/main" xmlns="" id="{FBF7D814-9B30-420C-90E6-8150FC23F2AE}"/>
              </a:ext>
            </a:extLst>
          </p:cNvPr>
          <p:cNvCxnSpPr>
            <a:endCxn id="44" idx="2"/>
          </p:cNvCxnSpPr>
          <p:nvPr/>
        </p:nvCxnSpPr>
        <p:spPr>
          <a:xfrm flipV="1">
            <a:off x="6176963" y="1536700"/>
            <a:ext cx="1371600" cy="1863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81">
            <a:extLst>
              <a:ext uri="{FF2B5EF4-FFF2-40B4-BE49-F238E27FC236}">
                <a16:creationId xmlns:a16="http://schemas.microsoft.com/office/drawing/2014/main" xmlns="" id="{FAE24960-A042-4FE8-9C7C-8C5E0EFE7F4E}"/>
              </a:ext>
            </a:extLst>
          </p:cNvPr>
          <p:cNvCxnSpPr>
            <a:stCxn id="31" idx="3"/>
          </p:cNvCxnSpPr>
          <p:nvPr/>
        </p:nvCxnSpPr>
        <p:spPr>
          <a:xfrm flipV="1">
            <a:off x="6157913" y="1644650"/>
            <a:ext cx="1350962" cy="30099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82">
            <a:extLst>
              <a:ext uri="{FF2B5EF4-FFF2-40B4-BE49-F238E27FC236}">
                <a16:creationId xmlns:a16="http://schemas.microsoft.com/office/drawing/2014/main" xmlns="" id="{2CEBD077-C23A-48F0-BD95-9E8FFC192313}"/>
              </a:ext>
            </a:extLst>
          </p:cNvPr>
          <p:cNvCxnSpPr>
            <a:endCxn id="44" idx="2"/>
          </p:cNvCxnSpPr>
          <p:nvPr/>
        </p:nvCxnSpPr>
        <p:spPr>
          <a:xfrm flipV="1">
            <a:off x="6157913" y="1536700"/>
            <a:ext cx="1390650" cy="35655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83">
            <a:extLst>
              <a:ext uri="{FF2B5EF4-FFF2-40B4-BE49-F238E27FC236}">
                <a16:creationId xmlns:a16="http://schemas.microsoft.com/office/drawing/2014/main" xmlns="" id="{57B72B0C-D661-4D03-A65C-4D1B52F97CD9}"/>
              </a:ext>
            </a:extLst>
          </p:cNvPr>
          <p:cNvCxnSpPr>
            <a:endCxn id="44" idx="2"/>
          </p:cNvCxnSpPr>
          <p:nvPr/>
        </p:nvCxnSpPr>
        <p:spPr>
          <a:xfrm flipV="1">
            <a:off x="6157913" y="1536700"/>
            <a:ext cx="1390650" cy="40132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108">
            <a:extLst>
              <a:ext uri="{FF2B5EF4-FFF2-40B4-BE49-F238E27FC236}">
                <a16:creationId xmlns:a16="http://schemas.microsoft.com/office/drawing/2014/main" xmlns="" id="{5355008E-E3A1-49B2-B84E-32E9AA583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117792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" name="橢圓 109">
            <a:extLst>
              <a:ext uri="{FF2B5EF4-FFF2-40B4-BE49-F238E27FC236}">
                <a16:creationId xmlns:a16="http://schemas.microsoft.com/office/drawing/2014/main" xmlns="" id="{B1F3A644-D560-492F-9095-3CAF598BC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925" y="2973388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" name="橢圓 116">
            <a:extLst>
              <a:ext uri="{FF2B5EF4-FFF2-40B4-BE49-F238E27FC236}">
                <a16:creationId xmlns:a16="http://schemas.microsoft.com/office/drawing/2014/main" xmlns="" id="{BC3B0016-F7AC-4C73-B79B-DF8CA4214933}"/>
              </a:ext>
            </a:extLst>
          </p:cNvPr>
          <p:cNvSpPr/>
          <p:nvPr/>
        </p:nvSpPr>
        <p:spPr>
          <a:xfrm>
            <a:off x="446088" y="160338"/>
            <a:ext cx="455612" cy="45561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7" name="橢圓 117">
            <a:extLst>
              <a:ext uri="{FF2B5EF4-FFF2-40B4-BE49-F238E27FC236}">
                <a16:creationId xmlns:a16="http://schemas.microsoft.com/office/drawing/2014/main" xmlns="" id="{7D27D86B-97B6-4105-891D-7567E85387D9}"/>
              </a:ext>
            </a:extLst>
          </p:cNvPr>
          <p:cNvSpPr/>
          <p:nvPr/>
        </p:nvSpPr>
        <p:spPr>
          <a:xfrm>
            <a:off x="998538" y="131763"/>
            <a:ext cx="455612" cy="4556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8" name="橢圓 118">
            <a:extLst>
              <a:ext uri="{FF2B5EF4-FFF2-40B4-BE49-F238E27FC236}">
                <a16:creationId xmlns:a16="http://schemas.microsoft.com/office/drawing/2014/main" xmlns="" id="{28F7D23A-ECE8-4B3A-A064-1ECA51345459}"/>
              </a:ext>
            </a:extLst>
          </p:cNvPr>
          <p:cNvSpPr/>
          <p:nvPr/>
        </p:nvSpPr>
        <p:spPr>
          <a:xfrm>
            <a:off x="1509713" y="146050"/>
            <a:ext cx="455612" cy="45402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9" name="橢圓 119">
            <a:extLst>
              <a:ext uri="{FF2B5EF4-FFF2-40B4-BE49-F238E27FC236}">
                <a16:creationId xmlns:a16="http://schemas.microsoft.com/office/drawing/2014/main" xmlns="" id="{53A75A66-03EB-44E5-836C-751B667B1BFD}"/>
              </a:ext>
            </a:extLst>
          </p:cNvPr>
          <p:cNvSpPr/>
          <p:nvPr/>
        </p:nvSpPr>
        <p:spPr>
          <a:xfrm>
            <a:off x="446088" y="619125"/>
            <a:ext cx="455612" cy="455613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0" name="橢圓 120">
            <a:extLst>
              <a:ext uri="{FF2B5EF4-FFF2-40B4-BE49-F238E27FC236}">
                <a16:creationId xmlns:a16="http://schemas.microsoft.com/office/drawing/2014/main" xmlns="" id="{48DC5ACB-2BB4-47DC-8EE9-64202AD6233E}"/>
              </a:ext>
            </a:extLst>
          </p:cNvPr>
          <p:cNvSpPr/>
          <p:nvPr/>
        </p:nvSpPr>
        <p:spPr>
          <a:xfrm>
            <a:off x="998538" y="590550"/>
            <a:ext cx="455612" cy="455613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1" name="橢圓 121">
            <a:extLst>
              <a:ext uri="{FF2B5EF4-FFF2-40B4-BE49-F238E27FC236}">
                <a16:creationId xmlns:a16="http://schemas.microsoft.com/office/drawing/2014/main" xmlns="" id="{4F2FFC12-E2B7-4AF3-8E1B-6EEDD8DDA5A1}"/>
              </a:ext>
            </a:extLst>
          </p:cNvPr>
          <p:cNvSpPr/>
          <p:nvPr/>
        </p:nvSpPr>
        <p:spPr>
          <a:xfrm>
            <a:off x="1509713" y="603250"/>
            <a:ext cx="455612" cy="45561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2" name="橢圓 122">
            <a:extLst>
              <a:ext uri="{FF2B5EF4-FFF2-40B4-BE49-F238E27FC236}">
                <a16:creationId xmlns:a16="http://schemas.microsoft.com/office/drawing/2014/main" xmlns="" id="{5052D895-1C86-4240-8BFD-9F15FF9C8618}"/>
              </a:ext>
            </a:extLst>
          </p:cNvPr>
          <p:cNvSpPr/>
          <p:nvPr/>
        </p:nvSpPr>
        <p:spPr>
          <a:xfrm>
            <a:off x="458788" y="1074738"/>
            <a:ext cx="455612" cy="45561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3" name="橢圓 123">
            <a:extLst>
              <a:ext uri="{FF2B5EF4-FFF2-40B4-BE49-F238E27FC236}">
                <a16:creationId xmlns:a16="http://schemas.microsoft.com/office/drawing/2014/main" xmlns="" id="{AFA9EEC6-DAEF-45AF-A6E0-6523BA0AA3C4}"/>
              </a:ext>
            </a:extLst>
          </p:cNvPr>
          <p:cNvSpPr/>
          <p:nvPr/>
        </p:nvSpPr>
        <p:spPr>
          <a:xfrm>
            <a:off x="1011238" y="1046163"/>
            <a:ext cx="455612" cy="455612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4" name="橢圓 124">
            <a:extLst>
              <a:ext uri="{FF2B5EF4-FFF2-40B4-BE49-F238E27FC236}">
                <a16:creationId xmlns:a16="http://schemas.microsoft.com/office/drawing/2014/main" xmlns="" id="{FEFB7970-FA76-493D-A5B3-45116E883C8A}"/>
              </a:ext>
            </a:extLst>
          </p:cNvPr>
          <p:cNvSpPr/>
          <p:nvPr/>
        </p:nvSpPr>
        <p:spPr>
          <a:xfrm>
            <a:off x="1522413" y="1058863"/>
            <a:ext cx="455612" cy="455612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55" name="文字方塊 66">
            <a:extLst>
              <a:ext uri="{FF2B5EF4-FFF2-40B4-BE49-F238E27FC236}">
                <a16:creationId xmlns:a16="http://schemas.microsoft.com/office/drawing/2014/main" xmlns="" id="{05E60B51-46E2-41B3-8B9E-C9DA0780F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5761038"/>
            <a:ext cx="2628900" cy="46037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Shared weights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cxnSp>
        <p:nvCxnSpPr>
          <p:cNvPr id="56" name="直線單箭頭接點 71">
            <a:extLst>
              <a:ext uri="{FF2B5EF4-FFF2-40B4-BE49-F238E27FC236}">
                <a16:creationId xmlns:a16="http://schemas.microsoft.com/office/drawing/2014/main" xmlns="" id="{1A05BD1B-76E7-426F-ACF7-C35AE7FF5437}"/>
              </a:ext>
            </a:extLst>
          </p:cNvPr>
          <p:cNvCxnSpPr>
            <a:stCxn id="24" idx="3"/>
            <a:endCxn id="45" idx="2"/>
          </p:cNvCxnSpPr>
          <p:nvPr/>
        </p:nvCxnSpPr>
        <p:spPr>
          <a:xfrm>
            <a:off x="6157913" y="749300"/>
            <a:ext cx="1370012" cy="25844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72">
            <a:extLst>
              <a:ext uri="{FF2B5EF4-FFF2-40B4-BE49-F238E27FC236}">
                <a16:creationId xmlns:a16="http://schemas.microsoft.com/office/drawing/2014/main" xmlns="" id="{9CC245B6-1E48-46CD-B9A5-037423A15466}"/>
              </a:ext>
            </a:extLst>
          </p:cNvPr>
          <p:cNvCxnSpPr>
            <a:stCxn id="25" idx="3"/>
            <a:endCxn id="45" idx="2"/>
          </p:cNvCxnSpPr>
          <p:nvPr/>
        </p:nvCxnSpPr>
        <p:spPr>
          <a:xfrm>
            <a:off x="6157913" y="1192213"/>
            <a:ext cx="1370012" cy="21415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73">
            <a:extLst>
              <a:ext uri="{FF2B5EF4-FFF2-40B4-BE49-F238E27FC236}">
                <a16:creationId xmlns:a16="http://schemas.microsoft.com/office/drawing/2014/main" xmlns="" id="{113A9A27-1CC7-45E7-A2A9-5F5CB92F9940}"/>
              </a:ext>
            </a:extLst>
          </p:cNvPr>
          <p:cNvCxnSpPr>
            <a:stCxn id="26" idx="3"/>
            <a:endCxn id="45" idx="2"/>
          </p:cNvCxnSpPr>
          <p:nvPr/>
        </p:nvCxnSpPr>
        <p:spPr>
          <a:xfrm>
            <a:off x="6157913" y="1654175"/>
            <a:ext cx="1370012" cy="167957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74">
            <a:extLst>
              <a:ext uri="{FF2B5EF4-FFF2-40B4-BE49-F238E27FC236}">
                <a16:creationId xmlns:a16="http://schemas.microsoft.com/office/drawing/2014/main" xmlns="" id="{C34B5AFA-56B1-4150-A748-7B6FD032C5A9}"/>
              </a:ext>
            </a:extLst>
          </p:cNvPr>
          <p:cNvCxnSpPr>
            <a:endCxn id="45" idx="2"/>
          </p:cNvCxnSpPr>
          <p:nvPr/>
        </p:nvCxnSpPr>
        <p:spPr>
          <a:xfrm>
            <a:off x="6186488" y="2981325"/>
            <a:ext cx="1341437" cy="35242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75">
            <a:extLst>
              <a:ext uri="{FF2B5EF4-FFF2-40B4-BE49-F238E27FC236}">
                <a16:creationId xmlns:a16="http://schemas.microsoft.com/office/drawing/2014/main" xmlns="" id="{91C47288-E2A5-4F9C-A75C-7735DBA3018D}"/>
              </a:ext>
            </a:extLst>
          </p:cNvPr>
          <p:cNvCxnSpPr>
            <a:endCxn id="45" idx="2"/>
          </p:cNvCxnSpPr>
          <p:nvPr/>
        </p:nvCxnSpPr>
        <p:spPr>
          <a:xfrm flipV="1">
            <a:off x="6173788" y="3333750"/>
            <a:ext cx="1354137" cy="12541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76">
            <a:extLst>
              <a:ext uri="{FF2B5EF4-FFF2-40B4-BE49-F238E27FC236}">
                <a16:creationId xmlns:a16="http://schemas.microsoft.com/office/drawing/2014/main" xmlns="" id="{72B928C9-6C63-4917-A98F-95C7FE1CE7EA}"/>
              </a:ext>
            </a:extLst>
          </p:cNvPr>
          <p:cNvCxnSpPr>
            <a:endCxn id="45" idx="2"/>
          </p:cNvCxnSpPr>
          <p:nvPr/>
        </p:nvCxnSpPr>
        <p:spPr>
          <a:xfrm flipV="1">
            <a:off x="6173788" y="3333750"/>
            <a:ext cx="1354137" cy="5699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77">
            <a:extLst>
              <a:ext uri="{FF2B5EF4-FFF2-40B4-BE49-F238E27FC236}">
                <a16:creationId xmlns:a16="http://schemas.microsoft.com/office/drawing/2014/main" xmlns="" id="{1EA7762C-891C-4F5C-AD88-BC2495F7015C}"/>
              </a:ext>
            </a:extLst>
          </p:cNvPr>
          <p:cNvCxnSpPr>
            <a:stCxn id="32" idx="3"/>
          </p:cNvCxnSpPr>
          <p:nvPr/>
        </p:nvCxnSpPr>
        <p:spPr>
          <a:xfrm flipV="1">
            <a:off x="6157913" y="3360738"/>
            <a:ext cx="1336675" cy="17621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84">
            <a:extLst>
              <a:ext uri="{FF2B5EF4-FFF2-40B4-BE49-F238E27FC236}">
                <a16:creationId xmlns:a16="http://schemas.microsoft.com/office/drawing/2014/main" xmlns="" id="{0FCE1539-B61A-4ED1-AEBF-3805688856DD}"/>
              </a:ext>
            </a:extLst>
          </p:cNvPr>
          <p:cNvCxnSpPr>
            <a:stCxn id="33" idx="3"/>
          </p:cNvCxnSpPr>
          <p:nvPr/>
        </p:nvCxnSpPr>
        <p:spPr>
          <a:xfrm flipV="1">
            <a:off x="6157913" y="3327400"/>
            <a:ext cx="1358900" cy="223837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85">
            <a:extLst>
              <a:ext uri="{FF2B5EF4-FFF2-40B4-BE49-F238E27FC236}">
                <a16:creationId xmlns:a16="http://schemas.microsoft.com/office/drawing/2014/main" xmlns="" id="{98D851B6-D965-43A2-8046-2493E0207F6A}"/>
              </a:ext>
            </a:extLst>
          </p:cNvPr>
          <p:cNvCxnSpPr>
            <a:stCxn id="34" idx="3"/>
          </p:cNvCxnSpPr>
          <p:nvPr/>
        </p:nvCxnSpPr>
        <p:spPr>
          <a:xfrm flipV="1">
            <a:off x="6157913" y="3389313"/>
            <a:ext cx="1343025" cy="263842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14" name="文字方塊 87">
            <a:extLst>
              <a:ext uri="{FF2B5EF4-FFF2-40B4-BE49-F238E27FC236}">
                <a16:creationId xmlns:a16="http://schemas.microsoft.com/office/drawing/2014/main" xmlns="" id="{57584B4A-C7C9-4186-A246-6DD4DE63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4640263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6 x 6 image</a:t>
            </a:r>
            <a:endParaRPr lang="zh-TW" altLang="en-US" sz="2400"/>
          </a:p>
        </p:txBody>
      </p:sp>
      <p:pic>
        <p:nvPicPr>
          <p:cNvPr id="66" name="圖片 86">
            <a:extLst>
              <a:ext uri="{FF2B5EF4-FFF2-40B4-BE49-F238E27FC236}">
                <a16:creationId xmlns:a16="http://schemas.microsoft.com/office/drawing/2014/main" xmlns="" id="{9A750DCC-0485-45AA-B1AA-DA6791B4F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14625" y="1216025"/>
            <a:ext cx="2230438" cy="224313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67" name="直線單箭頭接點 34">
            <a:extLst>
              <a:ext uri="{FF2B5EF4-FFF2-40B4-BE49-F238E27FC236}">
                <a16:creationId xmlns:a16="http://schemas.microsoft.com/office/drawing/2014/main" xmlns="" id="{101E6C1C-8785-4F7E-95FB-E6E08CE4F6A5}"/>
              </a:ext>
            </a:extLst>
          </p:cNvPr>
          <p:cNvCxnSpPr/>
          <p:nvPr/>
        </p:nvCxnSpPr>
        <p:spPr>
          <a:xfrm flipV="1">
            <a:off x="2328863" y="1557338"/>
            <a:ext cx="944562" cy="9334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33">
            <a:extLst>
              <a:ext uri="{FF2B5EF4-FFF2-40B4-BE49-F238E27FC236}">
                <a16:creationId xmlns:a16="http://schemas.microsoft.com/office/drawing/2014/main" xmlns="" id="{09B35694-6CEE-4982-8102-0691D0303374}"/>
              </a:ext>
            </a:extLst>
          </p:cNvPr>
          <p:cNvCxnSpPr/>
          <p:nvPr/>
        </p:nvCxnSpPr>
        <p:spPr>
          <a:xfrm>
            <a:off x="2022475" y="838200"/>
            <a:ext cx="1250950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91">
            <a:extLst>
              <a:ext uri="{FF2B5EF4-FFF2-40B4-BE49-F238E27FC236}">
                <a16:creationId xmlns:a16="http://schemas.microsoft.com/office/drawing/2014/main" xmlns="" id="{2C7345A2-95A3-409E-BE64-03B21DDB4355}"/>
              </a:ext>
            </a:extLst>
          </p:cNvPr>
          <p:cNvSpPr txBox="1"/>
          <p:nvPr/>
        </p:nvSpPr>
        <p:spPr>
          <a:xfrm>
            <a:off x="609600" y="5257800"/>
            <a:ext cx="3483048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Fewer parameters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70" name="文字方塊 92">
            <a:extLst>
              <a:ext uri="{FF2B5EF4-FFF2-40B4-BE49-F238E27FC236}">
                <a16:creationId xmlns:a16="http://schemas.microsoft.com/office/drawing/2014/main" xmlns="" id="{BCFC56D0-1ED5-4EB5-85D3-9883A2BFDB79}"/>
              </a:ext>
            </a:extLst>
          </p:cNvPr>
          <p:cNvSpPr txBox="1"/>
          <p:nvPr/>
        </p:nvSpPr>
        <p:spPr>
          <a:xfrm>
            <a:off x="629478" y="5937959"/>
            <a:ext cx="3485322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Even fewer parameters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F8863B-7E0B-48F4-BF18-9FE552C4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Convolutions: More detail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85E326-07DB-4533-9C2A-676CBF43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EDB40B6-6D5F-4726-9C87-0E798AB3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ECF51AD3-D0EB-4660-A33F-B18565308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738823059"/>
              </p:ext>
            </p:extLst>
          </p:nvPr>
        </p:nvGraphicFramePr>
        <p:xfrm>
          <a:off x="461394" y="2657757"/>
          <a:ext cx="2281209" cy="2352729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384114">
                  <a:extLst>
                    <a:ext uri="{9D8B030D-6E8A-4147-A177-3AD203B41FA5}">
                      <a16:colId xmlns:a16="http://schemas.microsoft.com/office/drawing/2014/main" xmlns="" val="2417230200"/>
                    </a:ext>
                  </a:extLst>
                </a:gridCol>
                <a:gridCol w="379419">
                  <a:extLst>
                    <a:ext uri="{9D8B030D-6E8A-4147-A177-3AD203B41FA5}">
                      <a16:colId xmlns:a16="http://schemas.microsoft.com/office/drawing/2014/main" xmlns="" val="3583839506"/>
                    </a:ext>
                  </a:extLst>
                </a:gridCol>
                <a:gridCol w="379419">
                  <a:extLst>
                    <a:ext uri="{9D8B030D-6E8A-4147-A177-3AD203B41FA5}">
                      <a16:colId xmlns:a16="http://schemas.microsoft.com/office/drawing/2014/main" xmlns="" val="2395837343"/>
                    </a:ext>
                  </a:extLst>
                </a:gridCol>
                <a:gridCol w="379419">
                  <a:extLst>
                    <a:ext uri="{9D8B030D-6E8A-4147-A177-3AD203B41FA5}">
                      <a16:colId xmlns:a16="http://schemas.microsoft.com/office/drawing/2014/main" xmlns="" val="2627025297"/>
                    </a:ext>
                  </a:extLst>
                </a:gridCol>
                <a:gridCol w="379419">
                  <a:extLst>
                    <a:ext uri="{9D8B030D-6E8A-4147-A177-3AD203B41FA5}">
                      <a16:colId xmlns:a16="http://schemas.microsoft.com/office/drawing/2014/main" xmlns="" val="899337020"/>
                    </a:ext>
                  </a:extLst>
                </a:gridCol>
                <a:gridCol w="379419">
                  <a:extLst>
                    <a:ext uri="{9D8B030D-6E8A-4147-A177-3AD203B41FA5}">
                      <a16:colId xmlns:a16="http://schemas.microsoft.com/office/drawing/2014/main" xmlns="" val="4083176829"/>
                    </a:ext>
                  </a:extLst>
                </a:gridCol>
              </a:tblGrid>
              <a:tr h="4705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106292727"/>
                  </a:ext>
                </a:extLst>
              </a:tr>
              <a:tr h="3730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r>
                        <a:rPr lang="en-IN" sz="2000" dirty="0">
                          <a:effectLst/>
                        </a:rPr>
                        <a:t>F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69495067"/>
                  </a:ext>
                </a:extLst>
              </a:tr>
              <a:tr h="3900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19731590"/>
                  </a:ext>
                </a:extLst>
              </a:tr>
              <a:tr h="3730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r>
                        <a:rPr lang="en-IN" sz="2000" dirty="0">
                          <a:effectLst/>
                        </a:rPr>
                        <a:t>F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486307453"/>
                  </a:ext>
                </a:extLst>
              </a:tr>
              <a:tr h="3730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82006757"/>
                  </a:ext>
                </a:extLst>
              </a:tr>
              <a:tr h="3730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4216785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E628940-05C8-4C8C-B2F7-B4E292ACA47B}"/>
              </a:ext>
            </a:extLst>
          </p:cNvPr>
          <p:cNvSpPr txBox="1"/>
          <p:nvPr/>
        </p:nvSpPr>
        <p:spPr>
          <a:xfrm>
            <a:off x="3435532" y="2828970"/>
            <a:ext cx="559090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Output size: (N - F) / stride + 1 </a:t>
            </a:r>
          </a:p>
          <a:p>
            <a:r>
              <a:rPr lang="en-IN" sz="3200" dirty="0"/>
              <a:t>e.g. N = 6, F = 3: </a:t>
            </a:r>
          </a:p>
          <a:p>
            <a:r>
              <a:rPr lang="en-IN" sz="3200" dirty="0"/>
              <a:t>stride 1 =&gt; (6 - 3)/1 + 1 = 4 </a:t>
            </a:r>
          </a:p>
          <a:p>
            <a:r>
              <a:rPr lang="en-IN" sz="3200" dirty="0"/>
              <a:t>stride 2 =&gt; (6 - 3)/2 + 1 </a:t>
            </a:r>
            <a:r>
              <a:rPr lang="en-IN" sz="3200"/>
              <a:t>= 2.5</a:t>
            </a:r>
            <a:endParaRPr lang="en-I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41D267A-8352-4D64-832A-2CC663017560}"/>
              </a:ext>
            </a:extLst>
          </p:cNvPr>
          <p:cNvSpPr txBox="1"/>
          <p:nvPr/>
        </p:nvSpPr>
        <p:spPr>
          <a:xfrm>
            <a:off x="1358537" y="2294193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xmlns="" val="3172134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505C1C-E2DB-474E-BFEF-491B8ED9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Convolutions: More detail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AADE3CAB-2E74-4BF9-82A9-030B562EEB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361564469"/>
              </p:ext>
            </p:extLst>
          </p:nvPr>
        </p:nvGraphicFramePr>
        <p:xfrm>
          <a:off x="171450" y="2825053"/>
          <a:ext cx="3405887" cy="3197860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77889">
                  <a:extLst>
                    <a:ext uri="{9D8B030D-6E8A-4147-A177-3AD203B41FA5}">
                      <a16:colId xmlns:a16="http://schemas.microsoft.com/office/drawing/2014/main" xmlns="" val="358674903"/>
                    </a:ext>
                  </a:extLst>
                </a:gridCol>
                <a:gridCol w="377889">
                  <a:extLst>
                    <a:ext uri="{9D8B030D-6E8A-4147-A177-3AD203B41FA5}">
                      <a16:colId xmlns:a16="http://schemas.microsoft.com/office/drawing/2014/main" xmlns="" val="3027852823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332568570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3252193302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1153142342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2273045630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3977394726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2636467972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230436319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747598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2419868115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62272541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115618593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57307523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160542866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896672846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425453966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75861310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688C0E-8C6D-420E-A75A-01BC316F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1" y="6356351"/>
            <a:ext cx="2057400" cy="365125"/>
          </a:xfrm>
        </p:spPr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1D9861-7042-4DA6-94E3-40B0943C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3996C6A-4422-438E-AEFB-0591751EEDA0}"/>
              </a:ext>
            </a:extLst>
          </p:cNvPr>
          <p:cNvSpPr txBox="1"/>
          <p:nvPr/>
        </p:nvSpPr>
        <p:spPr>
          <a:xfrm>
            <a:off x="628650" y="1931919"/>
            <a:ext cx="6438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practice: Common to zero pad the border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B54B578-3B16-478C-BDA8-FE3BF7060018}"/>
              </a:ext>
            </a:extLst>
          </p:cNvPr>
          <p:cNvSpPr txBox="1"/>
          <p:nvPr/>
        </p:nvSpPr>
        <p:spPr>
          <a:xfrm>
            <a:off x="3577337" y="2911814"/>
            <a:ext cx="55666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Output size: (W−F+2P)/S  +1</a:t>
            </a:r>
          </a:p>
          <a:p>
            <a:r>
              <a:rPr lang="en-US" sz="3000" dirty="0"/>
              <a:t>Input volume: 32x32x3 </a:t>
            </a:r>
          </a:p>
          <a:p>
            <a:r>
              <a:rPr lang="en-US" sz="3000" dirty="0"/>
              <a:t>10 5x5 filters with stride 1, pad 2 </a:t>
            </a:r>
            <a:r>
              <a:rPr lang="en-US" sz="3000" b="1" dirty="0"/>
              <a:t>Output volume size: </a:t>
            </a:r>
          </a:p>
          <a:p>
            <a:r>
              <a:rPr lang="en-US" sz="3000" dirty="0"/>
              <a:t>(32+2*2-5)/1+1 = 32 spatially, </a:t>
            </a:r>
          </a:p>
          <a:p>
            <a:r>
              <a:rPr lang="en-US" sz="3000" dirty="0"/>
              <a:t>so 32x32x10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xmlns="" val="21639650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505C1C-E2DB-474E-BFEF-491B8ED9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Convolutions: More detail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AADE3CAB-2E74-4BF9-82A9-030B562EEB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1450" y="2825053"/>
          <a:ext cx="3405887" cy="3197860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77889">
                  <a:extLst>
                    <a:ext uri="{9D8B030D-6E8A-4147-A177-3AD203B41FA5}">
                      <a16:colId xmlns:a16="http://schemas.microsoft.com/office/drawing/2014/main" xmlns="" val="358674903"/>
                    </a:ext>
                  </a:extLst>
                </a:gridCol>
                <a:gridCol w="377889">
                  <a:extLst>
                    <a:ext uri="{9D8B030D-6E8A-4147-A177-3AD203B41FA5}">
                      <a16:colId xmlns:a16="http://schemas.microsoft.com/office/drawing/2014/main" xmlns="" val="3027852823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332568570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3252193302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1153142342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2273045630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3977394726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2636467972"/>
                    </a:ext>
                  </a:extLst>
                </a:gridCol>
                <a:gridCol w="378587">
                  <a:extLst>
                    <a:ext uri="{9D8B030D-6E8A-4147-A177-3AD203B41FA5}">
                      <a16:colId xmlns:a16="http://schemas.microsoft.com/office/drawing/2014/main" xmlns="" val="230436319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747598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2419868115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62272541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115618593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57307523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160542866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896672846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425453966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5438" marR="75438" marT="0" marB="0"/>
                </a:tc>
                <a:extLst>
                  <a:ext uri="{0D108BD9-81ED-4DB2-BD59-A6C34878D82A}">
                    <a16:rowId xmlns:a16="http://schemas.microsoft.com/office/drawing/2014/main" xmlns="" val="75861310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688C0E-8C6D-420E-A75A-01BC316F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1" y="6356351"/>
            <a:ext cx="2057400" cy="365125"/>
          </a:xfrm>
        </p:spPr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1D9861-7042-4DA6-94E3-40B0943C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3996C6A-4422-438E-AEFB-0591751EEDA0}"/>
              </a:ext>
            </a:extLst>
          </p:cNvPr>
          <p:cNvSpPr txBox="1"/>
          <p:nvPr/>
        </p:nvSpPr>
        <p:spPr>
          <a:xfrm>
            <a:off x="628650" y="1931919"/>
            <a:ext cx="6438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practice: Common to zero pad the border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B54B578-3B16-478C-BDA8-FE3BF7060018}"/>
              </a:ext>
            </a:extLst>
          </p:cNvPr>
          <p:cNvSpPr txBox="1"/>
          <p:nvPr/>
        </p:nvSpPr>
        <p:spPr>
          <a:xfrm>
            <a:off x="3577337" y="2911814"/>
            <a:ext cx="55666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Output size: (W−F+2P)/S  +1</a:t>
            </a:r>
          </a:p>
          <a:p>
            <a:r>
              <a:rPr lang="en-US" sz="3000" dirty="0"/>
              <a:t>Input volume: 32x32x3 </a:t>
            </a:r>
          </a:p>
          <a:p>
            <a:r>
              <a:rPr lang="en-US" sz="3000" dirty="0"/>
              <a:t>10 5x5 filters with stride 1, pad 2</a:t>
            </a:r>
          </a:p>
          <a:p>
            <a:endParaRPr lang="en-US" sz="3000" dirty="0"/>
          </a:p>
          <a:p>
            <a:r>
              <a:rPr lang="en-US" sz="3000" b="1" dirty="0"/>
              <a:t>No. of parameters in this layer? </a:t>
            </a:r>
          </a:p>
          <a:p>
            <a:r>
              <a:rPr lang="en-US" sz="3000" dirty="0"/>
              <a:t>Each filter has 5*5*3 + 1 = 76 params =&gt; 76*10 = 760</a:t>
            </a:r>
            <a:endParaRPr lang="en-IN" sz="3000" dirty="0"/>
          </a:p>
          <a:p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xmlns="" val="897847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>
            <a:extLst>
              <a:ext uri="{FF2B5EF4-FFF2-40B4-BE49-F238E27FC236}">
                <a16:creationId xmlns:a16="http://schemas.microsoft.com/office/drawing/2014/main" xmlns="" id="{E858BF41-4675-451B-AA70-0CB97FCC7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Max Pooling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" name="橢圓 11">
            <a:extLst>
              <a:ext uri="{FF2B5EF4-FFF2-40B4-BE49-F238E27FC236}">
                <a16:creationId xmlns:a16="http://schemas.microsoft.com/office/drawing/2014/main" xmlns="" id="{B7D208C2-5CCB-46FE-BA4C-092D31107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3284538"/>
            <a:ext cx="719138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" name="橢圓 12">
            <a:extLst>
              <a:ext uri="{FF2B5EF4-FFF2-40B4-BE49-F238E27FC236}">
                <a16:creationId xmlns:a16="http://schemas.microsoft.com/office/drawing/2014/main" xmlns="" id="{DA11CA23-2CF4-4656-AF32-D1A50567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32845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" name="橢圓 13">
            <a:extLst>
              <a:ext uri="{FF2B5EF4-FFF2-40B4-BE49-F238E27FC236}">
                <a16:creationId xmlns:a16="http://schemas.microsoft.com/office/drawing/2014/main" xmlns="" id="{E8447F74-C510-43EB-877C-9BEEDDA69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32845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" name="橢圓 14">
            <a:extLst>
              <a:ext uri="{FF2B5EF4-FFF2-40B4-BE49-F238E27FC236}">
                <a16:creationId xmlns:a16="http://schemas.microsoft.com/office/drawing/2014/main" xmlns="" id="{48DD568A-FB5D-45DE-92C2-767C4E9F1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2845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" name="橢圓 15">
            <a:extLst>
              <a:ext uri="{FF2B5EF4-FFF2-40B4-BE49-F238E27FC236}">
                <a16:creationId xmlns:a16="http://schemas.microsoft.com/office/drawing/2014/main" xmlns="" id="{2ADB95DA-412C-4007-8046-9805BA528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4084638"/>
            <a:ext cx="719138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" name="橢圓 16">
            <a:extLst>
              <a:ext uri="{FF2B5EF4-FFF2-40B4-BE49-F238E27FC236}">
                <a16:creationId xmlns:a16="http://schemas.microsoft.com/office/drawing/2014/main" xmlns="" id="{A7244F03-B6AD-4072-8C3C-9E9098642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0846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7">
            <a:extLst>
              <a:ext uri="{FF2B5EF4-FFF2-40B4-BE49-F238E27FC236}">
                <a16:creationId xmlns:a16="http://schemas.microsoft.com/office/drawing/2014/main" xmlns="" id="{7399AC61-DC4A-441D-A69C-919649FB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0846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橢圓 18">
            <a:extLst>
              <a:ext uri="{FF2B5EF4-FFF2-40B4-BE49-F238E27FC236}">
                <a16:creationId xmlns:a16="http://schemas.microsoft.com/office/drawing/2014/main" xmlns="" id="{81D1F0F5-4832-4B91-A251-12F9B0379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40846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橢圓 19">
            <a:extLst>
              <a:ext uri="{FF2B5EF4-FFF2-40B4-BE49-F238E27FC236}">
                <a16:creationId xmlns:a16="http://schemas.microsoft.com/office/drawing/2014/main" xmlns="" id="{98A03455-4ED7-41F2-BB06-ED99B7873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4943475"/>
            <a:ext cx="719138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橢圓 20">
            <a:extLst>
              <a:ext uri="{FF2B5EF4-FFF2-40B4-BE49-F238E27FC236}">
                <a16:creationId xmlns:a16="http://schemas.microsoft.com/office/drawing/2014/main" xmlns="" id="{CD8E6D6A-74A2-4B5B-BE40-75D898C8F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94347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" name="橢圓 21">
            <a:extLst>
              <a:ext uri="{FF2B5EF4-FFF2-40B4-BE49-F238E27FC236}">
                <a16:creationId xmlns:a16="http://schemas.microsoft.com/office/drawing/2014/main" xmlns="" id="{1AE68ED0-399A-45B3-882F-4BD14C1D7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9434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" name="橢圓 22">
            <a:extLst>
              <a:ext uri="{FF2B5EF4-FFF2-40B4-BE49-F238E27FC236}">
                <a16:creationId xmlns:a16="http://schemas.microsoft.com/office/drawing/2014/main" xmlns="" id="{B232609D-0319-492F-A9DB-0A311CBE1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49434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" name="橢圓 23">
            <a:extLst>
              <a:ext uri="{FF2B5EF4-FFF2-40B4-BE49-F238E27FC236}">
                <a16:creationId xmlns:a16="http://schemas.microsoft.com/office/drawing/2014/main" xmlns="" id="{22C2DF21-226E-42E8-B16C-EC119D18C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5743575"/>
            <a:ext cx="719138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" name="橢圓 24">
            <a:extLst>
              <a:ext uri="{FF2B5EF4-FFF2-40B4-BE49-F238E27FC236}">
                <a16:creationId xmlns:a16="http://schemas.microsoft.com/office/drawing/2014/main" xmlns="" id="{EBD9BECB-6EB7-4F75-A456-D30093A6C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574357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" name="橢圓 25">
            <a:extLst>
              <a:ext uri="{FF2B5EF4-FFF2-40B4-BE49-F238E27FC236}">
                <a16:creationId xmlns:a16="http://schemas.microsoft.com/office/drawing/2014/main" xmlns="" id="{08887B7F-8D7D-4BCC-97F6-7D557F13D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57435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橢圓 26">
            <a:extLst>
              <a:ext uri="{FF2B5EF4-FFF2-40B4-BE49-F238E27FC236}">
                <a16:creationId xmlns:a16="http://schemas.microsoft.com/office/drawing/2014/main" xmlns="" id="{6DD20024-016D-4A2E-8BAF-005326792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57435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21" name="表格 34">
            <a:extLst>
              <a:ext uri="{FF2B5EF4-FFF2-40B4-BE49-F238E27FC236}">
                <a16:creationId xmlns:a16="http://schemas.microsoft.com/office/drawing/2014/main" xmlns="" id="{D26EDFF4-2FD9-4BCC-9288-5729F4114BF1}"/>
              </a:ext>
            </a:extLst>
          </p:cNvPr>
          <p:cNvGraphicFramePr>
            <a:graphicFrameLocks noGrp="1"/>
          </p:cNvGraphicFramePr>
          <p:nvPr/>
        </p:nvGraphicFramePr>
        <p:xfrm>
          <a:off x="5711825" y="161766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2" name="文字方塊 35">
            <a:extLst>
              <a:ext uri="{FF2B5EF4-FFF2-40B4-BE49-F238E27FC236}">
                <a16:creationId xmlns:a16="http://schemas.microsoft.com/office/drawing/2014/main" xmlns="" id="{81A589E7-DC7E-42ED-959A-D01909BED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2085975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2</a:t>
            </a:r>
            <a:endParaRPr lang="zh-TW" altLang="en-US" sz="2400"/>
          </a:p>
        </p:txBody>
      </p:sp>
      <p:sp>
        <p:nvSpPr>
          <p:cNvPr id="23" name="橢圓 41">
            <a:extLst>
              <a:ext uri="{FF2B5EF4-FFF2-40B4-BE49-F238E27FC236}">
                <a16:creationId xmlns:a16="http://schemas.microsoft.com/office/drawing/2014/main" xmlns="" id="{8408EF3C-F60B-408A-BDE2-906B54DE7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33543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4" name="橢圓 42">
            <a:extLst>
              <a:ext uri="{FF2B5EF4-FFF2-40B4-BE49-F238E27FC236}">
                <a16:creationId xmlns:a16="http://schemas.microsoft.com/office/drawing/2014/main" xmlns="" id="{E2545F41-A4BE-4100-845A-E5814B7B4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33543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" name="橢圓 43">
            <a:extLst>
              <a:ext uri="{FF2B5EF4-FFF2-40B4-BE49-F238E27FC236}">
                <a16:creationId xmlns:a16="http://schemas.microsoft.com/office/drawing/2014/main" xmlns="" id="{33506B86-1DEC-4909-BED3-A2BE419C8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33543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6" name="橢圓 44">
            <a:extLst>
              <a:ext uri="{FF2B5EF4-FFF2-40B4-BE49-F238E27FC236}">
                <a16:creationId xmlns:a16="http://schemas.microsoft.com/office/drawing/2014/main" xmlns="" id="{95279291-EFA8-4C7E-B9A6-074347081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33543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7" name="橢圓 45">
            <a:extLst>
              <a:ext uri="{FF2B5EF4-FFF2-40B4-BE49-F238E27FC236}">
                <a16:creationId xmlns:a16="http://schemas.microsoft.com/office/drawing/2014/main" xmlns="" id="{705EF7D6-7E45-4DCF-ABC8-FBD5A22A1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41544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8" name="橢圓 46">
            <a:extLst>
              <a:ext uri="{FF2B5EF4-FFF2-40B4-BE49-F238E27FC236}">
                <a16:creationId xmlns:a16="http://schemas.microsoft.com/office/drawing/2014/main" xmlns="" id="{714C4777-473B-4204-9F1B-DCD0BD94B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41544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9" name="橢圓 47">
            <a:extLst>
              <a:ext uri="{FF2B5EF4-FFF2-40B4-BE49-F238E27FC236}">
                <a16:creationId xmlns:a16="http://schemas.microsoft.com/office/drawing/2014/main" xmlns="" id="{9E4A2F76-0A85-4DEA-9D98-B60044FCE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41544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" name="橢圓 48">
            <a:extLst>
              <a:ext uri="{FF2B5EF4-FFF2-40B4-BE49-F238E27FC236}">
                <a16:creationId xmlns:a16="http://schemas.microsoft.com/office/drawing/2014/main" xmlns="" id="{C8882CBE-A2E9-4BC9-BC9B-B512D5A74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41544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橢圓 49">
            <a:extLst>
              <a:ext uri="{FF2B5EF4-FFF2-40B4-BE49-F238E27FC236}">
                <a16:creationId xmlns:a16="http://schemas.microsoft.com/office/drawing/2014/main" xmlns="" id="{85EB30D5-9CD8-4980-85DD-687E53A9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50117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" name="橢圓 50">
            <a:extLst>
              <a:ext uri="{FF2B5EF4-FFF2-40B4-BE49-F238E27FC236}">
                <a16:creationId xmlns:a16="http://schemas.microsoft.com/office/drawing/2014/main" xmlns="" id="{DE8E3188-546A-4803-8FC5-7A5C4B5A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50117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3" name="橢圓 51">
            <a:extLst>
              <a:ext uri="{FF2B5EF4-FFF2-40B4-BE49-F238E27FC236}">
                <a16:creationId xmlns:a16="http://schemas.microsoft.com/office/drawing/2014/main" xmlns="" id="{3AC68C0D-05E9-4D96-B517-9B976FB29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50117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" name="橢圓 52">
            <a:extLst>
              <a:ext uri="{FF2B5EF4-FFF2-40B4-BE49-F238E27FC236}">
                <a16:creationId xmlns:a16="http://schemas.microsoft.com/office/drawing/2014/main" xmlns="" id="{96746718-2CCF-4C02-B33C-1634DBFE5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50117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" name="橢圓 53">
            <a:extLst>
              <a:ext uri="{FF2B5EF4-FFF2-40B4-BE49-F238E27FC236}">
                <a16:creationId xmlns:a16="http://schemas.microsoft.com/office/drawing/2014/main" xmlns="" id="{593EDC31-D770-4EA7-B34C-B42E86291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58118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" name="橢圓 54">
            <a:extLst>
              <a:ext uri="{FF2B5EF4-FFF2-40B4-BE49-F238E27FC236}">
                <a16:creationId xmlns:a16="http://schemas.microsoft.com/office/drawing/2014/main" xmlns="" id="{F277A0F8-7570-43FD-B213-5AB1CDD28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58118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" name="橢圓 55">
            <a:extLst>
              <a:ext uri="{FF2B5EF4-FFF2-40B4-BE49-F238E27FC236}">
                <a16:creationId xmlns:a16="http://schemas.microsoft.com/office/drawing/2014/main" xmlns="" id="{9F1F029C-5D2E-4FFC-B359-0FDEFF3E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58118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-4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" name="橢圓 56">
            <a:extLst>
              <a:ext uri="{FF2B5EF4-FFF2-40B4-BE49-F238E27FC236}">
                <a16:creationId xmlns:a16="http://schemas.microsoft.com/office/drawing/2014/main" xmlns="" id="{58531083-21E9-4B53-A80E-932B586BE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58118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39" name="表格 57">
            <a:extLst>
              <a:ext uri="{FF2B5EF4-FFF2-40B4-BE49-F238E27FC236}">
                <a16:creationId xmlns:a16="http://schemas.microsoft.com/office/drawing/2014/main" xmlns="" id="{A705F7A7-5234-471E-86B0-805D432F4B85}"/>
              </a:ext>
            </a:extLst>
          </p:cNvPr>
          <p:cNvGraphicFramePr>
            <a:graphicFrameLocks noGrp="1"/>
          </p:cNvGraphicFramePr>
          <p:nvPr/>
        </p:nvGraphicFramePr>
        <p:xfrm>
          <a:off x="1706563" y="161766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0" name="文字方塊 58">
            <a:extLst>
              <a:ext uri="{FF2B5EF4-FFF2-40B4-BE49-F238E27FC236}">
                <a16:creationId xmlns:a16="http://schemas.microsoft.com/office/drawing/2014/main" xmlns="" id="{6E318B37-5CDC-4A50-84A2-A5A42AB74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988" y="207168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41" name="矩形 2">
            <a:extLst>
              <a:ext uri="{FF2B5EF4-FFF2-40B4-BE49-F238E27FC236}">
                <a16:creationId xmlns:a16="http://schemas.microsoft.com/office/drawing/2014/main" xmlns="" id="{AE404719-EA8A-4570-803C-EC0AE96ECBF5}"/>
              </a:ext>
            </a:extLst>
          </p:cNvPr>
          <p:cNvSpPr/>
          <p:nvPr/>
        </p:nvSpPr>
        <p:spPr>
          <a:xfrm>
            <a:off x="895350" y="3284538"/>
            <a:ext cx="1562100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2" name="矩形 67">
            <a:extLst>
              <a:ext uri="{FF2B5EF4-FFF2-40B4-BE49-F238E27FC236}">
                <a16:creationId xmlns:a16="http://schemas.microsoft.com/office/drawing/2014/main" xmlns="" id="{1E425DBF-0FE7-422F-92B8-5C7522295039}"/>
              </a:ext>
            </a:extLst>
          </p:cNvPr>
          <p:cNvSpPr/>
          <p:nvPr/>
        </p:nvSpPr>
        <p:spPr>
          <a:xfrm>
            <a:off x="2579688" y="3284538"/>
            <a:ext cx="1560512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3" name="矩形 68">
            <a:extLst>
              <a:ext uri="{FF2B5EF4-FFF2-40B4-BE49-F238E27FC236}">
                <a16:creationId xmlns:a16="http://schemas.microsoft.com/office/drawing/2014/main" xmlns="" id="{D4DE1C71-240F-484F-91ED-1E0899EDBBE1}"/>
              </a:ext>
            </a:extLst>
          </p:cNvPr>
          <p:cNvSpPr/>
          <p:nvPr/>
        </p:nvSpPr>
        <p:spPr>
          <a:xfrm>
            <a:off x="895350" y="4940300"/>
            <a:ext cx="1562100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4" name="矩形 69">
            <a:extLst>
              <a:ext uri="{FF2B5EF4-FFF2-40B4-BE49-F238E27FC236}">
                <a16:creationId xmlns:a16="http://schemas.microsoft.com/office/drawing/2014/main" xmlns="" id="{6E4DC519-600F-42AF-8DE1-881D9E40CD0F}"/>
              </a:ext>
            </a:extLst>
          </p:cNvPr>
          <p:cNvSpPr/>
          <p:nvPr/>
        </p:nvSpPr>
        <p:spPr>
          <a:xfrm>
            <a:off x="2579688" y="4940300"/>
            <a:ext cx="1560512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5" name="矩形 70">
            <a:extLst>
              <a:ext uri="{FF2B5EF4-FFF2-40B4-BE49-F238E27FC236}">
                <a16:creationId xmlns:a16="http://schemas.microsoft.com/office/drawing/2014/main" xmlns="" id="{8C16657B-182B-4B8D-AFC4-83D97674EB86}"/>
              </a:ext>
            </a:extLst>
          </p:cNvPr>
          <p:cNvSpPr/>
          <p:nvPr/>
        </p:nvSpPr>
        <p:spPr>
          <a:xfrm>
            <a:off x="5064125" y="3325813"/>
            <a:ext cx="1562100" cy="151923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6" name="矩形 71">
            <a:extLst>
              <a:ext uri="{FF2B5EF4-FFF2-40B4-BE49-F238E27FC236}">
                <a16:creationId xmlns:a16="http://schemas.microsoft.com/office/drawing/2014/main" xmlns="" id="{0DB125DD-40DB-4DB6-833E-89444FD89FEC}"/>
              </a:ext>
            </a:extLst>
          </p:cNvPr>
          <p:cNvSpPr/>
          <p:nvPr/>
        </p:nvSpPr>
        <p:spPr>
          <a:xfrm>
            <a:off x="6748463" y="3325813"/>
            <a:ext cx="1560512" cy="151923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7" name="矩形 72">
            <a:extLst>
              <a:ext uri="{FF2B5EF4-FFF2-40B4-BE49-F238E27FC236}">
                <a16:creationId xmlns:a16="http://schemas.microsoft.com/office/drawing/2014/main" xmlns="" id="{127D0B9D-9A24-4F71-9FD0-7D28DD5164C5}"/>
              </a:ext>
            </a:extLst>
          </p:cNvPr>
          <p:cNvSpPr/>
          <p:nvPr/>
        </p:nvSpPr>
        <p:spPr>
          <a:xfrm>
            <a:off x="5064125" y="4981575"/>
            <a:ext cx="1562100" cy="151923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8" name="矩形 73">
            <a:extLst>
              <a:ext uri="{FF2B5EF4-FFF2-40B4-BE49-F238E27FC236}">
                <a16:creationId xmlns:a16="http://schemas.microsoft.com/office/drawing/2014/main" xmlns="" id="{0CB432EC-D64B-4E51-A4ED-757AC2AA4CDC}"/>
              </a:ext>
            </a:extLst>
          </p:cNvPr>
          <p:cNvSpPr/>
          <p:nvPr/>
        </p:nvSpPr>
        <p:spPr>
          <a:xfrm>
            <a:off x="6748463" y="4981575"/>
            <a:ext cx="1560512" cy="151923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2" grpId="0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29" grpId="1" animBg="1"/>
      <p:bldP spid="30" grpId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xmlns="" id="{804BAE36-0F15-4C47-B354-A9500857F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Why Pooling?</a:t>
            </a:r>
            <a:endParaRPr lang="zh-TW" altLang="en-US" dirty="0"/>
          </a:p>
        </p:txBody>
      </p:sp>
      <p:sp>
        <p:nvSpPr>
          <p:cNvPr id="19459" name="內容版面配置區 2">
            <a:extLst>
              <a:ext uri="{FF2B5EF4-FFF2-40B4-BE49-F238E27FC236}">
                <a16:creationId xmlns:a16="http://schemas.microsoft.com/office/drawing/2014/main" xmlns="" id="{89D71D97-EABB-4AB8-89AF-86E59FB5C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altLang="zh-TW" sz="2800"/>
              <a:t>Subsampling pixels will not change the object</a:t>
            </a:r>
            <a:endParaRPr lang="zh-TW" altLang="en-US" sz="2800"/>
          </a:p>
        </p:txBody>
      </p:sp>
      <p:pic>
        <p:nvPicPr>
          <p:cNvPr id="6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xmlns="" id="{4932A3F3-4054-426B-BE01-DA8290F28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5675" y="2924175"/>
            <a:ext cx="33353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xmlns="" id="{423526F7-7195-4436-A31D-9526E1A6F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72238" y="3433763"/>
            <a:ext cx="17573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向右箭號 3">
            <a:extLst>
              <a:ext uri="{FF2B5EF4-FFF2-40B4-BE49-F238E27FC236}">
                <a16:creationId xmlns:a16="http://schemas.microsoft.com/office/drawing/2014/main" xmlns="" id="{884FDD94-1375-442C-87D7-A13E72D3EDA2}"/>
              </a:ext>
            </a:extLst>
          </p:cNvPr>
          <p:cNvSpPr/>
          <p:nvPr/>
        </p:nvSpPr>
        <p:spPr>
          <a:xfrm>
            <a:off x="4397375" y="3627438"/>
            <a:ext cx="1860550" cy="803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9" name="文字方塊 5">
            <a:extLst>
              <a:ext uri="{FF2B5EF4-FFF2-40B4-BE49-F238E27FC236}">
                <a16:creationId xmlns:a16="http://schemas.microsoft.com/office/drawing/2014/main" xmlns="" id="{EC59865A-FFE4-4441-B108-1D4E8CDBD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013" y="4424363"/>
            <a:ext cx="2076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Subsampling</a:t>
            </a: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10" name="文字方塊 6">
            <a:extLst>
              <a:ext uri="{FF2B5EF4-FFF2-40B4-BE49-F238E27FC236}">
                <a16:creationId xmlns:a16="http://schemas.microsoft.com/office/drawing/2014/main" xmlns="" id="{034911B5-5722-4669-8E7E-3D83BE635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2408238"/>
            <a:ext cx="1495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/>
              <a:t>bird</a:t>
            </a:r>
            <a:endParaRPr lang="zh-TW" altLang="en-US" sz="2800"/>
          </a:p>
        </p:txBody>
      </p:sp>
      <p:sp>
        <p:nvSpPr>
          <p:cNvPr id="11" name="文字方塊 8">
            <a:extLst>
              <a:ext uri="{FF2B5EF4-FFF2-40B4-BE49-F238E27FC236}">
                <a16:creationId xmlns:a16="http://schemas.microsoft.com/office/drawing/2014/main" xmlns="" id="{DBA39FB5-4FE1-4C45-97C2-A394B1342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2900363"/>
            <a:ext cx="1493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/>
              <a:t>bird</a:t>
            </a:r>
            <a:endParaRPr lang="zh-TW" altLang="en-US" sz="2800"/>
          </a:p>
        </p:txBody>
      </p:sp>
      <p:sp>
        <p:nvSpPr>
          <p:cNvPr id="12" name="文字方塊 7">
            <a:extLst>
              <a:ext uri="{FF2B5EF4-FFF2-40B4-BE49-F238E27FC236}">
                <a16:creationId xmlns:a16="http://schemas.microsoft.com/office/drawing/2014/main" xmlns="" id="{185EFF08-7377-4EC7-9AAC-B1DB5B37A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511800"/>
            <a:ext cx="7735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TW" sz="2400" dirty="0"/>
              <a:t>We can subsample the pixels to make image smaller</a:t>
            </a:r>
            <a:endParaRPr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89A65984-D814-43A5-93FE-F9CCBCF19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6021388"/>
            <a:ext cx="721524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TW" sz="2400" dirty="0"/>
              <a:t>Fewer parameters to characterize the image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xmlns="" id="{804BAE36-0F15-4C47-B354-A9500857F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 b="1" dirty="0">
                <a:solidFill>
                  <a:srgbClr val="FF0000"/>
                </a:solidFill>
              </a:rPr>
              <a:t>Why Pooling?</a:t>
            </a:r>
            <a:endParaRPr lang="zh-TW" altLang="en-US" dirty="0"/>
          </a:p>
        </p:txBody>
      </p:sp>
      <p:sp>
        <p:nvSpPr>
          <p:cNvPr id="19459" name="內容版面配置區 2">
            <a:extLst>
              <a:ext uri="{FF2B5EF4-FFF2-40B4-BE49-F238E27FC236}">
                <a16:creationId xmlns:a16="http://schemas.microsoft.com/office/drawing/2014/main" xmlns="" id="{89D71D97-EABB-4AB8-89AF-86E59FB5C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868790"/>
          </a:xfrm>
        </p:spPr>
        <p:txBody>
          <a:bodyPr/>
          <a:lstStyle/>
          <a:p>
            <a:endParaRPr lang="zh-TW" altLang="en-US" sz="2800" dirty="0"/>
          </a:p>
        </p:txBody>
      </p:sp>
      <p:pic>
        <p:nvPicPr>
          <p:cNvPr id="6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xmlns="" id="{4932A3F3-4054-426B-BE01-DA8290F28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5675" y="2924175"/>
            <a:ext cx="33353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xmlns="" id="{423526F7-7195-4436-A31D-9526E1A6F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72238" y="3433763"/>
            <a:ext cx="17573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向右箭號 3">
            <a:extLst>
              <a:ext uri="{FF2B5EF4-FFF2-40B4-BE49-F238E27FC236}">
                <a16:creationId xmlns:a16="http://schemas.microsoft.com/office/drawing/2014/main" xmlns="" id="{884FDD94-1375-442C-87D7-A13E72D3EDA2}"/>
              </a:ext>
            </a:extLst>
          </p:cNvPr>
          <p:cNvSpPr/>
          <p:nvPr/>
        </p:nvSpPr>
        <p:spPr>
          <a:xfrm>
            <a:off x="4397375" y="3627438"/>
            <a:ext cx="1860550" cy="803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9" name="文字方塊 5">
            <a:extLst>
              <a:ext uri="{FF2B5EF4-FFF2-40B4-BE49-F238E27FC236}">
                <a16:creationId xmlns:a16="http://schemas.microsoft.com/office/drawing/2014/main" xmlns="" id="{EC59865A-FFE4-4441-B108-1D4E8CDBD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013" y="4424363"/>
            <a:ext cx="2076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Subsampling</a:t>
            </a: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10" name="文字方塊 6">
            <a:extLst>
              <a:ext uri="{FF2B5EF4-FFF2-40B4-BE49-F238E27FC236}">
                <a16:creationId xmlns:a16="http://schemas.microsoft.com/office/drawing/2014/main" xmlns="" id="{034911B5-5722-4669-8E7E-3D83BE635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2408238"/>
            <a:ext cx="1495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/>
              <a:t>bird</a:t>
            </a:r>
            <a:endParaRPr lang="zh-TW" altLang="en-US" sz="2800"/>
          </a:p>
        </p:txBody>
      </p:sp>
      <p:sp>
        <p:nvSpPr>
          <p:cNvPr id="11" name="文字方塊 8">
            <a:extLst>
              <a:ext uri="{FF2B5EF4-FFF2-40B4-BE49-F238E27FC236}">
                <a16:creationId xmlns:a16="http://schemas.microsoft.com/office/drawing/2014/main" xmlns="" id="{DBA39FB5-4FE1-4C45-97C2-A394B1342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2900363"/>
            <a:ext cx="1493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/>
              <a:t>bird</a:t>
            </a:r>
            <a:endParaRPr lang="zh-TW" altLang="en-US" sz="2800"/>
          </a:p>
        </p:txBody>
      </p:sp>
      <p:sp>
        <p:nvSpPr>
          <p:cNvPr id="12" name="文字方塊 7">
            <a:extLst>
              <a:ext uri="{FF2B5EF4-FFF2-40B4-BE49-F238E27FC236}">
                <a16:creationId xmlns:a16="http://schemas.microsoft.com/office/drawing/2014/main" xmlns="" id="{185EFF08-7377-4EC7-9AAC-B1DB5B37A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511800"/>
            <a:ext cx="773588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400" dirty="0"/>
              <a:t>Invariance to small transformations</a:t>
            </a:r>
          </a:p>
          <a:p>
            <a:pPr marL="342900" indent="-34290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Larger receptive fields (neurons see more of input)</a:t>
            </a:r>
            <a:endParaRPr lang="en-IN" sz="2400" dirty="0"/>
          </a:p>
          <a:p>
            <a:pPr>
              <a:spcBef>
                <a:spcPct val="0"/>
              </a:spcBef>
              <a:buClrTx/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60196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5EEE21-0901-42D9-BB8F-3131E2DD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467"/>
            <a:ext cx="7886700" cy="984182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Pooling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04987A-43C2-4CE0-ABF0-1B4BE866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1201784"/>
            <a:ext cx="8791302" cy="5264330"/>
          </a:xfrm>
        </p:spPr>
        <p:txBody>
          <a:bodyPr>
            <a:normAutofit/>
          </a:bodyPr>
          <a:lstStyle/>
          <a:p>
            <a:r>
              <a:rPr lang="en-US" dirty="0"/>
              <a:t>Insertion of pooling layer: </a:t>
            </a:r>
          </a:p>
          <a:p>
            <a:pPr marL="0" indent="0">
              <a:buNone/>
            </a:pPr>
            <a:r>
              <a:rPr lang="en-US" dirty="0"/>
              <a:t>   reduce the spatial size of the representation </a:t>
            </a:r>
          </a:p>
          <a:p>
            <a:pPr marL="0" indent="0">
              <a:buNone/>
            </a:pPr>
            <a:r>
              <a:rPr lang="en-US" dirty="0"/>
              <a:t>   reduce the amount of parameters and computation in the   network, and hence also control overfitting. </a:t>
            </a:r>
          </a:p>
          <a:p>
            <a:r>
              <a:rPr lang="en-US" dirty="0"/>
              <a:t>The Pooling Layer operates independently on every depth slice of the input and resizes it spatially, using the MAX operation. </a:t>
            </a:r>
          </a:p>
          <a:p>
            <a:r>
              <a:rPr lang="en-US" dirty="0"/>
              <a:t>The most common form is a pooling layer with filters of size 2x2 applied with a stride of 2 -- </a:t>
            </a:r>
            <a:r>
              <a:rPr lang="en-US" dirty="0" err="1"/>
              <a:t>downsamples</a:t>
            </a:r>
            <a:r>
              <a:rPr lang="en-US" dirty="0"/>
              <a:t> every depth slice in the input by 2 along both width and height,</a:t>
            </a:r>
          </a:p>
          <a:p>
            <a:r>
              <a:rPr lang="en-US" dirty="0"/>
              <a:t>The depth dimension remains unchanged.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0CC5D1D-BAE7-4890-A06D-3FC9D230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7332E7-1CE8-4CDD-8050-824C039E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134513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5EEE21-0901-42D9-BB8F-3131E2DD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467"/>
            <a:ext cx="7886700" cy="984182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 Pooling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04987A-43C2-4CE0-ABF0-1B4BE866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979715"/>
            <a:ext cx="8791302" cy="5741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Other pooling functions: </a:t>
            </a:r>
          </a:p>
          <a:p>
            <a:r>
              <a:rPr lang="en-IN" dirty="0"/>
              <a:t>Average pooling</a:t>
            </a:r>
          </a:p>
          <a:p>
            <a:r>
              <a:rPr lang="en-IN" dirty="0"/>
              <a:t>L2- norm pooling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0CC5D1D-BAE7-4890-A06D-3FC9D230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7332E7-1CE8-4CDD-8050-824C039E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354204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+mn-lt"/>
              </a:rPr>
              <a:t>Convolutional Neural Network (CNN)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[</a:t>
            </a:r>
            <a:r>
              <a:rPr lang="en-US" b="1" dirty="0" err="1">
                <a:solidFill>
                  <a:srgbClr val="FF0000"/>
                </a:solidFill>
              </a:rPr>
              <a:t>LeCun</a:t>
            </a:r>
            <a:r>
              <a:rPr lang="en-US" b="1" dirty="0">
                <a:solidFill>
                  <a:srgbClr val="FF0000"/>
                </a:solidFill>
              </a:rPr>
              <a:t> 1998]</a:t>
            </a:r>
          </a:p>
        </p:txBody>
      </p:sp>
      <p:pic>
        <p:nvPicPr>
          <p:cNvPr id="5" name="Picture 4" descr="Screen Shot 2017-10-02 at 9.24.0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03400"/>
            <a:ext cx="9144000" cy="324660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A728FD2-8966-4735-8435-89E3E736260A}"/>
              </a:ext>
            </a:extLst>
          </p:cNvPr>
          <p:cNvSpPr txBox="1"/>
          <p:nvPr/>
        </p:nvSpPr>
        <p:spPr>
          <a:xfrm>
            <a:off x="334108" y="4932485"/>
            <a:ext cx="8501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F3AEE0E-E60D-41D4-A28E-B9350D0ECF43}"/>
              </a:ext>
            </a:extLst>
          </p:cNvPr>
          <p:cNvSpPr txBox="1"/>
          <p:nvPr/>
        </p:nvSpPr>
        <p:spPr>
          <a:xfrm>
            <a:off x="628650" y="5687736"/>
            <a:ext cx="5663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=(25*6 +6) + (150*12+12) + (300*100+100) + (100*10+10)</a:t>
            </a:r>
          </a:p>
        </p:txBody>
      </p:sp>
    </p:spTree>
    <p:extLst>
      <p:ext uri="{BB962C8B-B14F-4D97-AF65-F5344CB8AC3E}">
        <p14:creationId xmlns:p14="http://schemas.microsoft.com/office/powerpoint/2010/main" xmlns="" val="21383203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xmlns="" id="{B7A9ADEE-9EC0-4B2F-B2A7-A49541C6E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A CNN compresses a fully connected network in two ways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C93A39-70D2-4360-B989-B0658D9CBB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458200" cy="4302125"/>
          </a:xfrm>
        </p:spPr>
        <p:txBody>
          <a:bodyPr/>
          <a:lstStyle/>
          <a:p>
            <a:r>
              <a:rPr lang="en-US" altLang="en-US" dirty="0"/>
              <a:t>Reducing number of connections</a:t>
            </a:r>
          </a:p>
          <a:p>
            <a:r>
              <a:rPr lang="en-US" altLang="en-US" dirty="0"/>
              <a:t>Shared weights on the edges</a:t>
            </a:r>
          </a:p>
          <a:p>
            <a:r>
              <a:rPr lang="en-US" altLang="en-US" dirty="0"/>
              <a:t>Max pooling further reduces the complexity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Going deep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4624994" y="4145123"/>
          <a:ext cx="1752006" cy="1138200"/>
        </p:xfrm>
        <a:graphic>
          <a:graphicData uri="http://schemas.openxmlformats.org/presentationml/2006/ole">
            <p:oleObj spid="_x0000_s4143" name="Acrobat Document" r:id="rId3" imgW="5728680" imgH="3856320" progId="">
              <p:embed/>
            </p:oleObj>
          </a:graphicData>
        </a:graphic>
      </p:graphicFrame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6681" y="5700397"/>
            <a:ext cx="966716" cy="966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076750" y="5983700"/>
            <a:ext cx="77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sz="2000" dirty="0"/>
              <a:t>pixels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698" y="4548525"/>
            <a:ext cx="794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sz="2000" dirty="0"/>
              <a:t>edges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 rot="5400000">
            <a:off x="5323885" y="5113888"/>
            <a:ext cx="232309" cy="728568"/>
          </a:xfrm>
          <a:prstGeom prst="leftArrow">
            <a:avLst>
              <a:gd name="adj1" fmla="val 50000"/>
              <a:gd name="adj2" fmla="val 43783"/>
            </a:avLst>
          </a:prstGeom>
          <a:solidFill>
            <a:srgbClr val="FF000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/>
          </a:p>
        </p:txBody>
      </p:sp>
      <p:grpSp>
        <p:nvGrpSpPr>
          <p:cNvPr id="10" name="Group 27"/>
          <p:cNvGrpSpPr/>
          <p:nvPr/>
        </p:nvGrpSpPr>
        <p:grpSpPr>
          <a:xfrm>
            <a:off x="4527732" y="2347640"/>
            <a:ext cx="2011362" cy="1379665"/>
            <a:chOff x="2313296" y="1969937"/>
            <a:chExt cx="2011362" cy="1379665"/>
          </a:xfrm>
        </p:grpSpPr>
        <p:graphicFrame>
          <p:nvGraphicFramePr>
            <p:cNvPr id="11" name="Object 91"/>
            <p:cNvGraphicFramePr>
              <a:graphicFrameLocks noChangeAspect="1"/>
            </p:cNvGraphicFramePr>
            <p:nvPr/>
          </p:nvGraphicFramePr>
          <p:xfrm>
            <a:off x="2330119" y="1990702"/>
            <a:ext cx="1962150" cy="1358900"/>
          </p:xfrm>
          <a:graphic>
            <a:graphicData uri="http://schemas.openxmlformats.org/presentationml/2006/ole">
              <p:oleObj spid="_x0000_s4144" name="Acrobat Document" r:id="rId5" imgW="5728680" imgH="3843720" progId="">
                <p:embed/>
              </p:oleObj>
            </a:graphicData>
          </a:graphic>
        </p:graphicFrame>
        <p:sp useBgFill="1"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2313296" y="1969937"/>
              <a:ext cx="2011362" cy="338554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endParaRPr lang="en-US" sz="1600" dirty="0">
                <a:latin typeface="Calibri" pitchFamily="34" charset="0"/>
              </a:endParaRPr>
            </a:p>
          </p:txBody>
        </p:sp>
      </p:grpSp>
      <p:grpSp>
        <p:nvGrpSpPr>
          <p:cNvPr id="13" name="Group 26"/>
          <p:cNvGrpSpPr/>
          <p:nvPr/>
        </p:nvGrpSpPr>
        <p:grpSpPr>
          <a:xfrm>
            <a:off x="4462332" y="655093"/>
            <a:ext cx="2040139" cy="1620060"/>
            <a:chOff x="487339" y="750628"/>
            <a:chExt cx="2040139" cy="1620060"/>
          </a:xfrm>
        </p:grpSpPr>
        <p:graphicFrame>
          <p:nvGraphicFramePr>
            <p:cNvPr id="14" name="Object 92"/>
            <p:cNvGraphicFramePr>
              <a:graphicFrameLocks noChangeAspect="1"/>
            </p:cNvGraphicFramePr>
            <p:nvPr/>
          </p:nvGraphicFramePr>
          <p:xfrm>
            <a:off x="565328" y="932413"/>
            <a:ext cx="1962150" cy="1438275"/>
          </p:xfrm>
          <a:graphic>
            <a:graphicData uri="http://schemas.openxmlformats.org/presentationml/2006/ole">
              <p:oleObj spid="_x0000_s4145" name="Acrobat Document" r:id="rId6" imgW="5728680" imgH="4071960" progId="">
                <p:embed/>
              </p:oleObj>
            </a:graphicData>
          </a:graphic>
        </p:graphicFrame>
        <p:sp useBgFill="1">
          <p:nvSpPr>
            <p:cNvPr id="15" name="TextBox 27"/>
            <p:cNvSpPr txBox="1">
              <a:spLocks noChangeArrowheads="1"/>
            </p:cNvSpPr>
            <p:nvPr/>
          </p:nvSpPr>
          <p:spPr bwMode="auto">
            <a:xfrm>
              <a:off x="487339" y="750628"/>
              <a:ext cx="2011680" cy="338554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endParaRPr lang="en-US" sz="1600" dirty="0">
                <a:latin typeface="Calibri" pitchFamily="34" charset="0"/>
              </a:endParaRPr>
            </a:p>
          </p:txBody>
        </p:sp>
      </p:grpSp>
      <p:sp>
        <p:nvSpPr>
          <p:cNvPr id="16" name="AutoShape 4"/>
          <p:cNvSpPr>
            <a:spLocks noChangeArrowheads="1"/>
          </p:cNvSpPr>
          <p:nvPr/>
        </p:nvSpPr>
        <p:spPr bwMode="auto">
          <a:xfrm rot="5400000">
            <a:off x="5361343" y="3613659"/>
            <a:ext cx="232309" cy="728568"/>
          </a:xfrm>
          <a:prstGeom prst="leftArrow">
            <a:avLst>
              <a:gd name="adj1" fmla="val 50000"/>
              <a:gd name="adj2" fmla="val 43783"/>
            </a:avLst>
          </a:prstGeom>
          <a:solidFill>
            <a:srgbClr val="FF000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/>
          </a:p>
        </p:txBody>
      </p:sp>
      <p:sp>
        <p:nvSpPr>
          <p:cNvPr id="17" name="AutoShape 4"/>
          <p:cNvSpPr>
            <a:spLocks noChangeArrowheads="1"/>
          </p:cNvSpPr>
          <p:nvPr/>
        </p:nvSpPr>
        <p:spPr bwMode="auto">
          <a:xfrm rot="5400000">
            <a:off x="5405242" y="2105307"/>
            <a:ext cx="232309" cy="728568"/>
          </a:xfrm>
          <a:prstGeom prst="leftArrow">
            <a:avLst>
              <a:gd name="adj1" fmla="val 50000"/>
              <a:gd name="adj2" fmla="val 43783"/>
            </a:avLst>
          </a:prstGeom>
          <a:solidFill>
            <a:srgbClr val="FF000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>
            <a:spAutoFit/>
          </a:bodyPr>
          <a:lstStyle/>
          <a:p>
            <a:pPr algn="l" eaLnBrk="0" hangingPunct="0">
              <a:spcBef>
                <a:spcPct val="0"/>
              </a:spcBef>
            </a:pP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35521" y="2692736"/>
            <a:ext cx="16324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sz="2000" dirty="0"/>
              <a:t>object parts</a:t>
            </a:r>
          </a:p>
          <a:p>
            <a:pPr algn="l" eaLnBrk="0" hangingPunct="0">
              <a:spcBef>
                <a:spcPct val="0"/>
              </a:spcBef>
            </a:pPr>
            <a:r>
              <a:rPr lang="en-US" sz="2000" dirty="0"/>
              <a:t>(combination </a:t>
            </a:r>
          </a:p>
          <a:p>
            <a:pPr algn="l" eaLnBrk="0" hangingPunct="0">
              <a:spcBef>
                <a:spcPct val="0"/>
              </a:spcBef>
            </a:pPr>
            <a:r>
              <a:rPr lang="en-US" sz="2000" dirty="0"/>
              <a:t>of edges)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1982" y="1404665"/>
            <a:ext cx="1659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sz="2000" dirty="0"/>
              <a:t>object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2348" y="6519446"/>
            <a:ext cx="1326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dirty="0"/>
              <a:t>[Honglak Lee]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573" y="4692139"/>
            <a:ext cx="2083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Training set: Aligned</a:t>
            </a:r>
          </a:p>
          <a:p>
            <a:pPr algn="l">
              <a:spcBef>
                <a:spcPts val="0"/>
              </a:spcBef>
            </a:pPr>
            <a:r>
              <a:rPr lang="en-US" dirty="0"/>
              <a:t>images of faces. </a:t>
            </a:r>
          </a:p>
        </p:txBody>
      </p:sp>
      <p:pic>
        <p:nvPicPr>
          <p:cNvPr id="22" name="Picture 4" descr="mvc-009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97573" y="2603014"/>
            <a:ext cx="23622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FE0F2-9A6A-4690-A070-864B5BC89AFE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345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819" y="365126"/>
            <a:ext cx="8796271" cy="1325563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  <a:latin typeface="Calibri"/>
              </a:rPr>
              <a:t>Convolutional Neural Network (CNN)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819" y="1825625"/>
            <a:ext cx="8796271" cy="4351338"/>
          </a:xfrm>
        </p:spPr>
        <p:txBody>
          <a:bodyPr/>
          <a:lstStyle/>
          <a:p>
            <a:r>
              <a:rPr lang="en-US" dirty="0"/>
              <a:t>Compared to standard feedforward neural networks with similarly-sized layers, </a:t>
            </a:r>
          </a:p>
          <a:p>
            <a:pPr marL="0" indent="0">
              <a:buNone/>
            </a:pPr>
            <a:r>
              <a:rPr lang="en-US" dirty="0"/>
              <a:t>   ▪ CNNs have much fewer connections and parameters </a:t>
            </a:r>
          </a:p>
          <a:p>
            <a:pPr marL="0" indent="0">
              <a:buNone/>
            </a:pPr>
            <a:r>
              <a:rPr lang="en-US" dirty="0"/>
              <a:t>   ▪ and so they are easier to train, </a:t>
            </a:r>
          </a:p>
          <a:p>
            <a:pPr marL="0" indent="0">
              <a:buNone/>
            </a:pPr>
            <a:r>
              <a:rPr lang="en-US" dirty="0"/>
              <a:t>   ▪ while their theoretically-best performance is likely to be   only slightly worse.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106996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 of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 many parameters = overfitting</a:t>
            </a:r>
          </a:p>
          <a:p>
            <a:r>
              <a:rPr lang="en-US" dirty="0"/>
              <a:t>Not enough parameters = underfitting</a:t>
            </a:r>
          </a:p>
          <a:p>
            <a:endParaRPr lang="en-US" dirty="0"/>
          </a:p>
          <a:p>
            <a:r>
              <a:rPr lang="en-US" dirty="0"/>
              <a:t>More data = less chance to overfit</a:t>
            </a:r>
          </a:p>
          <a:p>
            <a:endParaRPr lang="en-US" dirty="0"/>
          </a:p>
          <a:p>
            <a:r>
              <a:rPr lang="en-US" dirty="0"/>
              <a:t>How do we know what is required?</a:t>
            </a:r>
          </a:p>
        </p:txBody>
      </p:sp>
    </p:spTree>
    <p:extLst>
      <p:ext uri="{BB962C8B-B14F-4D97-AF65-F5344CB8AC3E}">
        <p14:creationId xmlns:p14="http://schemas.microsoft.com/office/powerpoint/2010/main" xmlns="" val="26656430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Attempt to guide solution to </a:t>
            </a:r>
            <a:r>
              <a:rPr lang="en-US" sz="2400" i="1" dirty="0"/>
              <a:t>not overfit</a:t>
            </a:r>
          </a:p>
          <a:p>
            <a:r>
              <a:rPr lang="en-US" sz="2400" dirty="0"/>
              <a:t>But still give freedom with many parameters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8411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fitting problem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208" y="2246710"/>
            <a:ext cx="4457700" cy="32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576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Which is better?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05100"/>
            <a:ext cx="2907005" cy="21732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166" y="2705100"/>
            <a:ext cx="3166886" cy="2247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62550" y="4953045"/>
            <a:ext cx="18478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</a:t>
            </a:r>
            <a:r>
              <a:rPr lang="en-US" sz="1350" baseline="30000" dirty="0"/>
              <a:t>st</a:t>
            </a:r>
            <a:r>
              <a:rPr lang="en-US" sz="1350" dirty="0"/>
              <a:t> order polynomial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8583" y="4964590"/>
            <a:ext cx="18478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9</a:t>
            </a:r>
            <a:r>
              <a:rPr lang="en-US" sz="1350" baseline="30000" dirty="0"/>
              <a:t>th</a:t>
            </a:r>
            <a:r>
              <a:rPr lang="en-US" sz="1350" dirty="0"/>
              <a:t> order polynomial</a:t>
            </a:r>
          </a:p>
        </p:txBody>
      </p:sp>
    </p:spTree>
    <p:extLst>
      <p:ext uri="{BB962C8B-B14F-4D97-AF65-F5344CB8AC3E}">
        <p14:creationId xmlns:p14="http://schemas.microsoft.com/office/powerpoint/2010/main" xmlns="" val="12434569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4487" y="2226469"/>
            <a:ext cx="6250782" cy="3263504"/>
          </a:xfrm>
        </p:spPr>
        <p:txBody>
          <a:bodyPr/>
          <a:lstStyle/>
          <a:p>
            <a:r>
              <a:rPr lang="en-US" dirty="0"/>
              <a:t>Attempt to guide solution to </a:t>
            </a:r>
            <a:r>
              <a:rPr lang="en-US" i="1" dirty="0"/>
              <a:t>not overfit</a:t>
            </a:r>
          </a:p>
          <a:p>
            <a:r>
              <a:rPr lang="en-US" dirty="0"/>
              <a:t>But still give freedom with many parameters</a:t>
            </a:r>
          </a:p>
          <a:p>
            <a:endParaRPr lang="en-US" dirty="0"/>
          </a:p>
          <a:p>
            <a:r>
              <a:rPr lang="en-US" dirty="0"/>
              <a:t>Idea: </a:t>
            </a:r>
            <a:br>
              <a:rPr lang="en-US" dirty="0"/>
            </a:br>
            <a:r>
              <a:rPr lang="en-US" i="1" dirty="0"/>
              <a:t>Penalize the use of parameters to prefer small weights.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699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CNN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Transfer learning</a:t>
            </a:r>
          </a:p>
          <a:p>
            <a:r>
              <a:rPr lang="en-US" dirty="0"/>
              <a:t>Fine-tuning the CNN</a:t>
            </a:r>
          </a:p>
          <a:p>
            <a:pPr lvl="1"/>
            <a:r>
              <a:rPr lang="en-US" dirty="0"/>
              <a:t>Keep some early layers</a:t>
            </a:r>
          </a:p>
          <a:p>
            <a:pPr lvl="2"/>
            <a:r>
              <a:rPr lang="en-US" dirty="0"/>
              <a:t>Early layers contain more generic features, edges, color blobs</a:t>
            </a:r>
          </a:p>
          <a:p>
            <a:pPr lvl="2"/>
            <a:r>
              <a:rPr lang="en-US" dirty="0"/>
              <a:t>Common to many visual tasks</a:t>
            </a:r>
          </a:p>
          <a:p>
            <a:pPr lvl="1"/>
            <a:r>
              <a:rPr lang="en-US" dirty="0"/>
              <a:t>Fine-tune the later layers</a:t>
            </a:r>
          </a:p>
          <a:p>
            <a:pPr lvl="2"/>
            <a:r>
              <a:rPr lang="en-US" dirty="0"/>
              <a:t>More specific to the details of the class</a:t>
            </a:r>
          </a:p>
          <a:p>
            <a:r>
              <a:rPr lang="en-US" dirty="0"/>
              <a:t>CNN as feature extractor</a:t>
            </a:r>
          </a:p>
          <a:p>
            <a:pPr lvl="1"/>
            <a:r>
              <a:rPr lang="en-US" dirty="0"/>
              <a:t>Remove the last fully connected layer</a:t>
            </a:r>
          </a:p>
          <a:p>
            <a:pPr lvl="1"/>
            <a:r>
              <a:rPr lang="en-US" dirty="0"/>
              <a:t>A kind of descriptor or CNN codes for the image</a:t>
            </a:r>
          </a:p>
          <a:p>
            <a:pPr lvl="1"/>
            <a:r>
              <a:rPr lang="en-US" dirty="0" err="1"/>
              <a:t>AlexNet</a:t>
            </a:r>
            <a:r>
              <a:rPr lang="en-US" dirty="0"/>
              <a:t> gives a 4096 Dim descriptor</a:t>
            </a:r>
          </a:p>
        </p:txBody>
      </p:sp>
    </p:spTree>
    <p:extLst>
      <p:ext uri="{BB962C8B-B14F-4D97-AF65-F5344CB8AC3E}">
        <p14:creationId xmlns:p14="http://schemas.microsoft.com/office/powerpoint/2010/main" xmlns="" val="6507238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200" dirty="0"/>
              <a:t>How to decide the number of hidden layers and nodes?</a:t>
            </a:r>
          </a:p>
          <a:p>
            <a:r>
              <a:rPr lang="en-US" sz="3200" dirty="0"/>
              <a:t>Choosing suitable deep learning architecture for a given data</a:t>
            </a:r>
          </a:p>
          <a:p>
            <a:r>
              <a:rPr lang="en-US" sz="3200" dirty="0"/>
              <a:t>Choosing suitable error and activation function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50371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Deep Learning from high volume of data</a:t>
            </a:r>
          </a:p>
          <a:p>
            <a:r>
              <a:rPr lang="en-US" dirty="0"/>
              <a:t>Deep Learning for high variety of data</a:t>
            </a:r>
          </a:p>
          <a:p>
            <a:r>
              <a:rPr lang="en-US" dirty="0"/>
              <a:t>Deep Learning with fast moving and steaming data</a:t>
            </a:r>
          </a:p>
          <a:p>
            <a:r>
              <a:rPr lang="en-US" dirty="0"/>
              <a:t>Scalability of the model</a:t>
            </a:r>
          </a:p>
          <a:p>
            <a:r>
              <a:rPr lang="en-US" dirty="0"/>
              <a:t>Distributed computing of data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08490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sv-SE" altLang="en-US" dirty="0"/>
              <a:t>Neural Networks for Pattern Recognition”, Bishop, C.M., 1996</a:t>
            </a:r>
          </a:p>
          <a:p>
            <a:r>
              <a:rPr lang="en-US" altLang="zh-TW" dirty="0">
                <a:ea typeface="PMingLiU" panose="02020500000000000000" pitchFamily="18" charset="-120"/>
              </a:rPr>
              <a:t>Deep Belief Nets, 2007 NIPS</a:t>
            </a:r>
            <a:r>
              <a:rPr lang="zh-TW" altLang="en-US" dirty="0">
                <a:ea typeface="PMingLiU" panose="02020500000000000000" pitchFamily="18" charset="-120"/>
              </a:rPr>
              <a:t> </a:t>
            </a:r>
            <a:r>
              <a:rPr lang="en-US" altLang="zh-TW" dirty="0">
                <a:ea typeface="PMingLiU" panose="02020500000000000000" pitchFamily="18" charset="-120"/>
              </a:rPr>
              <a:t>tutorial ,  G . Hinton</a:t>
            </a:r>
          </a:p>
          <a:p>
            <a:r>
              <a:rPr lang="en-US" altLang="zh-TW" dirty="0">
                <a:ea typeface="PMingLiU" panose="02020500000000000000" pitchFamily="18" charset="-120"/>
              </a:rPr>
              <a:t>Slides adapted from Andrew NG and G . Hinton</a:t>
            </a:r>
          </a:p>
          <a:p>
            <a:r>
              <a:rPr lang="en-US" altLang="zh-TW" dirty="0">
                <a:ea typeface="PMingLiU" panose="02020500000000000000" pitchFamily="18" charset="-120"/>
                <a:hlinkClick r:id="rId2"/>
              </a:rPr>
              <a:t>https://www.macs.hw.ac.uk/~dwcorne/</a:t>
            </a:r>
            <a:endParaRPr lang="en-US" altLang="zh-TW" dirty="0">
              <a:ea typeface="PMingLiU" panose="02020500000000000000" pitchFamily="18" charset="-120"/>
            </a:endParaRPr>
          </a:p>
          <a:p>
            <a:r>
              <a:rPr lang="en-IN" dirty="0">
                <a:hlinkClick r:id="rId3"/>
              </a:rPr>
              <a:t>https://cs.uwaterloo.ca/~mli/</a:t>
            </a:r>
            <a:endParaRPr lang="en-IN" dirty="0"/>
          </a:p>
          <a:p>
            <a:r>
              <a:rPr lang="en-IN" dirty="0"/>
              <a:t>cs231n.stanford.edu/slides/2017/</a:t>
            </a:r>
          </a:p>
          <a:p>
            <a:r>
              <a:rPr lang="en-US" dirty="0"/>
              <a:t>Deep learning applications and challenges in big data </a:t>
            </a:r>
            <a:r>
              <a:rPr lang="en-US" dirty="0" err="1"/>
              <a:t>analyticsMM</a:t>
            </a:r>
            <a:r>
              <a:rPr lang="en-US" dirty="0"/>
              <a:t> </a:t>
            </a:r>
            <a:r>
              <a:rPr lang="en-US" dirty="0" err="1"/>
              <a:t>Najafabadi</a:t>
            </a:r>
            <a:r>
              <a:rPr lang="en-US" dirty="0"/>
              <a:t>, F </a:t>
            </a:r>
            <a:r>
              <a:rPr lang="en-US" dirty="0" err="1"/>
              <a:t>Villanustre</a:t>
            </a:r>
            <a:r>
              <a:rPr lang="en-US" dirty="0"/>
              <a:t>, TM </a:t>
            </a:r>
            <a:r>
              <a:rPr lang="en-US" dirty="0" err="1"/>
              <a:t>Khoshgoftaar</a:t>
            </a:r>
            <a:r>
              <a:rPr lang="en-US" dirty="0"/>
              <a:t>, N </a:t>
            </a:r>
            <a:r>
              <a:rPr lang="en-US" dirty="0" err="1"/>
              <a:t>Seliya</a:t>
            </a:r>
            <a:r>
              <a:rPr lang="en-US" dirty="0"/>
              <a:t>, R Wald, Journal of Big Data 2 (1), 1, 2015</a:t>
            </a:r>
          </a:p>
          <a:p>
            <a:r>
              <a:rPr lang="en-US" dirty="0" err="1"/>
              <a:t>Xue</a:t>
            </a:r>
            <a:r>
              <a:rPr lang="en-US" dirty="0"/>
              <a:t>-Wen-Chen and </a:t>
            </a:r>
            <a:r>
              <a:rPr lang="en-US" dirty="0" err="1"/>
              <a:t>Xiaotong</a:t>
            </a:r>
            <a:r>
              <a:rPr lang="en-US" dirty="0"/>
              <a:t> Lin, “big data deep learning: challenges and perspectives”, IEEE, 2, 514-525, 2014</a:t>
            </a:r>
          </a:p>
          <a:p>
            <a:r>
              <a:rPr lang="en-US" dirty="0">
                <a:hlinkClick r:id="rId4"/>
              </a:rPr>
              <a:t>https://machinelearningmastery.com/inspirational-applications-deep-learning/</a:t>
            </a:r>
            <a:endParaRPr lang="en-US" dirty="0"/>
          </a:p>
          <a:p>
            <a:r>
              <a:rPr lang="en-US" dirty="0"/>
              <a:t>https://data-flair.training/blogs/applications-of-deep-learning-with-python/</a:t>
            </a:r>
          </a:p>
          <a:p>
            <a:endParaRPr lang="en-IN" dirty="0"/>
          </a:p>
          <a:p>
            <a:endParaRPr lang="en-US" altLang="zh-TW" dirty="0">
              <a:ea typeface="PMingLiU" panose="02020500000000000000" pitchFamily="18" charset="-12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F1884-60C3-441C-BDB9-EB1118076936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7463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349" y="2709081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n-lt"/>
              </a:rPr>
              <a:t>Thanks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488AC-24C3-4CF3-AC06-36F01FC7687B}" type="datetime1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E0516-50B9-46E1-A8D9-1B5778713E50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8262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35156</TotalTime>
  <Words>2044</Words>
  <Application>Microsoft Office PowerPoint</Application>
  <PresentationFormat>On-screen Show (4:3)</PresentationFormat>
  <Paragraphs>1055</Paragraphs>
  <Slides>59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Office Theme</vt:lpstr>
      <vt:lpstr>Equation</vt:lpstr>
      <vt:lpstr>Acrobat Document</vt:lpstr>
      <vt:lpstr>       </vt:lpstr>
      <vt:lpstr>Outline</vt:lpstr>
      <vt:lpstr>Slide 3</vt:lpstr>
      <vt:lpstr>Slide 4</vt:lpstr>
      <vt:lpstr>Slide 5</vt:lpstr>
      <vt:lpstr>Slide 6</vt:lpstr>
      <vt:lpstr>Handwritten Character Recognition </vt:lpstr>
      <vt:lpstr>Deep Architecture</vt:lpstr>
      <vt:lpstr>    Deep Learning</vt:lpstr>
      <vt:lpstr>Slide 10</vt:lpstr>
      <vt:lpstr>New way to train multi-layer NNs…</vt:lpstr>
      <vt:lpstr>New way to train multi-layer NNs…</vt:lpstr>
      <vt:lpstr>New way to train multi-layer NNs…</vt:lpstr>
      <vt:lpstr>New way to train multi-layer NNs…</vt:lpstr>
      <vt:lpstr>New way to train multi-layer NNs…</vt:lpstr>
      <vt:lpstr>New way to train multi-layer NNs…</vt:lpstr>
      <vt:lpstr>New way to train multi-layer NNs…</vt:lpstr>
      <vt:lpstr>What is Deep Learning</vt:lpstr>
      <vt:lpstr>Disadvantages of Neural Networks</vt:lpstr>
      <vt:lpstr>Building Blocks</vt:lpstr>
      <vt:lpstr>Learning by Composition? – A Face Recognition Analogy</vt:lpstr>
      <vt:lpstr>Feature detectors</vt:lpstr>
      <vt:lpstr> </vt:lpstr>
      <vt:lpstr> </vt:lpstr>
      <vt:lpstr> </vt:lpstr>
      <vt:lpstr> </vt:lpstr>
      <vt:lpstr>Slide 27</vt:lpstr>
      <vt:lpstr>Sobel Edges</vt:lpstr>
      <vt:lpstr>Convolutional Neural Network (CNN)</vt:lpstr>
      <vt:lpstr>Convolution</vt:lpstr>
      <vt:lpstr>Convolution</vt:lpstr>
      <vt:lpstr>Convolution</vt:lpstr>
      <vt:lpstr>Convolution</vt:lpstr>
      <vt:lpstr>Multiple Convolutions</vt:lpstr>
      <vt:lpstr>Convolution</vt:lpstr>
      <vt:lpstr>Slide 36</vt:lpstr>
      <vt:lpstr>Slide 37</vt:lpstr>
      <vt:lpstr>Convolutions: More detail</vt:lpstr>
      <vt:lpstr>Convolutions: More detail</vt:lpstr>
      <vt:lpstr>Convolutions: More detail</vt:lpstr>
      <vt:lpstr>Max Pooling</vt:lpstr>
      <vt:lpstr>Why Pooling?</vt:lpstr>
      <vt:lpstr>Why Pooling?</vt:lpstr>
      <vt:lpstr>Pooling Layer</vt:lpstr>
      <vt:lpstr>General Pooling Layer</vt:lpstr>
      <vt:lpstr>Convolutional Neural Network (CNN) [LeCun 1998]</vt:lpstr>
      <vt:lpstr>A CNN compresses a fully connected network in two ways</vt:lpstr>
      <vt:lpstr>Going deep</vt:lpstr>
      <vt:lpstr>Convolutional Neural Network (CNN)</vt:lpstr>
      <vt:lpstr>Problem of Fitting</vt:lpstr>
      <vt:lpstr>Regularization</vt:lpstr>
      <vt:lpstr>Data fitting problem</vt:lpstr>
      <vt:lpstr>Which is better?</vt:lpstr>
      <vt:lpstr>Regularization</vt:lpstr>
      <vt:lpstr>CNN applications</vt:lpstr>
      <vt:lpstr>Challenges</vt:lpstr>
      <vt:lpstr>Challenges</vt:lpstr>
      <vt:lpstr>References</vt:lpstr>
      <vt:lpstr>Thanks</vt:lpstr>
    </vt:vector>
  </TitlesOfParts>
  <Company>Massachusetts Institute of Technology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6.S093 Visual Recognition through Machine Learning Competition</dc:title>
  <dc:creator>Aditya Khosla</dc:creator>
  <cp:lastModifiedBy>hp</cp:lastModifiedBy>
  <cp:revision>167</cp:revision>
  <dcterms:created xsi:type="dcterms:W3CDTF">2014-01-17T13:30:42Z</dcterms:created>
  <dcterms:modified xsi:type="dcterms:W3CDTF">2026-07-07T17:16:44Z</dcterms:modified>
</cp:coreProperties>
</file>