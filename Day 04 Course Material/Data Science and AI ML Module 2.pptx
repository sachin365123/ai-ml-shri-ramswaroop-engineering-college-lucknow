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35"/>
  </p:notesMasterIdLst>
  <p:sldIdLst>
    <p:sldId id="256" r:id="rId2"/>
    <p:sldId id="429" r:id="rId3"/>
    <p:sldId id="430" r:id="rId4"/>
    <p:sldId id="464" r:id="rId5"/>
    <p:sldId id="453" r:id="rId6"/>
    <p:sldId id="454" r:id="rId7"/>
    <p:sldId id="465" r:id="rId8"/>
    <p:sldId id="456" r:id="rId9"/>
    <p:sldId id="457" r:id="rId10"/>
    <p:sldId id="458" r:id="rId11"/>
    <p:sldId id="459" r:id="rId12"/>
    <p:sldId id="460" r:id="rId13"/>
    <p:sldId id="461" r:id="rId14"/>
    <p:sldId id="462" r:id="rId15"/>
    <p:sldId id="463" r:id="rId16"/>
    <p:sldId id="466" r:id="rId17"/>
    <p:sldId id="470" r:id="rId18"/>
    <p:sldId id="471" r:id="rId19"/>
    <p:sldId id="473" r:id="rId20"/>
    <p:sldId id="469" r:id="rId21"/>
    <p:sldId id="474" r:id="rId22"/>
    <p:sldId id="475" r:id="rId23"/>
    <p:sldId id="476" r:id="rId24"/>
    <p:sldId id="477" r:id="rId25"/>
    <p:sldId id="478" r:id="rId26"/>
    <p:sldId id="482" r:id="rId27"/>
    <p:sldId id="481" r:id="rId28"/>
    <p:sldId id="479" r:id="rId29"/>
    <p:sldId id="480" r:id="rId30"/>
    <p:sldId id="485" r:id="rId31"/>
    <p:sldId id="487" r:id="rId32"/>
    <p:sldId id="488" r:id="rId33"/>
    <p:sldId id="490" r:id="rId34"/>
  </p:sldIdLst>
  <p:sldSz cx="9144000" cy="5143500" type="screen16x9"/>
  <p:notesSz cx="6858000" cy="9144000"/>
  <p:embeddedFontLst>
    <p:embeddedFont>
      <p:font typeface="Georgia" pitchFamily="18" charset="0"/>
      <p:regular r:id="rId36"/>
      <p:bold r:id="rId37"/>
      <p:italic r:id="rId38"/>
      <p:boldItalic r:id="rId39"/>
    </p:embeddedFont>
    <p:embeddedFont>
      <p:font typeface="Nunito" charset="0"/>
      <p:regular r:id="rId40"/>
      <p:bold r:id="rId41"/>
      <p:italic r:id="rId42"/>
      <p:boldItalic r:id="rId43"/>
    </p:embeddedFont>
    <p:embeddedFont>
      <p:font typeface="Calibri" pitchFamily="3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99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-475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f87997393_0_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f87997393_0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 dirty="0"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  <a:latin typeface="Georgia" panose="02040502050405020303" pitchFamily="18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Georgia" panose="02040502050405020303" pitchFamily="18" charset="0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Georgia" panose="02040502050405020303" pitchFamily="18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 dirty="0"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00">
                <a:latin typeface="Georgia" panose="02040502050405020303" pitchFamily="18" charset="0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800">
                <a:solidFill>
                  <a:schemeClr val="bg2"/>
                </a:solidFill>
                <a:latin typeface="Georgia" panose="02040502050405020303" pitchFamily="18" charset="0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lang="en-US" dirty="0"/>
          </a:p>
          <a:p>
            <a:pPr lvl="1"/>
            <a:endParaRPr dirty="0"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Georgia" panose="02040502050405020303" pitchFamily="18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>
                <a:latin typeface="Georgia" panose="02040502050405020303" pitchFamily="18" charset="0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>
                <a:latin typeface="Georgia" panose="02040502050405020303" pitchFamily="18" charset="0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Georgia" panose="02040502050405020303" pitchFamily="18" charset="0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Georgia" panose="02040502050405020303" pitchFamily="18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Georgia" panose="02040502050405020303" pitchFamily="18" charset="0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latin typeface="Georgia" panose="02040502050405020303" pitchFamily="18" charset="0"/>
              </a:defRPr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Georgia" panose="02040502050405020303" pitchFamily="18" charset="0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">
  <p:cSld name="SECTION_HEADER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26" name="Google Shape;126;p1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27" name="Google Shape;127;p1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28" name="Google Shape;128;p1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29" name="Google Shape;129;p1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0" name="Google Shape;130;p1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1" name="Google Shape;131;p1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8" name="Google Shape;138;p1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</p:grpSp>
      <p:sp>
        <p:nvSpPr>
          <p:cNvPr id="144" name="Google Shape;14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latin typeface="Georgia" panose="02040502050405020303" pitchFamily="18" charset="0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5" name="Google Shape;145;p1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Georgia" panose="02040502050405020303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6" r:id="rId6"/>
    <p:sldLayoutId id="2147483657" r:id="rId7"/>
    <p:sldLayoutId id="2147483658" r:id="rId8"/>
    <p:sldLayoutId id="2147483659" r:id="rId9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Georgia" panose="02040502050405020303" pitchFamily="18" charset="0"/>
          <a:ea typeface="Georgia" panose="02040502050405020303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000" b="0" i="0" u="none" strike="noStrike" cap="none">
          <a:solidFill>
            <a:srgbClr val="000000"/>
          </a:solidFill>
          <a:latin typeface="Georgia" panose="02040502050405020303" pitchFamily="18" charset="0"/>
          <a:ea typeface="Georgia" panose="02040502050405020303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ground.tensorflow.org/" TargetMode="External"/><Relationship Id="rId2" Type="http://schemas.openxmlformats.org/officeDocument/2006/relationships/hyperlink" Target="https://www.mladdict.com/linear-regression-simulator" TargetMode="Externa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distill.pub/2016/handwriting/" TargetMode="Externa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creators.aiva.ai/" TargetMode="Externa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 txBox="1">
            <a:spLocks noGrp="1"/>
          </p:cNvSpPr>
          <p:nvPr>
            <p:ph type="ctrTitle"/>
          </p:nvPr>
        </p:nvSpPr>
        <p:spPr>
          <a:xfrm>
            <a:off x="1858700" y="517002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dirty="0" smtClean="0">
                <a:latin typeface="Georgia" panose="02040502050405020303" pitchFamily="18" charset="0"/>
              </a:rPr>
              <a:t>Artificial Intelligence, </a:t>
            </a:r>
            <a:r>
              <a:rPr lang="en-US" dirty="0">
                <a:latin typeface="Georgia" panose="02040502050405020303" pitchFamily="18" charset="0"/>
              </a:rPr>
              <a:t>Data analytics, Data Science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GB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AI models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GB"/>
          </a:p>
        </p:txBody>
      </p:sp>
      <p:sp>
        <p:nvSpPr>
          <p:cNvPr id="7" name="Flowchart: Process 6"/>
          <p:cNvSpPr/>
          <p:nvPr/>
        </p:nvSpPr>
        <p:spPr>
          <a:xfrm>
            <a:off x="3587931" y="1481177"/>
            <a:ext cx="1541418" cy="748937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Models</a:t>
            </a:r>
            <a:endParaRPr lang="en-IN" dirty="0"/>
          </a:p>
        </p:txBody>
      </p:sp>
      <p:sp>
        <p:nvSpPr>
          <p:cNvPr id="8" name="Flowchart: Process 7"/>
          <p:cNvSpPr/>
          <p:nvPr/>
        </p:nvSpPr>
        <p:spPr>
          <a:xfrm>
            <a:off x="2046513" y="2630824"/>
            <a:ext cx="1541418" cy="748937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Rule based</a:t>
            </a:r>
            <a:endParaRPr lang="en-IN" dirty="0"/>
          </a:p>
        </p:txBody>
      </p:sp>
      <p:sp>
        <p:nvSpPr>
          <p:cNvPr id="10" name="Flowchart: Process 9"/>
          <p:cNvSpPr/>
          <p:nvPr/>
        </p:nvSpPr>
        <p:spPr>
          <a:xfrm>
            <a:off x="5129349" y="2630824"/>
            <a:ext cx="1541418" cy="748937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Learning based</a:t>
            </a:r>
            <a:endParaRPr lang="en-IN" dirty="0"/>
          </a:p>
        </p:txBody>
      </p:sp>
      <p:sp>
        <p:nvSpPr>
          <p:cNvPr id="11" name="Flowchart: Process 10"/>
          <p:cNvSpPr/>
          <p:nvPr/>
        </p:nvSpPr>
        <p:spPr>
          <a:xfrm>
            <a:off x="4053840" y="3844801"/>
            <a:ext cx="1541418" cy="748937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Machine Learning </a:t>
            </a:r>
            <a:endParaRPr lang="en-IN" dirty="0"/>
          </a:p>
        </p:txBody>
      </p:sp>
      <p:sp>
        <p:nvSpPr>
          <p:cNvPr id="12" name="Flowchart: Process 11"/>
          <p:cNvSpPr/>
          <p:nvPr/>
        </p:nvSpPr>
        <p:spPr>
          <a:xfrm>
            <a:off x="6189345" y="3844801"/>
            <a:ext cx="1541418" cy="748937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Deep Learning</a:t>
            </a:r>
            <a:endParaRPr lang="en-IN" dirty="0"/>
          </a:p>
        </p:txBody>
      </p:sp>
      <p:cxnSp>
        <p:nvCxnSpPr>
          <p:cNvPr id="14" name="Straight Arrow Connector 13"/>
          <p:cNvCxnSpPr>
            <a:stCxn id="7" idx="2"/>
            <a:endCxn id="8" idx="0"/>
          </p:cNvCxnSpPr>
          <p:nvPr/>
        </p:nvCxnSpPr>
        <p:spPr>
          <a:xfrm flipH="1">
            <a:off x="2817222" y="2230114"/>
            <a:ext cx="1541418" cy="4007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cxnSp>
      <p:cxnSp>
        <p:nvCxnSpPr>
          <p:cNvPr id="16" name="Straight Arrow Connector 15"/>
          <p:cNvCxnSpPr>
            <a:stCxn id="7" idx="2"/>
            <a:endCxn id="10" idx="0"/>
          </p:cNvCxnSpPr>
          <p:nvPr/>
        </p:nvCxnSpPr>
        <p:spPr>
          <a:xfrm>
            <a:off x="4358640" y="2230114"/>
            <a:ext cx="1541418" cy="4007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cxnSp>
      <p:cxnSp>
        <p:nvCxnSpPr>
          <p:cNvPr id="18" name="Straight Arrow Connector 17"/>
          <p:cNvCxnSpPr>
            <a:stCxn id="10" idx="2"/>
            <a:endCxn id="11" idx="0"/>
          </p:cNvCxnSpPr>
          <p:nvPr/>
        </p:nvCxnSpPr>
        <p:spPr>
          <a:xfrm flipH="1">
            <a:off x="4824549" y="3379761"/>
            <a:ext cx="1075509" cy="4650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cxnSp>
      <p:cxnSp>
        <p:nvCxnSpPr>
          <p:cNvPr id="20" name="Straight Arrow Connector 19"/>
          <p:cNvCxnSpPr>
            <a:endCxn id="12" idx="0"/>
          </p:cNvCxnSpPr>
          <p:nvPr/>
        </p:nvCxnSpPr>
        <p:spPr>
          <a:xfrm>
            <a:off x="5900058" y="3379761"/>
            <a:ext cx="1059996" cy="4650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cxnSp>
    </p:spTree>
    <p:extLst>
      <p:ext uri="{BB962C8B-B14F-4D97-AF65-F5344CB8AC3E}">
        <p14:creationId xmlns="" xmlns:p14="http://schemas.microsoft.com/office/powerpoint/2010/main" val="3402184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Rule based model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988" y="1333613"/>
            <a:ext cx="4107316" cy="36036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4389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Learning based model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3604395" cy="286686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For example, suppose you have a dataset of 1000 images of random stray dogs of your area.</a:t>
            </a:r>
          </a:p>
          <a:p>
            <a:r>
              <a:rPr lang="en-US" dirty="0"/>
              <a:t>Thus, you would put this into a learning approach based AI machine. </a:t>
            </a:r>
          </a:p>
          <a:p>
            <a:r>
              <a:rPr lang="en-US" dirty="0"/>
              <a:t>It might cluster the data on the basis of </a:t>
            </a:r>
            <a:r>
              <a:rPr lang="en-US" dirty="0" err="1"/>
              <a:t>colour</a:t>
            </a:r>
            <a:r>
              <a:rPr lang="en-US" dirty="0"/>
              <a:t>, size, fur style, etc. </a:t>
            </a:r>
            <a:br>
              <a:rPr lang="en-US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545" y="912535"/>
            <a:ext cx="4320000" cy="37667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265372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Decision tree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r>
              <a:rPr lang="en-US" dirty="0"/>
              <a:t>Decision tree builds classification or regression models in the form of a tree structure. </a:t>
            </a:r>
          </a:p>
          <a:p>
            <a:r>
              <a:rPr lang="en-US" dirty="0"/>
              <a:t>It breaks down a dataset into smaller and smaller subsets while at the same time an associated decision tree is incrementally developed. </a:t>
            </a:r>
          </a:p>
          <a:p>
            <a:r>
              <a:rPr lang="en-US" dirty="0"/>
              <a:t>The final result is a tree with </a:t>
            </a:r>
            <a:r>
              <a:rPr lang="en-US" b="1" dirty="0"/>
              <a:t>decision nodes</a:t>
            </a:r>
            <a:r>
              <a:rPr lang="en-US" dirty="0"/>
              <a:t> and </a:t>
            </a:r>
            <a:r>
              <a:rPr lang="en-US" b="1" dirty="0"/>
              <a:t>leaf nodes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558753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GB"/>
          </a:p>
        </p:txBody>
      </p:sp>
      <p:pic>
        <p:nvPicPr>
          <p:cNvPr id="6146" name="Picture 2" descr="https://www.saedsayad.com/images/Decision_Tree_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501" y="1302565"/>
            <a:ext cx="8358875" cy="313615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965545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learnings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GB"/>
          </a:p>
        </p:txBody>
      </p:sp>
      <p:sp>
        <p:nvSpPr>
          <p:cNvPr id="10" name="Flowchart: Process 9"/>
          <p:cNvSpPr/>
          <p:nvPr/>
        </p:nvSpPr>
        <p:spPr>
          <a:xfrm>
            <a:off x="3688080" y="1691880"/>
            <a:ext cx="1541418" cy="748937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Learning based</a:t>
            </a:r>
            <a:endParaRPr lang="en-IN" dirty="0"/>
          </a:p>
        </p:txBody>
      </p:sp>
      <p:sp>
        <p:nvSpPr>
          <p:cNvPr id="11" name="Flowchart: Process 10"/>
          <p:cNvSpPr/>
          <p:nvPr/>
        </p:nvSpPr>
        <p:spPr>
          <a:xfrm>
            <a:off x="3688080" y="3479041"/>
            <a:ext cx="1541418" cy="748937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Unsupervised Learning </a:t>
            </a:r>
            <a:endParaRPr lang="en-IN" dirty="0"/>
          </a:p>
        </p:txBody>
      </p:sp>
      <p:sp>
        <p:nvSpPr>
          <p:cNvPr id="12" name="Flowchart: Process 11"/>
          <p:cNvSpPr/>
          <p:nvPr/>
        </p:nvSpPr>
        <p:spPr>
          <a:xfrm>
            <a:off x="5823585" y="3479041"/>
            <a:ext cx="1541418" cy="748937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Reinforcement Learning </a:t>
            </a:r>
            <a:endParaRPr lang="en-IN" dirty="0"/>
          </a:p>
        </p:txBody>
      </p:sp>
      <p:cxnSp>
        <p:nvCxnSpPr>
          <p:cNvPr id="18" name="Straight Arrow Connector 17"/>
          <p:cNvCxnSpPr>
            <a:stCxn id="10" idx="2"/>
            <a:endCxn id="11" idx="0"/>
          </p:cNvCxnSpPr>
          <p:nvPr/>
        </p:nvCxnSpPr>
        <p:spPr>
          <a:xfrm>
            <a:off x="4458789" y="2440817"/>
            <a:ext cx="0" cy="10382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cxnSp>
      <p:cxnSp>
        <p:nvCxnSpPr>
          <p:cNvPr id="20" name="Straight Arrow Connector 19"/>
          <p:cNvCxnSpPr>
            <a:endCxn id="12" idx="0"/>
          </p:cNvCxnSpPr>
          <p:nvPr/>
        </p:nvCxnSpPr>
        <p:spPr>
          <a:xfrm>
            <a:off x="4454436" y="2440817"/>
            <a:ext cx="2139858" cy="10382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cxnSp>
      <p:sp>
        <p:nvSpPr>
          <p:cNvPr id="17" name="Flowchart: Process 16"/>
          <p:cNvSpPr/>
          <p:nvPr/>
        </p:nvSpPr>
        <p:spPr>
          <a:xfrm>
            <a:off x="1608908" y="3479041"/>
            <a:ext cx="1541418" cy="748937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Supervised Learning </a:t>
            </a:r>
            <a:endParaRPr lang="en-IN" dirty="0"/>
          </a:p>
        </p:txBody>
      </p:sp>
      <p:cxnSp>
        <p:nvCxnSpPr>
          <p:cNvPr id="19" name="Straight Arrow Connector 18"/>
          <p:cNvCxnSpPr>
            <a:stCxn id="10" idx="2"/>
            <a:endCxn id="17" idx="0"/>
          </p:cNvCxnSpPr>
          <p:nvPr/>
        </p:nvCxnSpPr>
        <p:spPr>
          <a:xfrm flipH="1">
            <a:off x="2379617" y="2440817"/>
            <a:ext cx="2079172" cy="10382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cxnSp>
    </p:spTree>
    <p:extLst>
      <p:ext uri="{BB962C8B-B14F-4D97-AF65-F5344CB8AC3E}">
        <p14:creationId xmlns="" xmlns:p14="http://schemas.microsoft.com/office/powerpoint/2010/main" val="414310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Supervised Learning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 a supervised learning model, the dataset which is fed to the machine is labelled. </a:t>
            </a:r>
          </a:p>
          <a:p>
            <a:r>
              <a:rPr lang="en-US" dirty="0"/>
              <a:t>A label is some information which can be used as a tag for data. </a:t>
            </a:r>
          </a:p>
          <a:p>
            <a:r>
              <a:rPr lang="en-US" dirty="0"/>
              <a:t>For example, students get grades according to the marks they secure in examinations. </a:t>
            </a:r>
          </a:p>
          <a:p>
            <a:r>
              <a:rPr lang="en-US" dirty="0"/>
              <a:t>These grades are labels which </a:t>
            </a:r>
            <a:r>
              <a:rPr lang="en-US" dirty="0" err="1"/>
              <a:t>categorise</a:t>
            </a:r>
            <a:r>
              <a:rPr lang="en-US" dirty="0"/>
              <a:t> the students</a:t>
            </a:r>
            <a:br>
              <a:rPr lang="en-US" dirty="0"/>
            </a:br>
            <a:r>
              <a:rPr lang="en-US" dirty="0"/>
              <a:t>according to their marks.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Classification </a:t>
            </a:r>
          </a:p>
          <a:p>
            <a:r>
              <a:rPr lang="en-US" dirty="0"/>
              <a:t>Regression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410644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Classification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4066359" cy="2866864"/>
          </a:xfrm>
        </p:spPr>
        <p:txBody>
          <a:bodyPr>
            <a:normAutofit/>
          </a:bodyPr>
          <a:lstStyle/>
          <a:p>
            <a:r>
              <a:rPr lang="en-US" dirty="0"/>
              <a:t>Where the data is classified according to the labels. </a:t>
            </a:r>
          </a:p>
          <a:p>
            <a:r>
              <a:rPr lang="en-US" dirty="0"/>
              <a:t>The entries are divided in two classes normally.</a:t>
            </a:r>
          </a:p>
          <a:p>
            <a:r>
              <a:rPr lang="en-US" dirty="0"/>
              <a:t>The boundary condition is defined to classify.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GB"/>
          </a:p>
        </p:txBody>
      </p:sp>
      <p:pic>
        <p:nvPicPr>
          <p:cNvPr id="7170" name="Picture 2" descr="Classification - H2o.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525" y="1422064"/>
            <a:ext cx="3587424" cy="271852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077203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Regression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4196987" cy="286686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Regression deals with continuous data. </a:t>
            </a:r>
          </a:p>
          <a:p>
            <a:r>
              <a:rPr lang="en-US" dirty="0"/>
              <a:t>For example, if we know the growth rate, we can predict the salary of someone after a certain number of years. </a:t>
            </a:r>
          </a:p>
          <a:p>
            <a:r>
              <a:rPr lang="en-US" dirty="0"/>
              <a:t>Regression is linear as well as non-linear.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GB"/>
          </a:p>
        </p:txBody>
      </p:sp>
      <p:pic>
        <p:nvPicPr>
          <p:cNvPr id="8196" name="Picture 4" descr="Linear Regression VS Logistic Regression in Machine Learning | Laptrinh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015" y="1645919"/>
            <a:ext cx="3074941" cy="245995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163949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Unsupervised Learning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An unsupervised learning model works on </a:t>
            </a:r>
            <a:r>
              <a:rPr lang="en-US" dirty="0" err="1"/>
              <a:t>unlabelled</a:t>
            </a:r>
            <a:r>
              <a:rPr lang="en-US" dirty="0"/>
              <a:t> dataset. </a:t>
            </a:r>
          </a:p>
          <a:p>
            <a:r>
              <a:rPr lang="en-US" dirty="0"/>
              <a:t>This means that the data which is fed to the machine is random and there is a possibility that the person who is training the model does not have any information regarding it. </a:t>
            </a:r>
          </a:p>
          <a:p>
            <a:r>
              <a:rPr lang="en-US" dirty="0"/>
              <a:t>The unsupervised learning models are used to identify relationships, patterns and trends out of the data which is fed into it. </a:t>
            </a:r>
          </a:p>
          <a:p>
            <a:r>
              <a:rPr lang="en-US" dirty="0"/>
              <a:t>It helps the user in understanding what the data is about and what are the major features identified by the machine in it.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394946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GB"/>
          </a:p>
        </p:txBody>
      </p:sp>
      <p:pic>
        <p:nvPicPr>
          <p:cNvPr id="9218" name="Picture 2" descr="Why Unsupervised Machine Learning is the Future of Cybersecurity –  TechNativ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52" y="756113"/>
            <a:ext cx="7307671" cy="418115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023719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Clustering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1" y="1571861"/>
            <a:ext cx="4083776" cy="326139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Refers to the unsupervised learning algorithm which can cluster the unknown data according to the patterns or trends identified out of it. </a:t>
            </a:r>
          </a:p>
          <a:p>
            <a:endParaRPr lang="en-US" dirty="0"/>
          </a:p>
          <a:p>
            <a:r>
              <a:rPr lang="en-US" dirty="0"/>
              <a:t>The patterns observed might be the ones which are known to the developer or it might even come up with some unique patterns out of it.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GB"/>
          </a:p>
        </p:txBody>
      </p:sp>
      <p:pic>
        <p:nvPicPr>
          <p:cNvPr id="10242" name="Picture 2" descr="Clustering Into an Unknown Number of Clusters | Baeldung on Computer Scie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138" y="1422064"/>
            <a:ext cx="3700946" cy="29383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403435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Dimensionality reduction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0"/>
            <a:ext cx="3718016" cy="336540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We humans are able to </a:t>
            </a:r>
            <a:r>
              <a:rPr lang="en-US" dirty="0" err="1"/>
              <a:t>visualise</a:t>
            </a:r>
            <a:r>
              <a:rPr lang="en-US" dirty="0"/>
              <a:t> </a:t>
            </a:r>
            <a:r>
              <a:rPr lang="en-US" dirty="0" err="1"/>
              <a:t>upto</a:t>
            </a:r>
            <a:r>
              <a:rPr lang="en-US" dirty="0"/>
              <a:t> 3-Dimensions only. </a:t>
            </a:r>
          </a:p>
          <a:p>
            <a:r>
              <a:rPr lang="en-US" dirty="0"/>
              <a:t>If we have a ball in our hand, it is 3-Dimensions right now. </a:t>
            </a:r>
          </a:p>
          <a:p>
            <a:r>
              <a:rPr lang="en-US" dirty="0"/>
              <a:t>But if we click its picture, the data transforms to 2-D.</a:t>
            </a:r>
          </a:p>
          <a:p>
            <a:endParaRPr lang="en-US" dirty="0"/>
          </a:p>
          <a:p>
            <a:r>
              <a:rPr lang="en-US" dirty="0"/>
              <a:t>Hence, to reduce the dimensions and still be able to make sense out of the data, we use Dimensionality Reduction. </a:t>
            </a:r>
            <a:br>
              <a:rPr lang="en-US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GB"/>
          </a:p>
        </p:txBody>
      </p:sp>
      <p:pic>
        <p:nvPicPr>
          <p:cNvPr id="11266" name="Picture 2" descr="Introduction to Dimensionality Reduction - GeeksforGee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734" y="1481177"/>
            <a:ext cx="3600000" cy="267504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558380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Reinforcement Learning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3718016" cy="286686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Reinforcement Learning is defined as a Machine Learning method that is concerned with how software agents should take actions in an environment. </a:t>
            </a:r>
          </a:p>
          <a:p>
            <a:r>
              <a:rPr lang="en-US" dirty="0"/>
              <a:t>Reinforcement Learning is a part of the deep learning method that helps you to maximize some portion of the cumulative reward.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GB"/>
          </a:p>
        </p:txBody>
      </p:sp>
      <p:pic>
        <p:nvPicPr>
          <p:cNvPr id="12290" name="Picture 2" descr="https://www.guru99.com/images/1/082319_0514_Reinforceme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956" y="1835332"/>
            <a:ext cx="3600000" cy="208226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689403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r>
              <a:rPr lang="en-US" dirty="0"/>
              <a:t>We’ll discuss these in details in the last unit.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8" y="2314166"/>
            <a:ext cx="7200000" cy="9437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33248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Game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r>
              <a:rPr lang="en-US" dirty="0"/>
              <a:t>Let us continue the Teachable Machine game now. </a:t>
            </a:r>
          </a:p>
          <a:p>
            <a:r>
              <a:rPr lang="en-US" dirty="0"/>
              <a:t>We will train our model on visual data </a:t>
            </a:r>
          </a:p>
          <a:p>
            <a:r>
              <a:rPr lang="en-US" dirty="0"/>
              <a:t>Then, we will test it using live webcam data.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761896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 – B </a:t>
            </a:r>
            <a:br>
              <a:rPr lang="en-US" dirty="0"/>
            </a:br>
            <a:r>
              <a:rPr lang="en-US" dirty="0"/>
              <a:t>Subject Specific Skills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Unit 3 - Neural Networks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775483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544893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Networks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819150" y="1496291"/>
            <a:ext cx="3686100" cy="2942434"/>
          </a:xfrm>
        </p:spPr>
        <p:txBody>
          <a:bodyPr/>
          <a:lstStyle/>
          <a:p>
            <a:r>
              <a:rPr lang="en-US" dirty="0"/>
              <a:t>Class IX</a:t>
            </a:r>
          </a:p>
          <a:p>
            <a:endParaRPr lang="en-US" dirty="0"/>
          </a:p>
          <a:p>
            <a:r>
              <a:rPr lang="en-US" dirty="0"/>
              <a:t>Human Neurons </a:t>
            </a:r>
          </a:p>
          <a:p>
            <a:r>
              <a:rPr lang="en-US" dirty="0"/>
              <a:t>NN basics </a:t>
            </a:r>
          </a:p>
          <a:p>
            <a:r>
              <a:rPr lang="en-US" dirty="0"/>
              <a:t>Perceptron </a:t>
            </a:r>
          </a:p>
          <a:p>
            <a:r>
              <a:rPr lang="en-US" dirty="0"/>
              <a:t>Lab activity </a:t>
            </a:r>
            <a:endParaRPr lang="en-IN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2"/>
          </p:nvPr>
        </p:nvSpPr>
        <p:spPr>
          <a:xfrm>
            <a:off x="4638675" y="1496292"/>
            <a:ext cx="3686100" cy="2942434"/>
          </a:xfrm>
        </p:spPr>
        <p:txBody>
          <a:bodyPr/>
          <a:lstStyle/>
          <a:p>
            <a:r>
              <a:rPr lang="en-US" dirty="0"/>
              <a:t>Class X</a:t>
            </a:r>
          </a:p>
          <a:p>
            <a:endParaRPr lang="en-US" dirty="0"/>
          </a:p>
          <a:p>
            <a:r>
              <a:rPr lang="en-US" dirty="0"/>
              <a:t>NN revision </a:t>
            </a:r>
          </a:p>
          <a:p>
            <a:r>
              <a:rPr lang="en-US" dirty="0"/>
              <a:t>Feedforward and bias in NN </a:t>
            </a:r>
          </a:p>
          <a:p>
            <a:r>
              <a:rPr lang="en-US" dirty="0"/>
              <a:t>Back propagation </a:t>
            </a:r>
          </a:p>
          <a:p>
            <a:r>
              <a:rPr lang="en-US" dirty="0"/>
              <a:t>Performance of NN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488849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Human Neurons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3601710" cy="286686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majority of the input signal to a neuron is received via the dendrites. </a:t>
            </a:r>
          </a:p>
          <a:p>
            <a:r>
              <a:rPr lang="en-US" dirty="0"/>
              <a:t>There are about 1,000 to 10,000 connections that are formed by other neurons to these dendrites. </a:t>
            </a:r>
          </a:p>
          <a:p>
            <a:r>
              <a:rPr lang="en-US" dirty="0"/>
              <a:t>The signal from the connections, called synapses, propagate through the dendrite into the cell body.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lang="en-GB"/>
          </a:p>
        </p:txBody>
      </p:sp>
      <p:pic>
        <p:nvPicPr>
          <p:cNvPr id="1026" name="Picture 2" descr="https://miro.medium.com/max/3840/1*9B8ppwbZ4gJvsQj9dxrLb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523" y="1422064"/>
            <a:ext cx="4320000" cy="2322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858030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A single neuron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single neuron is the building block of artificial neural networks. </a:t>
            </a:r>
          </a:p>
          <a:p>
            <a:r>
              <a:rPr lang="en-US" dirty="0"/>
              <a:t>It is a simplified model of the biological neurons in our brain.</a:t>
            </a:r>
          </a:p>
          <a:p>
            <a:r>
              <a:rPr lang="en-US" dirty="0"/>
              <a:t>A perceptron is the simplest neural network, one that is comprised of just one neuron. </a:t>
            </a:r>
          </a:p>
          <a:p>
            <a:r>
              <a:rPr lang="en-US" dirty="0"/>
              <a:t>The perceptron algorithm was invented in 1958 by Frank Rosenblatt.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400035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Perceptron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705174" cy="2062758"/>
          </a:xfrm>
        </p:spPr>
        <p:txBody>
          <a:bodyPr>
            <a:normAutofit/>
          </a:bodyPr>
          <a:lstStyle/>
          <a:p>
            <a:r>
              <a:rPr lang="en-US" dirty="0"/>
              <a:t>Assume we have a single </a:t>
            </a:r>
            <a:r>
              <a:rPr lang="en-US" b="1" dirty="0"/>
              <a:t>neuron </a:t>
            </a:r>
            <a:r>
              <a:rPr lang="en-US" dirty="0"/>
              <a:t>and three inputs </a:t>
            </a:r>
            <a:r>
              <a:rPr lang="en-US" b="1" i="1" dirty="0"/>
              <a:t>x1, x2</a:t>
            </a:r>
            <a:r>
              <a:rPr lang="en-US" dirty="0"/>
              <a:t>, </a:t>
            </a:r>
            <a:r>
              <a:rPr lang="en-US" b="1" dirty="0"/>
              <a:t>x3 </a:t>
            </a:r>
            <a:r>
              <a:rPr lang="en-US" dirty="0"/>
              <a:t>multiplied by the weights</a:t>
            </a:r>
            <a:r>
              <a:rPr lang="en-US" b="1" dirty="0"/>
              <a:t> w1, w2, w3 respectively </a:t>
            </a:r>
            <a:r>
              <a:rPr lang="en-US" dirty="0"/>
              <a:t>as shown below,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lang="en-GB"/>
          </a:p>
        </p:txBody>
      </p:sp>
      <p:pic>
        <p:nvPicPr>
          <p:cNvPr id="2056" name="Picture 8" descr="https://miro.medium.com/max/1114/1*fd0HBTmH4ZVQllH3gW94h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825" y="2357657"/>
            <a:ext cx="3244850" cy="178262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https://miro.medium.com/max/1237/1*dRV-BwTtg_GNJiMoDwcmy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766" y="4338208"/>
            <a:ext cx="4320000" cy="56226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167388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Activation Function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This function is called the weighted sum because it is the sum of the weights and inputs. </a:t>
            </a:r>
          </a:p>
          <a:p>
            <a:r>
              <a:rPr lang="en-US" dirty="0"/>
              <a:t>This looks like a good function, but what if we wanted the outputs to fall into a certain range say 0 to 1.</a:t>
            </a:r>
          </a:p>
          <a:p>
            <a:r>
              <a:rPr lang="en-US" dirty="0"/>
              <a:t>We can do this by using something known as an activation function. </a:t>
            </a:r>
          </a:p>
          <a:p>
            <a:r>
              <a:rPr lang="en-US" dirty="0"/>
              <a:t>An activation function is a function that converts the input given (the input, in this case, would be the weighted sum) into a certain output based on a set of rules.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169132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Activation Function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3800284" cy="286686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Hyperbolic Tangent: used to output a number from -1 to 1.</a:t>
            </a:r>
          </a:p>
          <a:p>
            <a:endParaRPr lang="en-US" dirty="0"/>
          </a:p>
          <a:p>
            <a:r>
              <a:rPr lang="en-US" dirty="0"/>
              <a:t>Logistic Function: used to output a number from 0 to 1.</a:t>
            </a:r>
          </a:p>
          <a:p>
            <a:endParaRPr lang="en-US" dirty="0"/>
          </a:p>
          <a:p>
            <a:r>
              <a:rPr lang="en-US" dirty="0"/>
              <a:t>Tanh</a:t>
            </a:r>
          </a:p>
          <a:p>
            <a:endParaRPr lang="en-US" dirty="0"/>
          </a:p>
          <a:p>
            <a:r>
              <a:rPr lang="en-US" dirty="0"/>
              <a:t>ReLU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 lang="en-GB"/>
          </a:p>
        </p:txBody>
      </p:sp>
      <p:pic>
        <p:nvPicPr>
          <p:cNvPr id="3074" name="Picture 2" descr="https://miro.medium.com/max/1177/1*c-y7rv02DLXhAh7UXXK08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434" y="1038485"/>
            <a:ext cx="4320000" cy="350518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miro.medium.com/max/1087/1*sA1AswVFReH7M6zAoBGFz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0" y="4102901"/>
            <a:ext cx="4320000" cy="67164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160119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Network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>
            <a:normAutofit/>
          </a:bodyPr>
          <a:lstStyle/>
          <a:p>
            <a:r>
              <a:rPr lang="en-US" dirty="0"/>
              <a:t>Neural network is the network on multiple </a:t>
            </a:r>
            <a:r>
              <a:rPr lang="en-US" dirty="0" err="1"/>
              <a:t>perceptrons</a:t>
            </a:r>
            <a:r>
              <a:rPr lang="en-US" dirty="0"/>
              <a:t> in multiple layers. </a:t>
            </a:r>
          </a:p>
          <a:p>
            <a:r>
              <a:rPr lang="en-US" dirty="0"/>
              <a:t>Artificial neural networks (ANNs) are comprised of a node layers, containing an input layer, one or more hidden layers, and an output layer. </a:t>
            </a:r>
          </a:p>
          <a:p>
            <a:r>
              <a:rPr lang="en-US" dirty="0"/>
              <a:t>Each node, or artificial neuron, connects to another and has an associated weight and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100603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Feedforward Neural Network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r>
              <a:rPr lang="en-US" dirty="0"/>
              <a:t>Signals are propagated only in the forward direction.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 lang="en-GB"/>
          </a:p>
        </p:txBody>
      </p:sp>
      <p:pic>
        <p:nvPicPr>
          <p:cNvPr id="7" name="Picture 2" descr="Neural Networks Are A Set Of Algorithms, Which Is Based - Neural Network  Transparent PNG - 3624x2334 - Free Download on Nice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750" y="2057640"/>
            <a:ext cx="4680000" cy="282512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590786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Back propagation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r>
              <a:rPr lang="en-US" dirty="0"/>
              <a:t>Error is calculated at the output. </a:t>
            </a:r>
          </a:p>
          <a:p>
            <a:r>
              <a:rPr lang="en-US" dirty="0"/>
              <a:t>The error is propagated back to the input and weights are changed.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 lang="en-GB"/>
          </a:p>
        </p:txBody>
      </p:sp>
      <p:pic>
        <p:nvPicPr>
          <p:cNvPr id="5122" name="Picture 2" descr="Back Propagation Neural Network: Explained With Simple Examp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675" y="2489958"/>
            <a:ext cx="4320000" cy="225051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838031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Simulators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r>
              <a:rPr lang="en-IN" dirty="0">
                <a:hlinkClick r:id="rId2"/>
              </a:rPr>
              <a:t>https://www.mladdict.com/linear-regression-simulator</a:t>
            </a:r>
            <a:r>
              <a:rPr lang="en-IN" dirty="0"/>
              <a:t> </a:t>
            </a:r>
          </a:p>
          <a:p>
            <a:r>
              <a:rPr lang="en-IN" dirty="0">
                <a:hlinkClick r:id="rId3"/>
              </a:rPr>
              <a:t>https://playground.tensorflow.org/</a:t>
            </a:r>
            <a:r>
              <a:rPr lang="en-IN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084405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Lab activity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r>
              <a:rPr lang="en-US" dirty="0"/>
              <a:t>Ask 20 students to make a neural network and let them pass some chits to understand how NN works.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2876625"/>
            <a:ext cx="6334125" cy="15621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678599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Rules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0"/>
            <a:ext cx="7505700" cy="336540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No one is allowed to talk or discuss till the game ends. </a:t>
            </a:r>
          </a:p>
          <a:p>
            <a:r>
              <a:rPr lang="en-US" dirty="0"/>
              <a:t>Each layer should sit distant to each other.</a:t>
            </a:r>
          </a:p>
          <a:p>
            <a:r>
              <a:rPr lang="en-US" dirty="0"/>
              <a:t>The image should only be shown to the Input layer and no one else.</a:t>
            </a:r>
          </a:p>
          <a:p>
            <a:r>
              <a:rPr lang="en-US" dirty="0"/>
              <a:t>One needs to process the data as fast as possible, hence not take much time can be</a:t>
            </a:r>
            <a:br>
              <a:rPr lang="en-US" dirty="0"/>
            </a:br>
            <a:r>
              <a:rPr lang="en-US" dirty="0"/>
              <a:t>taken to write and pass on the chits.</a:t>
            </a:r>
          </a:p>
          <a:p>
            <a:r>
              <a:rPr lang="en-US" dirty="0"/>
              <a:t>Input layer nodes cannot discuss the image shown with each other. Everyone has to</a:t>
            </a:r>
            <a:br>
              <a:rPr lang="en-US" dirty="0"/>
            </a:br>
            <a:r>
              <a:rPr lang="en-US" dirty="0"/>
              <a:t>use their own discretion.</a:t>
            </a:r>
          </a:p>
          <a:p>
            <a:r>
              <a:rPr lang="en-US" dirty="0"/>
              <a:t>Only one word per chit is allowed.</a:t>
            </a:r>
          </a:p>
          <a:p>
            <a:r>
              <a:rPr lang="en-US" dirty="0"/>
              <a:t>Once the task of a layer is finished, that layer needs to go and sit aside and not disturb others till the game ends.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5029709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Game 2 Handwriting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r>
              <a:rPr lang="en-IN" dirty="0">
                <a:hlinkClick r:id="rId2"/>
              </a:rPr>
              <a:t>https://distill.pub/2016/handwriting/</a:t>
            </a:r>
            <a:r>
              <a:rPr lang="en-IN" dirty="0"/>
              <a:t> </a:t>
            </a:r>
          </a:p>
          <a:p>
            <a:r>
              <a:rPr lang="en-US" dirty="0"/>
              <a:t>Try to write something and NN will give suggestions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6466449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 your own music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r>
              <a:rPr lang="en-IN" dirty="0">
                <a:hlinkClick r:id="rId2"/>
              </a:rPr>
              <a:t>https://creators.aiva.ai/</a:t>
            </a:r>
            <a:r>
              <a:rPr lang="en-IN" dirty="0"/>
              <a:t>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935" y="2176298"/>
            <a:ext cx="5400000" cy="23673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9974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33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44272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1984</TotalTime>
  <Words>919</Words>
  <Application>Microsoft Office PowerPoint</Application>
  <PresentationFormat>On-screen Show (16:9)</PresentationFormat>
  <Paragraphs>159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Georgia</vt:lpstr>
      <vt:lpstr>Nunito</vt:lpstr>
      <vt:lpstr>Calibri</vt:lpstr>
      <vt:lpstr>Shift</vt:lpstr>
      <vt:lpstr>Artificial Intelligence, Data analytics, Data Science</vt:lpstr>
      <vt:lpstr>Types of AI models </vt:lpstr>
      <vt:lpstr>Rule based model</vt:lpstr>
      <vt:lpstr>Learning based model</vt:lpstr>
      <vt:lpstr>Decision tree</vt:lpstr>
      <vt:lpstr>Example </vt:lpstr>
      <vt:lpstr>Types of learnings</vt:lpstr>
      <vt:lpstr>Supervised Learning </vt:lpstr>
      <vt:lpstr>Classification</vt:lpstr>
      <vt:lpstr>Regression </vt:lpstr>
      <vt:lpstr>Unsupervised Learning </vt:lpstr>
      <vt:lpstr>Slide 12</vt:lpstr>
      <vt:lpstr>Clustering </vt:lpstr>
      <vt:lpstr>Dimensionality reduction</vt:lpstr>
      <vt:lpstr>Reinforcement Learning </vt:lpstr>
      <vt:lpstr>Evaluation </vt:lpstr>
      <vt:lpstr>Game </vt:lpstr>
      <vt:lpstr>Part – B  Subject Specific Skills  Unit 3 - Neural Networks</vt:lpstr>
      <vt:lpstr>Neural Networks</vt:lpstr>
      <vt:lpstr>Human Neurons </vt:lpstr>
      <vt:lpstr>A single neuron</vt:lpstr>
      <vt:lpstr>Perceptron</vt:lpstr>
      <vt:lpstr>Activation Function</vt:lpstr>
      <vt:lpstr>Activation Function</vt:lpstr>
      <vt:lpstr>Neural Network </vt:lpstr>
      <vt:lpstr>Feedforward Neural Network</vt:lpstr>
      <vt:lpstr>Back propagation</vt:lpstr>
      <vt:lpstr>Simulators </vt:lpstr>
      <vt:lpstr>Lab activity </vt:lpstr>
      <vt:lpstr>Rules </vt:lpstr>
      <vt:lpstr>Game 2 Handwriting </vt:lpstr>
      <vt:lpstr>Create your own music </vt:lpstr>
      <vt:lpstr>Slide 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  For CBSE Teachers</dc:title>
  <dc:creator>Sandeep Saini</dc:creator>
  <cp:lastModifiedBy>hp</cp:lastModifiedBy>
  <cp:revision>111</cp:revision>
  <dcterms:modified xsi:type="dcterms:W3CDTF">2026-07-05T12:50:20Z</dcterms:modified>
</cp:coreProperties>
</file>