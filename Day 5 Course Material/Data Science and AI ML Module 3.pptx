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471" r:id="rId3"/>
    <p:sldId id="473" r:id="rId4"/>
    <p:sldId id="469" r:id="rId5"/>
    <p:sldId id="474" r:id="rId6"/>
    <p:sldId id="475" r:id="rId7"/>
    <p:sldId id="476" r:id="rId8"/>
    <p:sldId id="477" r:id="rId9"/>
    <p:sldId id="478" r:id="rId10"/>
    <p:sldId id="482" r:id="rId11"/>
    <p:sldId id="481" r:id="rId12"/>
    <p:sldId id="479" r:id="rId13"/>
    <p:sldId id="480" r:id="rId14"/>
    <p:sldId id="485" r:id="rId15"/>
    <p:sldId id="487" r:id="rId16"/>
    <p:sldId id="488" r:id="rId17"/>
  </p:sldIdLst>
  <p:sldSz cx="9144000" cy="5143500" type="screen16x9"/>
  <p:notesSz cx="6858000" cy="9144000"/>
  <p:embeddedFontLst>
    <p:embeddedFont>
      <p:font typeface="Georgia" pitchFamily="18" charset="0"/>
      <p:regular r:id="rId19"/>
      <p:bold r:id="rId20"/>
      <p:italic r:id="rId21"/>
      <p:boldItalic r:id="rId22"/>
    </p:embeddedFont>
    <p:embeddedFont>
      <p:font typeface="Nunito" charset="0"/>
      <p:regular r:id="rId23"/>
      <p:bold r:id="rId24"/>
      <p:italic r:id="rId25"/>
      <p:boldItalic r:id="rId26"/>
    </p:embeddedFont>
    <p:embeddedFont>
      <p:font typeface="Calibri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9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475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 dirty="0"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  <a:latin typeface="Georgia" panose="02040502050405020303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Georgia" panose="02040502050405020303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 dirty="0"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2000">
                <a:latin typeface="Georgia" panose="02040502050405020303" pitchFamily="18" charset="0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800">
                <a:solidFill>
                  <a:schemeClr val="bg2"/>
                </a:solidFill>
                <a:latin typeface="Georgia" panose="02040502050405020303" pitchFamily="18" charset="0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lang="en-US" dirty="0"/>
          </a:p>
          <a:p>
            <a:pPr lvl="1"/>
            <a:endParaRPr dirty="0"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Georgia" panose="02040502050405020303" pitchFamily="18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Georgia" panose="02040502050405020303" pitchFamily="18" charset="0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>
                <a:latin typeface="Georgia" panose="02040502050405020303" pitchFamily="18" charset="0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Georgia" panose="02040502050405020303" pitchFamily="18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 panose="02040502050405020303" pitchFamily="18" charset="0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latin typeface="Georgia" panose="02040502050405020303" pitchFamily="18" charset="0"/>
              </a:defRPr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latin typeface="Georgia" panose="02040502050405020303" pitchFamily="18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26" name="Google Shape;126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29" name="Google Shape;129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0" name="Google Shape;130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Georgia" panose="02040502050405020303" pitchFamily="18" charset="0"/>
              </a:endParaRPr>
            </a:p>
          </p:txBody>
        </p:sp>
      </p:grpSp>
      <p:sp>
        <p:nvSpPr>
          <p:cNvPr id="144" name="Google Shape;14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latin typeface="Georgia" panose="02040502050405020303" pitchFamily="18" charset="0"/>
              </a:defRPr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5" name="Google Shape;145;p1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Georgia" panose="02040502050405020303" pitchFamily="18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Georgia" panose="02040502050405020303" pitchFamily="18" charset="0"/>
          <a:ea typeface="Georgia" panose="02040502050405020303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000" b="0" i="0" u="none" strike="noStrike" cap="none">
          <a:solidFill>
            <a:srgbClr val="000000"/>
          </a:solidFill>
          <a:latin typeface="Georgia" panose="02040502050405020303" pitchFamily="18" charset="0"/>
          <a:ea typeface="Georgia" panose="02040502050405020303" pitchFamily="18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hyperlink" Target="https://www.mladdict.com/linear-regression-simulator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istill.pub/2016/handwriting/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reators.aiva.ai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>
            <a:spLocks noGrp="1"/>
          </p:cNvSpPr>
          <p:nvPr>
            <p:ph type="ctrTitle"/>
          </p:nvPr>
        </p:nvSpPr>
        <p:spPr>
          <a:xfrm>
            <a:off x="1858700" y="517002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 smtClean="0">
                <a:latin typeface="Georgia" panose="02040502050405020303" pitchFamily="18" charset="0"/>
              </a:rPr>
              <a:t>Artificial Intelligence, </a:t>
            </a:r>
            <a:r>
              <a:rPr lang="en-US" dirty="0">
                <a:latin typeface="Georgia" panose="02040502050405020303" pitchFamily="18" charset="0"/>
              </a:rPr>
              <a:t>Data analytics, Data Science</a:t>
            </a:r>
            <a:endParaRPr dirty="0">
              <a:latin typeface="Georgia" panose="02040502050405020303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GB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 – B </a:t>
            </a:r>
            <a:br>
              <a:rPr lang="en-US" dirty="0"/>
            </a:br>
            <a:r>
              <a:rPr lang="en-US" dirty="0"/>
              <a:t>Subject Specific Skills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Day 5 - </a:t>
            </a:r>
            <a:r>
              <a:rPr lang="en-US" dirty="0"/>
              <a:t>Neural Networks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77548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5448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819150" y="1496291"/>
            <a:ext cx="3686100" cy="2942434"/>
          </a:xfrm>
        </p:spPr>
        <p:txBody>
          <a:bodyPr/>
          <a:lstStyle/>
          <a:p>
            <a:r>
              <a:rPr lang="en-US" dirty="0"/>
              <a:t>Class IX</a:t>
            </a:r>
          </a:p>
          <a:p>
            <a:endParaRPr lang="en-US" dirty="0"/>
          </a:p>
          <a:p>
            <a:r>
              <a:rPr lang="en-US" dirty="0"/>
              <a:t>Human Neurons </a:t>
            </a:r>
          </a:p>
          <a:p>
            <a:r>
              <a:rPr lang="en-US" dirty="0"/>
              <a:t>NN basics </a:t>
            </a:r>
          </a:p>
          <a:p>
            <a:r>
              <a:rPr lang="en-US" dirty="0"/>
              <a:t>Perceptron </a:t>
            </a:r>
          </a:p>
          <a:p>
            <a:r>
              <a:rPr lang="en-US" dirty="0"/>
              <a:t>Lab activity </a:t>
            </a:r>
            <a:endParaRPr lang="en-IN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4638675" y="1496292"/>
            <a:ext cx="3686100" cy="2942434"/>
          </a:xfrm>
        </p:spPr>
        <p:txBody>
          <a:bodyPr/>
          <a:lstStyle/>
          <a:p>
            <a:r>
              <a:rPr lang="en-US" dirty="0"/>
              <a:t>Class X</a:t>
            </a:r>
          </a:p>
          <a:p>
            <a:endParaRPr lang="en-US" dirty="0"/>
          </a:p>
          <a:p>
            <a:r>
              <a:rPr lang="en-US" dirty="0"/>
              <a:t>NN revision </a:t>
            </a:r>
          </a:p>
          <a:p>
            <a:r>
              <a:rPr lang="en-US" dirty="0"/>
              <a:t>Feedforward and bias in NN </a:t>
            </a:r>
          </a:p>
          <a:p>
            <a:r>
              <a:rPr lang="en-US" dirty="0"/>
              <a:t>Back propagation </a:t>
            </a:r>
          </a:p>
          <a:p>
            <a:r>
              <a:rPr lang="en-US" dirty="0"/>
              <a:t>Performance of NN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8884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Human Neurons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3601710" cy="28668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majority of the input signal to a neuron is received via the dendrites. </a:t>
            </a:r>
          </a:p>
          <a:p>
            <a:r>
              <a:rPr lang="en-US" dirty="0"/>
              <a:t>There are about 1,000 to 10,000 connections that are formed by other neurons to these dendrites. </a:t>
            </a:r>
          </a:p>
          <a:p>
            <a:r>
              <a:rPr lang="en-US" dirty="0"/>
              <a:t>The signal from the connections, called synapses, propagate through the dendrite into the cell body.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GB"/>
          </a:p>
        </p:txBody>
      </p:sp>
      <p:pic>
        <p:nvPicPr>
          <p:cNvPr id="1026" name="Picture 2" descr="https://miro.medium.com/max/3840/1*9B8ppwbZ4gJvsQj9dxrLb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523" y="1422064"/>
            <a:ext cx="4320000" cy="2322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5803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A single neuron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single neuron is the building block of artificial neural networks. </a:t>
            </a:r>
          </a:p>
          <a:p>
            <a:r>
              <a:rPr lang="en-US" dirty="0"/>
              <a:t>It is a simplified model of the biological neurons in our brain.</a:t>
            </a:r>
          </a:p>
          <a:p>
            <a:r>
              <a:rPr lang="en-US" dirty="0"/>
              <a:t>A perceptron is the simplest neural network, one that is comprised of just one neuron. </a:t>
            </a:r>
          </a:p>
          <a:p>
            <a:r>
              <a:rPr lang="en-US" dirty="0"/>
              <a:t>The perceptron algorithm was invented in 1958 by Frank Rosenblatt.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40003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Perceptron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705174" cy="2062758"/>
          </a:xfrm>
        </p:spPr>
        <p:txBody>
          <a:bodyPr>
            <a:normAutofit/>
          </a:bodyPr>
          <a:lstStyle/>
          <a:p>
            <a:r>
              <a:rPr lang="en-US" dirty="0"/>
              <a:t>Assume we have a single </a:t>
            </a:r>
            <a:r>
              <a:rPr lang="en-US" b="1" dirty="0"/>
              <a:t>neuron </a:t>
            </a:r>
            <a:r>
              <a:rPr lang="en-US" dirty="0"/>
              <a:t>and three inputs </a:t>
            </a:r>
            <a:r>
              <a:rPr lang="en-US" b="1" i="1" dirty="0"/>
              <a:t>x1, x2</a:t>
            </a:r>
            <a:r>
              <a:rPr lang="en-US" dirty="0"/>
              <a:t>, </a:t>
            </a:r>
            <a:r>
              <a:rPr lang="en-US" b="1" dirty="0"/>
              <a:t>x3 </a:t>
            </a:r>
            <a:r>
              <a:rPr lang="en-US" dirty="0"/>
              <a:t>multiplied by the weights</a:t>
            </a:r>
            <a:r>
              <a:rPr lang="en-US" b="1" dirty="0"/>
              <a:t> w1, w2, w3 respectively </a:t>
            </a:r>
            <a:r>
              <a:rPr lang="en-US" dirty="0"/>
              <a:t>as shown below,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GB"/>
          </a:p>
        </p:txBody>
      </p:sp>
      <p:pic>
        <p:nvPicPr>
          <p:cNvPr id="2056" name="Picture 8" descr="https://miro.medium.com/max/1114/1*fd0HBTmH4ZVQllH3gW94h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5" y="2357657"/>
            <a:ext cx="3244850" cy="178262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s://miro.medium.com/max/1237/1*dRV-BwTtg_GNJiMoDwcmy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66" y="4338208"/>
            <a:ext cx="4320000" cy="56226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167388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Activation Function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This function is called the weighted sum because it is the sum of the weights and inputs. </a:t>
            </a:r>
          </a:p>
          <a:p>
            <a:r>
              <a:rPr lang="en-US" dirty="0"/>
              <a:t>This looks like a good function, but what if we wanted the outputs to fall into a certain range say 0 to 1.</a:t>
            </a:r>
          </a:p>
          <a:p>
            <a:r>
              <a:rPr lang="en-US" dirty="0"/>
              <a:t>We can do this by using something known as an activation function. </a:t>
            </a:r>
          </a:p>
          <a:p>
            <a:r>
              <a:rPr lang="en-US" dirty="0"/>
              <a:t>An activation function is a function that converts the input given (the input, in this case, would be the weighted sum) into a certain output based on a set of rules.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6913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Activation Function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3800284" cy="28668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Hyperbolic Tangent: used to output a number from -1 to 1.</a:t>
            </a:r>
          </a:p>
          <a:p>
            <a:endParaRPr lang="en-US" dirty="0"/>
          </a:p>
          <a:p>
            <a:r>
              <a:rPr lang="en-US" dirty="0"/>
              <a:t>Logistic Function: used to output a number from 0 to 1.</a:t>
            </a:r>
          </a:p>
          <a:p>
            <a:endParaRPr lang="en-US" dirty="0"/>
          </a:p>
          <a:p>
            <a:r>
              <a:rPr lang="en-US" dirty="0"/>
              <a:t>Tanh</a:t>
            </a:r>
          </a:p>
          <a:p>
            <a:endParaRPr lang="en-US" dirty="0"/>
          </a:p>
          <a:p>
            <a:r>
              <a:rPr lang="en-US" dirty="0"/>
              <a:t>ReLU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GB"/>
          </a:p>
        </p:txBody>
      </p:sp>
      <p:pic>
        <p:nvPicPr>
          <p:cNvPr id="3074" name="Picture 2" descr="https://miro.medium.com/max/1177/1*c-y7rv02DLXhAh7UXXK08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434" y="1038485"/>
            <a:ext cx="4320000" cy="35051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iro.medium.com/max/1087/1*sA1AswVFReH7M6zAoBGFz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4102901"/>
            <a:ext cx="4320000" cy="67164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16011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>
            <a:normAutofit/>
          </a:bodyPr>
          <a:lstStyle/>
          <a:p>
            <a:r>
              <a:rPr lang="en-US" dirty="0"/>
              <a:t>Neural network is the network on multiple </a:t>
            </a:r>
            <a:r>
              <a:rPr lang="en-US" dirty="0" err="1"/>
              <a:t>perceptrons</a:t>
            </a:r>
            <a:r>
              <a:rPr lang="en-US" dirty="0"/>
              <a:t> in multiple layers. </a:t>
            </a:r>
          </a:p>
          <a:p>
            <a:r>
              <a:rPr lang="en-US" dirty="0"/>
              <a:t>Artificial neural networks (ANNs) are comprised of a node layers, containing an input layer, one or more hidden layers, and an output layer. </a:t>
            </a:r>
          </a:p>
          <a:p>
            <a:r>
              <a:rPr lang="en-US" dirty="0"/>
              <a:t>Each node, or artificial neuron, connects to another and has an associated weight and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100603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Feedforward Neural Network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Signals are propagated only in the forward direction.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GB"/>
          </a:p>
        </p:txBody>
      </p:sp>
      <p:pic>
        <p:nvPicPr>
          <p:cNvPr id="7" name="Picture 2" descr="Neural Networks Are A Set Of Algorithms, Which Is Based - Neural Network  Transparent PNG - 3624x2334 - Free Download on Nice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50" y="2057640"/>
            <a:ext cx="4680000" cy="28251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590786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Back propagation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Error is calculated at the output. </a:t>
            </a:r>
          </a:p>
          <a:p>
            <a:r>
              <a:rPr lang="en-US" dirty="0"/>
              <a:t>The error is propagated back to the input and weights are changed.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GB"/>
          </a:p>
        </p:txBody>
      </p:sp>
      <p:pic>
        <p:nvPicPr>
          <p:cNvPr id="5122" name="Picture 2" descr="Back Propagation Neural Network: Explained With Simple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2489958"/>
            <a:ext cx="4320000" cy="225051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3803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Simulators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https://www.mladdict.com/linear-regression-simulator</a:t>
            </a:r>
            <a:r>
              <a:rPr lang="en-IN" dirty="0"/>
              <a:t> </a:t>
            </a:r>
          </a:p>
          <a:p>
            <a:r>
              <a:rPr lang="en-IN" dirty="0">
                <a:hlinkClick r:id="rId3"/>
              </a:rPr>
              <a:t>https://playground.tensorflow.org/</a:t>
            </a:r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084405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Lab activity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US" dirty="0"/>
              <a:t>Ask 20 students to make a neural network and let them pass some chits to understand how NN works.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2876625"/>
            <a:ext cx="6334125" cy="15621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6785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Rules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0"/>
            <a:ext cx="7505700" cy="336540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 one is allowed to talk or discuss till the game ends. </a:t>
            </a:r>
          </a:p>
          <a:p>
            <a:r>
              <a:rPr lang="en-US" dirty="0"/>
              <a:t>Each layer should sit distant to each other.</a:t>
            </a:r>
          </a:p>
          <a:p>
            <a:r>
              <a:rPr lang="en-US" dirty="0"/>
              <a:t>The image should only be shown to the Input layer and no one else.</a:t>
            </a:r>
          </a:p>
          <a:p>
            <a:r>
              <a:rPr lang="en-US" dirty="0"/>
              <a:t>One needs to process the data as fast as possible, hence not take much time can be</a:t>
            </a:r>
            <a:br>
              <a:rPr lang="en-US" dirty="0"/>
            </a:br>
            <a:r>
              <a:rPr lang="en-US" dirty="0"/>
              <a:t>taken to write and pass on the chits.</a:t>
            </a:r>
          </a:p>
          <a:p>
            <a:r>
              <a:rPr lang="en-US" dirty="0"/>
              <a:t>Input layer nodes cannot discuss the image shown with each other. Everyone has to</a:t>
            </a:r>
            <a:br>
              <a:rPr lang="en-US" dirty="0"/>
            </a:br>
            <a:r>
              <a:rPr lang="en-US" dirty="0"/>
              <a:t>use their own discretion.</a:t>
            </a:r>
          </a:p>
          <a:p>
            <a:r>
              <a:rPr lang="en-US" dirty="0"/>
              <a:t>Only one word per chit is allowed.</a:t>
            </a:r>
          </a:p>
          <a:p>
            <a:r>
              <a:rPr lang="en-US" dirty="0"/>
              <a:t>Once the task of a layer is finished, that layer needs to go and sit aside and not disturb others till the game ends.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502970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Game 2 Handwriting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https://distill.pub/2016/handwriting/</a:t>
            </a:r>
            <a:r>
              <a:rPr lang="en-IN" dirty="0"/>
              <a:t> </a:t>
            </a:r>
          </a:p>
          <a:p>
            <a:r>
              <a:rPr lang="en-US" dirty="0"/>
              <a:t>Try to write something and NN will give suggestions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64664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845600"/>
            <a:ext cx="7505700" cy="635577"/>
          </a:xfrm>
        </p:spPr>
        <p:txBody>
          <a:bodyPr>
            <a:normAutofit fontScale="90000"/>
          </a:bodyPr>
          <a:lstStyle/>
          <a:p>
            <a:r>
              <a:rPr lang="en-US" dirty="0"/>
              <a:t>Create your own music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571861"/>
            <a:ext cx="7505700" cy="286686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https://creators.aiva.ai/</a:t>
            </a:r>
            <a:r>
              <a:rPr lang="en-IN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935" y="2176298"/>
            <a:ext cx="5400000" cy="23673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9974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1986</TotalTime>
  <Words>355</Words>
  <Application>Microsoft Office PowerPoint</Application>
  <PresentationFormat>On-screen Show (16:9)</PresentationFormat>
  <Paragraphs>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Georgia</vt:lpstr>
      <vt:lpstr>Nunito</vt:lpstr>
      <vt:lpstr>Calibri</vt:lpstr>
      <vt:lpstr>Shift</vt:lpstr>
      <vt:lpstr>Artificial Intelligence, Data analytics, Data Science</vt:lpstr>
      <vt:lpstr>Part – B  Subject Specific Skills  Day 5 - Neural Networks</vt:lpstr>
      <vt:lpstr>Neural Networks</vt:lpstr>
      <vt:lpstr>Human Neurons </vt:lpstr>
      <vt:lpstr>A single neuron</vt:lpstr>
      <vt:lpstr>Perceptron</vt:lpstr>
      <vt:lpstr>Activation Function</vt:lpstr>
      <vt:lpstr>Activation Function</vt:lpstr>
      <vt:lpstr>Neural Network </vt:lpstr>
      <vt:lpstr>Feedforward Neural Network</vt:lpstr>
      <vt:lpstr>Back propagation</vt:lpstr>
      <vt:lpstr>Simulators </vt:lpstr>
      <vt:lpstr>Lab activity </vt:lpstr>
      <vt:lpstr>Rules </vt:lpstr>
      <vt:lpstr>Game 2 Handwriting </vt:lpstr>
      <vt:lpstr>Create your own music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  For CBSE Teachers</dc:title>
  <dc:creator>Sandeep Saini</dc:creator>
  <cp:lastModifiedBy>hp</cp:lastModifiedBy>
  <cp:revision>113</cp:revision>
  <dcterms:modified xsi:type="dcterms:W3CDTF">2026-07-06T18:08:23Z</dcterms:modified>
</cp:coreProperties>
</file>