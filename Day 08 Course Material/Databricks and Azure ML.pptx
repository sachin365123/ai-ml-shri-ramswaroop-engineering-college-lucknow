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80" r:id="rId5"/>
    <p:sldId id="277" r:id="rId6"/>
    <p:sldId id="276" r:id="rId7"/>
    <p:sldId id="275" r:id="rId8"/>
    <p:sldId id="265" r:id="rId9"/>
    <p:sldId id="278" r:id="rId10"/>
    <p:sldId id="261" r:id="rId11"/>
    <p:sldId id="281" r:id="rId12"/>
    <p:sldId id="274" r:id="rId13"/>
    <p:sldId id="258" r:id="rId14"/>
    <p:sldId id="259" r:id="rId15"/>
    <p:sldId id="264" r:id="rId16"/>
    <p:sldId id="262" r:id="rId17"/>
    <p:sldId id="260" r:id="rId18"/>
    <p:sldId id="273" r:id="rId19"/>
    <p:sldId id="272" r:id="rId20"/>
    <p:sldId id="271" r:id="rId21"/>
    <p:sldId id="270" r:id="rId22"/>
    <p:sldId id="269" r:id="rId23"/>
    <p:sldId id="267" r:id="rId24"/>
    <p:sldId id="26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D4B488-BF5B-4F82-8EB9-2E3B644B984D}" v="12" dt="2024-12-05T07:44:04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8809" autoAdjust="0"/>
    <p:restoredTop sz="94660"/>
  </p:normalViewPr>
  <p:slideViewPr>
    <p:cSldViewPr snapToGrid="0">
      <p:cViewPr>
        <p:scale>
          <a:sx n="75" d="100"/>
          <a:sy n="75" d="100"/>
        </p:scale>
        <p:origin x="-562" y="-3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bhjot Singh Bakshi" userId="2bc06dbbe72a50e9" providerId="LiveId" clId="{47D4B488-BF5B-4F82-8EB9-2E3B644B984D}"/>
    <pc:docChg chg="undo custSel addSld modSld">
      <pc:chgData name="Prabhjot Singh Bakshi" userId="2bc06dbbe72a50e9" providerId="LiveId" clId="{47D4B488-BF5B-4F82-8EB9-2E3B644B984D}" dt="2024-12-05T07:44:04.809" v="65" actId="1076"/>
      <pc:docMkLst>
        <pc:docMk/>
      </pc:docMkLst>
      <pc:sldChg chg="addSp delSp modSp new mod setBg">
        <pc:chgData name="Prabhjot Singh Bakshi" userId="2bc06dbbe72a50e9" providerId="LiveId" clId="{47D4B488-BF5B-4F82-8EB9-2E3B644B984D}" dt="2024-12-05T06:53:36.516" v="10" actId="1076"/>
        <pc:sldMkLst>
          <pc:docMk/>
          <pc:sldMk cId="3661563117" sldId="262"/>
        </pc:sldMkLst>
        <pc:spChg chg="del mod">
          <ac:chgData name="Prabhjot Singh Bakshi" userId="2bc06dbbe72a50e9" providerId="LiveId" clId="{47D4B488-BF5B-4F82-8EB9-2E3B644B984D}" dt="2024-12-05T06:53:28.274" v="4" actId="478"/>
          <ac:spMkLst>
            <pc:docMk/>
            <pc:sldMk cId="3661563117" sldId="262"/>
            <ac:spMk id="2" creationId="{0EDBB516-5D13-0680-A56F-ADB414D9C659}"/>
          </ac:spMkLst>
        </pc:spChg>
        <pc:spChg chg="del">
          <ac:chgData name="Prabhjot Singh Bakshi" userId="2bc06dbbe72a50e9" providerId="LiveId" clId="{47D4B488-BF5B-4F82-8EB9-2E3B644B984D}" dt="2024-12-05T06:53:25.976" v="1"/>
          <ac:spMkLst>
            <pc:docMk/>
            <pc:sldMk cId="3661563117" sldId="262"/>
            <ac:spMk id="3" creationId="{C02EF5E0-37A1-C60C-6B8F-29E5CBA85D4E}"/>
          </ac:spMkLst>
        </pc:spChg>
        <pc:spChg chg="add del">
          <ac:chgData name="Prabhjot Singh Bakshi" userId="2bc06dbbe72a50e9" providerId="LiveId" clId="{47D4B488-BF5B-4F82-8EB9-2E3B644B984D}" dt="2024-12-05T06:53:32.159" v="6" actId="26606"/>
          <ac:spMkLst>
            <pc:docMk/>
            <pc:sldMk cId="3661563117" sldId="262"/>
            <ac:spMk id="10" creationId="{32BC26D8-82FB-445E-AA49-62A77D7C1EE0}"/>
          </ac:spMkLst>
        </pc:spChg>
        <pc:spChg chg="add del">
          <ac:chgData name="Prabhjot Singh Bakshi" userId="2bc06dbbe72a50e9" providerId="LiveId" clId="{47D4B488-BF5B-4F82-8EB9-2E3B644B984D}" dt="2024-12-05T06:53:32.159" v="6" actId="26606"/>
          <ac:spMkLst>
            <pc:docMk/>
            <pc:sldMk cId="3661563117" sldId="262"/>
            <ac:spMk id="12" creationId="{CB44330D-EA18-4254-AA95-EB49948539B8}"/>
          </ac:spMkLst>
        </pc:spChg>
        <pc:picChg chg="add mod">
          <ac:chgData name="Prabhjot Singh Bakshi" userId="2bc06dbbe72a50e9" providerId="LiveId" clId="{47D4B488-BF5B-4F82-8EB9-2E3B644B984D}" dt="2024-12-05T06:53:36.516" v="10" actId="1076"/>
          <ac:picMkLst>
            <pc:docMk/>
            <pc:sldMk cId="3661563117" sldId="262"/>
            <ac:picMk id="5" creationId="{0440E681-43A2-C734-BC54-A75F4C71E660}"/>
          </ac:picMkLst>
        </pc:picChg>
      </pc:sldChg>
      <pc:sldChg chg="addSp delSp modSp new mod">
        <pc:chgData name="Prabhjot Singh Bakshi" userId="2bc06dbbe72a50e9" providerId="LiveId" clId="{47D4B488-BF5B-4F82-8EB9-2E3B644B984D}" dt="2024-12-05T06:55:21.511" v="57" actId="14100"/>
        <pc:sldMkLst>
          <pc:docMk/>
          <pc:sldMk cId="1395628887" sldId="263"/>
        </pc:sldMkLst>
        <pc:spChg chg="mod">
          <ac:chgData name="Prabhjot Singh Bakshi" userId="2bc06dbbe72a50e9" providerId="LiveId" clId="{47D4B488-BF5B-4F82-8EB9-2E3B644B984D}" dt="2024-12-05T06:55:17.141" v="54" actId="1076"/>
          <ac:spMkLst>
            <pc:docMk/>
            <pc:sldMk cId="1395628887" sldId="263"/>
            <ac:spMk id="2" creationId="{5C6C31E2-064A-5F89-7D14-9F4B5C66360F}"/>
          </ac:spMkLst>
        </pc:spChg>
        <pc:spChg chg="del">
          <ac:chgData name="Prabhjot Singh Bakshi" userId="2bc06dbbe72a50e9" providerId="LiveId" clId="{47D4B488-BF5B-4F82-8EB9-2E3B644B984D}" dt="2024-12-05T06:55:11.272" v="52"/>
          <ac:spMkLst>
            <pc:docMk/>
            <pc:sldMk cId="1395628887" sldId="263"/>
            <ac:spMk id="3" creationId="{37B0405E-A43F-0832-26C2-AADF9CECBC27}"/>
          </ac:spMkLst>
        </pc:spChg>
        <pc:picChg chg="add mod">
          <ac:chgData name="Prabhjot Singh Bakshi" userId="2bc06dbbe72a50e9" providerId="LiveId" clId="{47D4B488-BF5B-4F82-8EB9-2E3B644B984D}" dt="2024-12-05T06:55:21.511" v="57" actId="14100"/>
          <ac:picMkLst>
            <pc:docMk/>
            <pc:sldMk cId="1395628887" sldId="263"/>
            <ac:picMk id="3074" creationId="{D16E9A25-4F96-3741-B06F-5DFF5461A695}"/>
          </ac:picMkLst>
        </pc:picChg>
      </pc:sldChg>
      <pc:sldChg chg="addSp delSp modSp new mod setBg">
        <pc:chgData name="Prabhjot Singh Bakshi" userId="2bc06dbbe72a50e9" providerId="LiveId" clId="{47D4B488-BF5B-4F82-8EB9-2E3B644B984D}" dt="2024-12-05T07:44:04.809" v="65" actId="1076"/>
        <pc:sldMkLst>
          <pc:docMk/>
          <pc:sldMk cId="2506321839" sldId="264"/>
        </pc:sldMkLst>
        <pc:spChg chg="del">
          <ac:chgData name="Prabhjot Singh Bakshi" userId="2bc06dbbe72a50e9" providerId="LiveId" clId="{47D4B488-BF5B-4F82-8EB9-2E3B644B984D}" dt="2024-12-05T07:43:56.375" v="60" actId="26606"/>
          <ac:spMkLst>
            <pc:docMk/>
            <pc:sldMk cId="2506321839" sldId="264"/>
            <ac:spMk id="2" creationId="{214B9169-2D7E-31D4-66FD-E76983384641}"/>
          </ac:spMkLst>
        </pc:spChg>
        <pc:spChg chg="del">
          <ac:chgData name="Prabhjot Singh Bakshi" userId="2bc06dbbe72a50e9" providerId="LiveId" clId="{47D4B488-BF5B-4F82-8EB9-2E3B644B984D}" dt="2024-12-05T07:43:54.364" v="59"/>
          <ac:spMkLst>
            <pc:docMk/>
            <pc:sldMk cId="2506321839" sldId="264"/>
            <ac:spMk id="3" creationId="{2A0F133E-F732-3902-B24D-D967A97C4FF6}"/>
          </ac:spMkLst>
        </pc:spChg>
        <pc:picChg chg="add mod">
          <ac:chgData name="Prabhjot Singh Bakshi" userId="2bc06dbbe72a50e9" providerId="LiveId" clId="{47D4B488-BF5B-4F82-8EB9-2E3B644B984D}" dt="2024-12-05T07:44:04.809" v="65" actId="1076"/>
          <ac:picMkLst>
            <pc:docMk/>
            <pc:sldMk cId="2506321839" sldId="264"/>
            <ac:picMk id="1026" creationId="{0FAEA5FF-1E65-A798-2B34-ABBC3E884CE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5DC8A5-4FD4-8ABF-CBB4-3F56B3301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158603-9876-C765-02C9-5634A3091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1A6358C-9C56-F57E-5FD5-AC0F3D57A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8FE294D-EAD3-C0E2-03A2-90BD5B635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DA04CCA-2FD1-7BE1-2BCE-1D2F962D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0668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9C3008-12F9-B382-E429-79816DA5C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676382-B6A5-A010-4E60-899BEBF9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CC8B7D1-27B1-3CCE-2CC3-76773E43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1643E1-B140-FE54-C101-DB7A3421B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A6E8B33-3C04-3338-3F64-D2B4ADD4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5914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AB2C95-F914-7CA7-8C0C-E1757467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05CE3FD-0487-2063-F738-956252BE1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E6B835B-4FD1-D348-7495-ED2E0262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DC75459-CE0A-B385-B1B2-B62C8FAD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29D68D-4341-7974-4A9A-75FD7074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98966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BC7DAD-DA08-E9A7-6138-E2C42327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FF581EB-BD65-DC68-28BE-8BFA5FE06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D0F857F-3124-43EB-2F39-E0BB83A4A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DF9DFBA-52DB-70C8-3D67-E7C47BCB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15E33B5-7F26-E068-AA77-85219BB97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E2077BD-B0F1-9A87-F214-DDCBD2F3D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58771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FB3F49-C1ED-BF6D-EF47-7F36E12E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3A9D4D5-3C89-5269-B89F-2935A8AF3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0652E70-4808-1A52-0042-BCBE51DEC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465FAC0-2C99-284C-65A7-0BD78810A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326E88F-7F56-ED72-0A79-5B1D48E4C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94895D9-6F3C-543A-BFCC-3AAC60372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A170CDE-3BB5-B8EF-9E77-B35A1FE4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7D93DF2-4FC1-032E-9196-DD6FDC7A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4030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3BB03A-9888-532A-F88E-55573E9C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BF45B20-A3F7-5896-0506-8E26B6BC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E1971A9-EA11-9078-A2B6-3216187C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2D84917-A09A-E745-E876-06B1F3A7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34941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9DDFB19-9F25-9075-7204-9CAC28E99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0C9B98-D74F-C89A-DAD3-8FF13EE61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F1A7618-8370-B52A-8486-B61379D71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01416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A4C0A6-BC70-6CD4-A776-0D035D95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94ACC9-3651-45E8-A421-434DBD909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E7A012F-E8D0-2F82-6792-07C47170E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6A93614-7F8F-35F4-0B10-82BB0AF0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40E8797-F1DF-E2C2-FE28-F54B9C9C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9CD54B6-4B7A-8493-E7D2-511EDA54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6162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549BB5-5689-A8CD-FDC4-F0F655D93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896B779-C6B2-C42F-B157-A4C9A35B2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38A4851-93E1-04E7-DFFE-D92B14CA9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86E016E-2B8F-F076-5FBE-B4DA44E1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19E302C-EE42-F42F-562E-0F6D3C40D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9F6B735-6CA7-4074-87DA-A5DDB4F9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381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BA3FB2-F931-E575-3866-33E3CB2A6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4D0F0CB-262A-47D2-99C6-751C63148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F2F56E-36E8-40F6-577B-6A3DDBA1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28C8B8-FB17-E081-214A-BD9C9E02C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6B6B65-09ED-6AFC-4755-8156CB37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0305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97656CA-9950-39B3-EAE4-D517F7BADA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426281A-AD73-7D00-6279-437CBFDFD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371081-56CA-A7B5-328E-42894DC9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535AD2F-E8B7-95CD-06BF-085220BC4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7C4292-D2D2-82CF-DC3D-76D2C625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95525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E7E2DB4-7F75-03CE-2190-D40CFC9E6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32BD985-8B57-97EC-F82E-FDEFC770A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4BA13B-94D8-F1B0-F7CA-9C0C02FB4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4290C-E36F-4B54-9CD3-F5239DAF6FBE}" type="datetimeFigureOut">
              <a:rPr lang="en-IN" smtClean="0"/>
              <a:pPr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30401FE-44F0-903D-11E3-C681BAE30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A099E63-BE5D-DCE8-59DC-E12E7624B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99D930-42F3-477B-B124-94D7035044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2336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atabricks.com/aws/en/mlflow/" TargetMode="External"/><Relationship Id="rId2" Type="http://schemas.openxmlformats.org/officeDocument/2006/relationships/hyperlink" Target="https://www.databricks.com/blog/2020/04/15/databricks-extends-mlflow-model-registry-with-enterprise-featur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training/modules/deploy-model-managed-online-endpoint/1-introduction" TargetMode="External"/><Relationship Id="rId5" Type="http://schemas.openxmlformats.org/officeDocument/2006/relationships/hyperlink" Target="https://learn.microsoft.com/en-us/azure/databricks/machine-learning/feature-store/online-feature-stores" TargetMode="External"/><Relationship Id="rId4" Type="http://schemas.openxmlformats.org/officeDocument/2006/relationships/hyperlink" Target="https://docs.databricks.com/aws/en/machine-learning/mlops/mlops-workflo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618BD5-FDC7-F73B-7ECF-D897308C3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840" y="568959"/>
            <a:ext cx="9144000" cy="1163003"/>
          </a:xfrm>
        </p:spPr>
        <p:txBody>
          <a:bodyPr>
            <a:normAutofit/>
          </a:bodyPr>
          <a:lstStyle/>
          <a:p>
            <a:r>
              <a:rPr lang="en-US" dirty="0" err="1" smtClean="0"/>
              <a:t>Databricks</a:t>
            </a:r>
            <a:r>
              <a:rPr lang="en-US" dirty="0" smtClean="0"/>
              <a:t> and Azure ML</a:t>
            </a:r>
            <a:endParaRPr lang="en-US" dirty="0" smtClean="0"/>
          </a:p>
        </p:txBody>
      </p:sp>
      <p:pic>
        <p:nvPicPr>
          <p:cNvPr id="9218" name="Picture 2" descr="https://miro.medium.com/v2/resize:fit:700/1*w8hviI2Yb2GjICZd5turo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2055" y="2177415"/>
            <a:ext cx="6667500" cy="2114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08083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MLflow</a:t>
            </a:r>
            <a:r>
              <a:rPr lang="en-US" dirty="0" smtClean="0"/>
              <a:t>?</a:t>
            </a:r>
            <a:endParaRPr lang="en-IN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 txBox="1">
            <a:spLocks/>
          </p:cNvSpPr>
          <p:nvPr/>
        </p:nvSpPr>
        <p:spPr>
          <a:xfrm>
            <a:off x="902078" y="33182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 err="1" smtClean="0"/>
              <a:t>MLflow</a:t>
            </a:r>
            <a:r>
              <a:rPr lang="en-US" sz="2400" dirty="0" smtClean="0"/>
              <a:t> is an open source platform for developing models and generative AI applications. It has the following primary components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Tracking:</a:t>
            </a:r>
            <a:r>
              <a:rPr lang="en-US" sz="2400" dirty="0" smtClean="0"/>
              <a:t> Allows you to track experiments to record and compare parameters and results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Models:</a:t>
            </a:r>
            <a:r>
              <a:rPr lang="en-US" sz="2400" dirty="0" smtClean="0"/>
              <a:t> Allow you to manage and deploy models from various ML libraries to various model serving and inference platforms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Model Registry: </a:t>
            </a:r>
            <a:r>
              <a:rPr lang="en-US" sz="2400" dirty="0" smtClean="0"/>
              <a:t>Allows you to manage the model deployment process from staging to production, with model versioning and annotation capabilities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AI agent evaluation and tracing: </a:t>
            </a:r>
            <a:r>
              <a:rPr lang="en-US" sz="2400" dirty="0" smtClean="0"/>
              <a:t>Allows you to develop high-quality AI agents by helping you compare, evaluate, and troubleshoot agents.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980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MLflow</a:t>
            </a:r>
            <a:r>
              <a:rPr lang="en-US" dirty="0" smtClean="0"/>
              <a:t>?</a:t>
            </a:r>
            <a:endParaRPr lang="en-IN" dirty="0"/>
          </a:p>
        </p:txBody>
      </p:sp>
      <p:pic>
        <p:nvPicPr>
          <p:cNvPr id="36866" name="Picture 2" descr="https://miro.medium.com/v2/resize:fit:700/1*Oct8UGYpAETW-TcQMLKW9w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0070" y="1758017"/>
            <a:ext cx="8800142" cy="36840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80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MLflow</a:t>
            </a:r>
            <a:r>
              <a:rPr lang="en-US" dirty="0" smtClean="0"/>
              <a:t>?</a:t>
            </a:r>
            <a:endParaRPr lang="en-IN" dirty="0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1050" y="1655444"/>
            <a:ext cx="9782177" cy="3922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980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What </a:t>
            </a:r>
            <a:r>
              <a:rPr lang="en-US" dirty="0" smtClean="0"/>
              <a:t>is </a:t>
            </a:r>
            <a:r>
              <a:rPr lang="en-US" dirty="0" err="1" smtClean="0"/>
              <a:t>Databricks</a:t>
            </a:r>
            <a:r>
              <a:rPr lang="en-US" dirty="0" smtClean="0"/>
              <a:t>-managed </a:t>
            </a:r>
            <a:r>
              <a:rPr lang="en-US" dirty="0" err="1" smtClean="0"/>
              <a:t>MLflow</a:t>
            </a:r>
            <a:r>
              <a:rPr lang="en-US" dirty="0" smtClean="0"/>
              <a:t> ?</a:t>
            </a:r>
            <a:endParaRPr lang="en-IN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 txBox="1">
            <a:spLocks/>
          </p:cNvSpPr>
          <p:nvPr/>
        </p:nvSpPr>
        <p:spPr>
          <a:xfrm>
            <a:off x="902078" y="34478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 err="1" smtClean="0"/>
              <a:t>Databricks</a:t>
            </a:r>
            <a:r>
              <a:rPr lang="en-US" sz="2000" dirty="0" smtClean="0"/>
              <a:t>-managed </a:t>
            </a:r>
            <a:r>
              <a:rPr lang="en-US" sz="2000" dirty="0" err="1" smtClean="0"/>
              <a:t>MLflow</a:t>
            </a:r>
            <a:r>
              <a:rPr lang="en-US" sz="2000" dirty="0" smtClean="0"/>
              <a:t> is built on Unity Catalog and the Cloud Data Lake to unify all your data and AI assets in the ML lifecycle</a:t>
            </a:r>
            <a:r>
              <a:rPr lang="en-US" sz="2000" dirty="0" smtClean="0"/>
              <a:t>:</a:t>
            </a:r>
          </a:p>
          <a:p>
            <a:endParaRPr lang="en-US" sz="2000" dirty="0" smtClean="0"/>
          </a:p>
          <a:p>
            <a:r>
              <a:rPr lang="en-US" sz="2000" b="1" dirty="0" smtClean="0">
                <a:solidFill>
                  <a:schemeClr val="accent5"/>
                </a:solidFill>
              </a:rPr>
              <a:t>Feature store:</a:t>
            </a:r>
            <a:r>
              <a:rPr lang="en-US" sz="2000" dirty="0" smtClean="0"/>
              <a:t> </a:t>
            </a:r>
            <a:r>
              <a:rPr lang="en-US" sz="2000" dirty="0" err="1" smtClean="0"/>
              <a:t>Databricks</a:t>
            </a:r>
            <a:r>
              <a:rPr lang="en-US" sz="2000" dirty="0" smtClean="0"/>
              <a:t> automated feature lookups simplifies integration and reduces mistakes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>
                <a:solidFill>
                  <a:schemeClr val="accent6">
                    <a:lumMod val="50000"/>
                  </a:schemeClr>
                </a:solidFill>
              </a:rPr>
              <a:t>Train models:</a:t>
            </a:r>
            <a:r>
              <a:rPr lang="en-US" sz="2000" dirty="0" smtClean="0"/>
              <a:t> Use Mosaic AI to train models or fine-tune foundation models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>
                <a:solidFill>
                  <a:schemeClr val="accent4">
                    <a:lumMod val="75000"/>
                  </a:schemeClr>
                </a:solidFill>
              </a:rPr>
              <a:t>Tracking</a:t>
            </a:r>
            <a:r>
              <a:rPr lang="en-US" sz="2000" dirty="0" smtClean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en-US" sz="2000" dirty="0" err="1" smtClean="0"/>
              <a:t>MLflow</a:t>
            </a:r>
            <a:r>
              <a:rPr lang="en-US" sz="2000" dirty="0" smtClean="0"/>
              <a:t> tracks training by logging parameters, metrics, and artifacts to evaluate and compare model performance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</a:rPr>
              <a:t>Model Registry:</a:t>
            </a:r>
            <a:r>
              <a:rPr lang="en-US" sz="2000" dirty="0" smtClean="0"/>
              <a:t> </a:t>
            </a:r>
            <a:r>
              <a:rPr lang="en-US" sz="2000" dirty="0" err="1" smtClean="0"/>
              <a:t>MLflow</a:t>
            </a:r>
            <a:r>
              <a:rPr lang="en-US" sz="2000" dirty="0" smtClean="0"/>
              <a:t> Model Registry, integrated with Unity Catalog centralizes AI models and artifacts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>
                <a:solidFill>
                  <a:schemeClr val="tx2">
                    <a:lumMod val="75000"/>
                    <a:lumOff val="25000"/>
                  </a:schemeClr>
                </a:solidFill>
              </a:rPr>
              <a:t>Model Serving:</a:t>
            </a:r>
            <a:r>
              <a:rPr lang="en-US" sz="2000" dirty="0" smtClean="0"/>
              <a:t> Mosaic AI Model Serving deploys models to a REST API endpoint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>
                <a:solidFill>
                  <a:srgbClr val="FF0000"/>
                </a:solidFill>
              </a:rPr>
              <a:t>Monitoring:</a:t>
            </a:r>
            <a:r>
              <a:rPr lang="en-US" sz="2000" dirty="0" smtClean="0">
                <a:solidFill>
                  <a:srgbClr val="FF0000"/>
                </a:solidFill>
              </a:rPr>
              <a:t> </a:t>
            </a:r>
            <a:r>
              <a:rPr lang="en-US" sz="2000" dirty="0" smtClean="0"/>
              <a:t>Mosaic AI Model Serving automatically captures requests and responses to monitor and debug models. </a:t>
            </a:r>
            <a:r>
              <a:rPr lang="en-US" sz="2000" dirty="0" err="1" smtClean="0"/>
              <a:t>MLflow</a:t>
            </a:r>
            <a:r>
              <a:rPr lang="en-US" sz="2000" dirty="0" smtClean="0"/>
              <a:t> augments this data with trace data for each request.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980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MLflow</a:t>
            </a:r>
            <a:r>
              <a:rPr lang="en-US" dirty="0" smtClean="0"/>
              <a:t>?</a:t>
            </a:r>
            <a:endParaRPr lang="en-IN" dirty="0"/>
          </a:p>
        </p:txBody>
      </p:sp>
      <p:pic>
        <p:nvPicPr>
          <p:cNvPr id="32770" name="Picture 2" descr="MLflow integrates with Databricks to manage the ML lifecycle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3962" y="1453178"/>
            <a:ext cx="7478518" cy="5278953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 txBox="1">
            <a:spLocks/>
          </p:cNvSpPr>
          <p:nvPr/>
        </p:nvSpPr>
        <p:spPr>
          <a:xfrm>
            <a:off x="8641080" y="3310674"/>
            <a:ext cx="29899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err="1" smtClean="0"/>
              <a:t>Databricks</a:t>
            </a:r>
            <a:r>
              <a:rPr lang="en-US" dirty="0" smtClean="0"/>
              <a:t> provides a fully managed and hosted version of </a:t>
            </a:r>
            <a:r>
              <a:rPr lang="en-US" dirty="0" err="1" smtClean="0"/>
              <a:t>MLflow</a:t>
            </a:r>
            <a:r>
              <a:rPr lang="en-US" dirty="0" smtClean="0"/>
              <a:t>, building on the open source experience to make it more robust and scalable for enterprise use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following diagram shows how </a:t>
            </a:r>
            <a:r>
              <a:rPr lang="en-US" dirty="0" err="1" smtClean="0"/>
              <a:t>Databricks</a:t>
            </a:r>
            <a:r>
              <a:rPr lang="en-US" dirty="0" smtClean="0"/>
              <a:t> integrates with </a:t>
            </a:r>
            <a:r>
              <a:rPr lang="en-US" dirty="0" err="1" smtClean="0"/>
              <a:t>MLflow</a:t>
            </a:r>
            <a:r>
              <a:rPr lang="en-US" dirty="0" smtClean="0"/>
              <a:t> to train and deploy machine learning models.</a:t>
            </a:r>
          </a:p>
        </p:txBody>
      </p:sp>
    </p:spTree>
    <p:extLst>
      <p:ext uri="{BB962C8B-B14F-4D97-AF65-F5344CB8AC3E}">
        <p14:creationId xmlns:p14="http://schemas.microsoft.com/office/powerpoint/2010/main" xmlns="" val="2980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err="1" smtClean="0"/>
              <a:t>MLflow</a:t>
            </a:r>
            <a:endParaRPr lang="en-IN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 txBox="1">
            <a:spLocks/>
          </p:cNvSpPr>
          <p:nvPr/>
        </p:nvSpPr>
        <p:spPr>
          <a:xfrm>
            <a:off x="902078" y="2912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lnSpc>
                <a:spcPct val="270000"/>
              </a:lnSpc>
              <a:spcBef>
                <a:spcPct val="0"/>
              </a:spcBef>
              <a:buFont typeface="Wingdings" pitchFamily="2" charset="2"/>
              <a:buChar char="Ø"/>
            </a:pPr>
            <a:r>
              <a:rPr lang="en-US" sz="2200" dirty="0" err="1" smtClean="0">
                <a:latin typeface="+mj-lt"/>
                <a:ea typeface="+mj-ea"/>
                <a:cs typeface="+mj-cs"/>
              </a:rPr>
              <a:t>MLflow</a:t>
            </a:r>
            <a:r>
              <a:rPr lang="en-US" sz="2200" dirty="0" smtClean="0">
                <a:latin typeface="+mj-lt"/>
                <a:ea typeface="+mj-ea"/>
                <a:cs typeface="+mj-cs"/>
              </a:rPr>
              <a:t> already has the ability to track </a:t>
            </a:r>
            <a:r>
              <a:rPr lang="en-US" sz="22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metrics, parameters, and artifacts</a:t>
            </a:r>
            <a:r>
              <a:rPr lang="en-US" sz="2200" dirty="0" smtClean="0">
                <a:latin typeface="+mj-lt"/>
                <a:ea typeface="+mj-ea"/>
                <a:cs typeface="+mj-cs"/>
              </a:rPr>
              <a:t> as part of experiments; package models and reproducible ML projects; and deploy models to </a:t>
            </a:r>
            <a:r>
              <a:rPr lang="en-US" sz="2200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batch or real-time </a:t>
            </a:r>
            <a:r>
              <a:rPr lang="en-US" sz="2200" dirty="0" smtClean="0">
                <a:latin typeface="+mj-lt"/>
                <a:ea typeface="+mj-ea"/>
                <a:cs typeface="+mj-cs"/>
              </a:rPr>
              <a:t>serving platforms. </a:t>
            </a:r>
            <a:endParaRPr lang="en-US" sz="2200" dirty="0" smtClean="0">
              <a:latin typeface="+mj-lt"/>
              <a:ea typeface="+mj-ea"/>
              <a:cs typeface="+mj-cs"/>
            </a:endParaRPr>
          </a:p>
          <a:p>
            <a:pPr lvl="0">
              <a:lnSpc>
                <a:spcPct val="270000"/>
              </a:lnSpc>
              <a:spcBef>
                <a:spcPct val="0"/>
              </a:spcBef>
              <a:buFont typeface="Wingdings" pitchFamily="2" charset="2"/>
              <a:buChar char="Ø"/>
            </a:pPr>
            <a:r>
              <a:rPr lang="en-US" sz="2200" dirty="0" smtClean="0">
                <a:latin typeface="+mj-lt"/>
                <a:ea typeface="+mj-ea"/>
                <a:cs typeface="+mj-cs"/>
              </a:rPr>
              <a:t>Built </a:t>
            </a:r>
            <a:r>
              <a:rPr lang="en-US" sz="2200" dirty="0" smtClean="0">
                <a:latin typeface="+mj-lt"/>
                <a:ea typeface="+mj-ea"/>
                <a:cs typeface="+mj-cs"/>
              </a:rPr>
              <a:t>on these existing capabilities, the </a:t>
            </a:r>
            <a:r>
              <a:rPr lang="en-US" sz="2200" dirty="0" err="1" smtClean="0">
                <a:latin typeface="+mj-lt"/>
                <a:ea typeface="+mj-ea"/>
                <a:cs typeface="+mj-cs"/>
              </a:rPr>
              <a:t>MLflow</a:t>
            </a:r>
            <a:r>
              <a:rPr lang="en-US" sz="2200" dirty="0" smtClean="0">
                <a:latin typeface="+mj-lt"/>
                <a:ea typeface="+mj-ea"/>
                <a:cs typeface="+mj-cs"/>
              </a:rPr>
              <a:t> Model Registry </a:t>
            </a:r>
            <a:r>
              <a:rPr lang="en-US" sz="22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[AWS] [Azure] </a:t>
            </a:r>
            <a:r>
              <a:rPr lang="en-US" sz="2200" dirty="0" smtClean="0">
                <a:latin typeface="+mj-lt"/>
                <a:ea typeface="+mj-ea"/>
                <a:cs typeface="+mj-cs"/>
              </a:rPr>
              <a:t>provides a central repository to manage the model deployment lifecycle.</a:t>
            </a:r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0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8194" name="Picture 2" descr="https://www.databricks.com/wp-content/uploads/2020/04/databricks-adds-access-control-to-mlflow-model-registry_0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6625" y="1505035"/>
            <a:ext cx="10196123" cy="5352965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 txBox="1">
            <a:spLocks/>
          </p:cNvSpPr>
          <p:nvPr/>
        </p:nvSpPr>
        <p:spPr>
          <a:xfrm>
            <a:off x="81006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MLflow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80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 txBox="1">
            <a:spLocks/>
          </p:cNvSpPr>
          <p:nvPr/>
        </p:nvSpPr>
        <p:spPr>
          <a:xfrm>
            <a:off x="81006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MLflow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4820" name="Picture 4" descr="https://www.databricks.com/wp-content/uploads/2020/06/blog-mlflow-model-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0915" y="1798955"/>
            <a:ext cx="9883635" cy="44723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980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What is Managed </a:t>
            </a:r>
            <a:r>
              <a:rPr lang="en-US" dirty="0" err="1" smtClean="0"/>
              <a:t>MLflow</a:t>
            </a:r>
            <a:r>
              <a:rPr lang="en-US" dirty="0" smtClean="0"/>
              <a:t>?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sz="1800" dirty="0" smtClean="0"/>
              <a:t>Managed </a:t>
            </a:r>
            <a:r>
              <a:rPr lang="en-US" sz="1800" dirty="0" err="1" smtClean="0"/>
              <a:t>MLflow</a:t>
            </a:r>
            <a:r>
              <a:rPr lang="en-US" sz="1800" dirty="0" smtClean="0"/>
              <a:t> on </a:t>
            </a:r>
            <a:r>
              <a:rPr lang="en-US" sz="1800" dirty="0" err="1" smtClean="0"/>
              <a:t>Databricks</a:t>
            </a:r>
            <a:r>
              <a:rPr lang="en-US" sz="1800" dirty="0" smtClean="0"/>
              <a:t> delivers state-of-the-art experiment tracking, </a:t>
            </a:r>
            <a:r>
              <a:rPr lang="en-US" sz="1800" dirty="0" err="1" smtClean="0"/>
              <a:t>observability</a:t>
            </a:r>
            <a:r>
              <a:rPr lang="en-US" sz="1800" dirty="0" smtClean="0"/>
              <a:t>, performance evaluation, and model management for the full spectrum of machine learning and AI, from classical models and deep learning to generative AI applications and agents, all natively within the </a:t>
            </a:r>
            <a:r>
              <a:rPr lang="en-US" sz="1800" dirty="0" err="1" smtClean="0"/>
              <a:t>Databricks</a:t>
            </a:r>
            <a:r>
              <a:rPr lang="en-US" sz="1800" dirty="0" smtClean="0"/>
              <a:t> Data Intelligence Platform. </a:t>
            </a:r>
            <a:endParaRPr lang="en-US" sz="1800" dirty="0" smtClean="0"/>
          </a:p>
          <a:p>
            <a:pPr>
              <a:lnSpc>
                <a:spcPct val="200000"/>
              </a:lnSpc>
            </a:pPr>
            <a:r>
              <a:rPr lang="en-US" sz="1800" dirty="0" smtClean="0"/>
              <a:t>Managed </a:t>
            </a:r>
            <a:r>
              <a:rPr lang="en-US" sz="1800" dirty="0" err="1" smtClean="0"/>
              <a:t>MLflow</a:t>
            </a:r>
            <a:r>
              <a:rPr lang="en-US" sz="1800" dirty="0" smtClean="0"/>
              <a:t> is built on the flexible foundation of open-source </a:t>
            </a:r>
            <a:r>
              <a:rPr lang="en-US" sz="1800" dirty="0" err="1" smtClean="0"/>
              <a:t>MLflow</a:t>
            </a:r>
            <a:r>
              <a:rPr lang="en-US" sz="1800" dirty="0" smtClean="0"/>
              <a:t> and fortified with enterprise-grade reliability, security, and scalability. </a:t>
            </a:r>
            <a:endParaRPr lang="en-US" sz="1800" dirty="0" smtClean="0"/>
          </a:p>
          <a:p>
            <a:pPr>
              <a:lnSpc>
                <a:spcPct val="200000"/>
              </a:lnSpc>
            </a:pPr>
            <a:r>
              <a:rPr lang="en-US" sz="1800" dirty="0" smtClean="0"/>
              <a:t>This </a:t>
            </a:r>
            <a:r>
              <a:rPr lang="en-US" sz="1800" dirty="0" smtClean="0"/>
              <a:t>empowers enterprises to confidently build high quality models and agents using their preferred tools across the entire AI &amp; ML ecosystem, all while ensuring their AI and data assets are governed and protected.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xmlns="" val="31916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What is Managed </a:t>
            </a:r>
            <a:r>
              <a:rPr lang="en-US" dirty="0" err="1" smtClean="0"/>
              <a:t>MLflow</a:t>
            </a:r>
            <a:r>
              <a:rPr lang="en-US" dirty="0" smtClean="0"/>
              <a:t>?</a:t>
            </a:r>
          </a:p>
        </p:txBody>
      </p:sp>
      <p:pic>
        <p:nvPicPr>
          <p:cNvPr id="38914" name="Picture 2" descr="Feature Store workflow with online looku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5815" y="1947862"/>
            <a:ext cx="8886825" cy="43148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916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What is Managed </a:t>
            </a:r>
            <a:r>
              <a:rPr lang="en-US" dirty="0" err="1" smtClean="0"/>
              <a:t>MLflow</a:t>
            </a:r>
            <a:r>
              <a:rPr lang="en-US" dirty="0" smtClean="0"/>
              <a:t>?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138577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200000"/>
              </a:lnSpc>
            </a:pPr>
            <a:r>
              <a:rPr lang="en-US" sz="3100" b="1" dirty="0" smtClean="0"/>
              <a:t>Benefits</a:t>
            </a:r>
          </a:p>
          <a:p>
            <a:pPr>
              <a:lnSpc>
                <a:spcPct val="200000"/>
              </a:lnSpc>
            </a:pPr>
            <a:r>
              <a:rPr lang="en-US" sz="1800" b="1" dirty="0" smtClean="0"/>
              <a:t>Unified ML and Gen AI lifecycle</a:t>
            </a:r>
          </a:p>
          <a:p>
            <a:pPr>
              <a:lnSpc>
                <a:spcPct val="200000"/>
              </a:lnSpc>
            </a:pPr>
            <a:r>
              <a:rPr lang="en-US" sz="1800" dirty="0" smtClean="0"/>
              <a:t>Managed </a:t>
            </a:r>
            <a:r>
              <a:rPr lang="en-US" sz="1800" dirty="0" err="1" smtClean="0"/>
              <a:t>MLflow</a:t>
            </a:r>
            <a:r>
              <a:rPr lang="en-US" sz="1800" dirty="0" smtClean="0"/>
              <a:t> unifies classical ML, deep learning, and </a:t>
            </a:r>
            <a:r>
              <a:rPr lang="en-US" sz="1800" dirty="0" err="1" smtClean="0"/>
              <a:t>GenAI</a:t>
            </a:r>
            <a:r>
              <a:rPr lang="en-US" sz="1800" dirty="0" smtClean="0"/>
              <a:t> development in a single, streamlined workflow. From experiment tracking to deployment, it delivers consistent versioning, prompt management, and packaging across models and agents—eliminating the need to stitch together separate tools.</a:t>
            </a:r>
          </a:p>
        </p:txBody>
      </p:sp>
      <p:pic>
        <p:nvPicPr>
          <p:cNvPr id="23554" name="Picture 2" descr="Image of Databricks logo and conference details for Data + AI Summit 2025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1500" y="1638300"/>
            <a:ext cx="7810500" cy="5219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916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i="1" dirty="0" smtClean="0"/>
              <a:t>The Model Registry shows different version in different stages throughout their lifecycle.</a:t>
            </a:r>
            <a:endParaRPr lang="en-IN" dirty="0"/>
          </a:p>
        </p:txBody>
      </p:sp>
      <p:pic>
        <p:nvPicPr>
          <p:cNvPr id="7170" name="Picture 2" descr="MLflow Model Registry manages model stages throughout the lifecycle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4753" y="1415992"/>
            <a:ext cx="11430000" cy="53816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99832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i="1" dirty="0" smtClean="0"/>
              <a:t>Access Control Policies for </a:t>
            </a:r>
            <a:r>
              <a:rPr lang="en-US" i="1" dirty="0" err="1" smtClean="0"/>
              <a:t>Databricks</a:t>
            </a:r>
            <a:r>
              <a:rPr lang="en-US" i="1" dirty="0" smtClean="0"/>
              <a:t> Assets.</a:t>
            </a:r>
            <a:endParaRPr lang="en-IN" dirty="0"/>
          </a:p>
        </p:txBody>
      </p:sp>
      <p:pic>
        <p:nvPicPr>
          <p:cNvPr id="6146" name="Picture 2" descr="MLflow Model Registry provides an additional object to set policies on registered model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3053" y="1567481"/>
            <a:ext cx="8522599" cy="47939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62925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shown in the table </a:t>
            </a:r>
            <a:r>
              <a:rPr lang="en-US" dirty="0" smtClean="0"/>
              <a:t>in next slide, </a:t>
            </a:r>
            <a:r>
              <a:rPr lang="en-US" dirty="0" smtClean="0"/>
              <a:t>an administrator can assign four permission levels to models registered in the Model Registry: </a:t>
            </a:r>
            <a:endParaRPr lang="en-US" dirty="0" smtClean="0"/>
          </a:p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No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permissions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, 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Read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, 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Edit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, and 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Manage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. 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 smtClean="0"/>
              <a:t>Depending </a:t>
            </a:r>
            <a:r>
              <a:rPr lang="en-US" dirty="0" smtClean="0"/>
              <a:t>on team members’ requirements to access models, you can grant permissions to individual users or groups for each of the abilities shown below.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i="1" dirty="0" smtClean="0"/>
              <a:t>Table for Model Registry Access, Abilities and Permissions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0632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5769" y="1568568"/>
            <a:ext cx="8324879" cy="5175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 txBox="1">
            <a:spLocks/>
          </p:cNvSpPr>
          <p:nvPr/>
        </p:nvSpPr>
        <p:spPr>
          <a:xfrm>
            <a:off x="81006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Table for Model Registry Access, Abilities and Permissions</a:t>
            </a:r>
            <a:endParaRPr kumimoji="0" lang="en-IN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156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xmlns="" id="{32BC26D8-82FB-445E-AA49-62A77D7C1E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xmlns="" id="{CB44330D-EA18-4254-AA95-EB49948539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Model Registry UI is accessible from the </a:t>
            </a:r>
            <a:r>
              <a:rPr lang="en-US" dirty="0" err="1" smtClean="0"/>
              <a:t>Databricks</a:t>
            </a:r>
            <a:r>
              <a:rPr lang="en-US" dirty="0" smtClean="0"/>
              <a:t> workspace. From the Model Registry UI, you can conduct the following activities as part of your workflow:</a:t>
            </a:r>
          </a:p>
          <a:p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Register a model from the Run's page</a:t>
            </a:r>
          </a:p>
          <a:p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Edit a model version description</a:t>
            </a:r>
          </a:p>
          <a:p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Transition a model version</a:t>
            </a:r>
          </a:p>
          <a:p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View model version activities and annotations</a:t>
            </a:r>
          </a:p>
          <a:p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Display and search registered models</a:t>
            </a:r>
          </a:p>
          <a:p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Delete a model version</a:t>
            </a:r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688" y="138023"/>
            <a:ext cx="10515600" cy="1325563"/>
          </a:xfrm>
        </p:spPr>
        <p:txBody>
          <a:bodyPr/>
          <a:lstStyle/>
          <a:p>
            <a:r>
              <a:rPr lang="en-US" dirty="0" smtClean="0"/>
              <a:t>Model Registry UI Workflows</a:t>
            </a:r>
          </a:p>
        </p:txBody>
      </p:sp>
    </p:spTree>
    <p:extLst>
      <p:ext uri="{BB962C8B-B14F-4D97-AF65-F5344CB8AC3E}">
        <p14:creationId xmlns:p14="http://schemas.microsoft.com/office/powerpoint/2010/main" xmlns="" val="372776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Streamline </a:t>
            </a:r>
            <a:r>
              <a:rPr lang="en-US" dirty="0" err="1" smtClean="0"/>
              <a:t>MLOps</a:t>
            </a:r>
            <a:r>
              <a:rPr lang="en-US" dirty="0" smtClean="0"/>
              <a:t> With </a:t>
            </a:r>
            <a:r>
              <a:rPr lang="en-US" dirty="0" err="1" smtClean="0"/>
              <a:t>MLflow</a:t>
            </a:r>
            <a:r>
              <a:rPr lang="en-US" dirty="0" smtClean="0"/>
              <a:t> Model Registry </a:t>
            </a:r>
            <a:r>
              <a:rPr lang="en-US" dirty="0" err="1" smtClean="0"/>
              <a:t>Webhooks</a:t>
            </a:r>
            <a:endParaRPr lang="en-US" dirty="0"/>
          </a:p>
        </p:txBody>
      </p:sp>
      <p:pic>
        <p:nvPicPr>
          <p:cNvPr id="24578" name="Picture 2" descr="Databricks Model Registry Webhooks enable you to invoke automation scripts to implement MLOps on Databricks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19299" y="1513228"/>
            <a:ext cx="7676515" cy="51126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916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Development stage</a:t>
            </a:r>
            <a:endParaRPr lang="en-US" dirty="0"/>
          </a:p>
        </p:txBody>
      </p:sp>
      <p:pic>
        <p:nvPicPr>
          <p:cNvPr id="25602" name="Picture 2" descr="MLOps development stage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3316" y="1500026"/>
            <a:ext cx="8037539" cy="51940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916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How does </a:t>
            </a:r>
            <a:r>
              <a:rPr lang="en-US" dirty="0" err="1" smtClean="0"/>
              <a:t>Databricks</a:t>
            </a:r>
            <a:r>
              <a:rPr lang="en-US" dirty="0" smtClean="0"/>
              <a:t> support CI/CD for machine learning?</a:t>
            </a:r>
            <a:endParaRPr lang="en-US" dirty="0"/>
          </a:p>
        </p:txBody>
      </p:sp>
      <p:pic>
        <p:nvPicPr>
          <p:cNvPr id="26626" name="Picture 2" descr="End-to-end MLOps lifecycle diagram showing elements of CI/CD for ML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42340" y="1481580"/>
            <a:ext cx="7338060" cy="5240406"/>
          </a:xfrm>
          <a:prstGeom prst="rect">
            <a:avLst/>
          </a:prstGeom>
          <a:noFill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646160" y="1595119"/>
            <a:ext cx="3352800" cy="502920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050" b="1" dirty="0" smtClean="0"/>
              <a:t>CI/CD (continuous integration and continuous delivery) refers to an automated process for developing, deploying, monitoring, and maintaining your applications. </a:t>
            </a:r>
            <a:endParaRPr lang="en-US" sz="1050" b="1" dirty="0" smtClean="0"/>
          </a:p>
          <a:p>
            <a:pPr>
              <a:lnSpc>
                <a:spcPct val="200000"/>
              </a:lnSpc>
            </a:pPr>
            <a:r>
              <a:rPr lang="en-US" sz="1050" b="1" dirty="0" smtClean="0"/>
              <a:t>By </a:t>
            </a:r>
            <a:r>
              <a:rPr lang="en-US" sz="1050" b="1" dirty="0" smtClean="0"/>
              <a:t>automating the building, testing, and deployment of code, development teams can deliver releases more frequently and reliably than manual processes still prevalent across many data engineering and data science teams. </a:t>
            </a:r>
            <a:endParaRPr lang="en-US" sz="1050" b="1" dirty="0" smtClean="0"/>
          </a:p>
          <a:p>
            <a:pPr>
              <a:lnSpc>
                <a:spcPct val="200000"/>
              </a:lnSpc>
            </a:pPr>
            <a:r>
              <a:rPr lang="en-US" sz="1050" b="1" dirty="0" smtClean="0"/>
              <a:t>CI/CD </a:t>
            </a:r>
            <a:r>
              <a:rPr lang="en-US" sz="1050" b="1" dirty="0" smtClean="0"/>
              <a:t>for machine learning brings together techniques of </a:t>
            </a:r>
            <a:r>
              <a:rPr lang="en-US" sz="1050" b="1" dirty="0" err="1" smtClean="0"/>
              <a:t>MLOps</a:t>
            </a:r>
            <a:r>
              <a:rPr lang="en-US" sz="1050" b="1" dirty="0" smtClean="0"/>
              <a:t>, </a:t>
            </a:r>
            <a:r>
              <a:rPr lang="en-US" sz="1050" b="1" dirty="0" err="1" smtClean="0"/>
              <a:t>DataOps</a:t>
            </a:r>
            <a:r>
              <a:rPr lang="en-US" sz="1050" b="1" dirty="0" smtClean="0"/>
              <a:t>, </a:t>
            </a:r>
            <a:r>
              <a:rPr lang="en-US" sz="1050" b="1" dirty="0" err="1" smtClean="0"/>
              <a:t>ModelOps</a:t>
            </a:r>
            <a:r>
              <a:rPr lang="en-US" sz="1050" b="1" dirty="0" smtClean="0"/>
              <a:t>, and </a:t>
            </a:r>
            <a:r>
              <a:rPr lang="en-US" sz="1050" b="1" dirty="0" err="1" smtClean="0"/>
              <a:t>DevOps</a:t>
            </a:r>
            <a:r>
              <a:rPr lang="en-US" sz="1050" b="1" dirty="0" smtClean="0"/>
              <a:t>.</a:t>
            </a:r>
            <a:endParaRPr lang="en-US" sz="1800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31916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err="1" smtClean="0"/>
              <a:t>DataOps</a:t>
            </a:r>
            <a:r>
              <a:rPr lang="en-US" dirty="0" smtClean="0"/>
              <a:t>: Reliable and secure data</a:t>
            </a:r>
            <a:endParaRPr lang="en-US" dirty="0"/>
          </a:p>
        </p:txBody>
      </p:sp>
      <p:pic>
        <p:nvPicPr>
          <p:cNvPr id="27650" name="Picture 2" descr="DataOps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5975" y="1846896"/>
            <a:ext cx="10545848" cy="1526223"/>
          </a:xfrm>
          <a:prstGeom prst="rect">
            <a:avLst/>
          </a:prstGeom>
          <a:noFill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3677919"/>
            <a:ext cx="10368280" cy="249904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dirty="0" smtClean="0"/>
              <a:t>Good ML models depend on reliable data pipelines and infrastructure. With the </a:t>
            </a:r>
            <a:r>
              <a:rPr lang="en-US" sz="1600" dirty="0" err="1" smtClean="0"/>
              <a:t>Databricks</a:t>
            </a:r>
            <a:r>
              <a:rPr lang="en-US" sz="1600" dirty="0" smtClean="0"/>
              <a:t> Data Intelligence Platform, the entire data pipeline from ingesting data to the outputs from the served model is on a single platform and uses the same toolset, which facilitates productivity, reproducibility, sharing, and troubleshooting.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xmlns="" val="31916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err="1" smtClean="0"/>
              <a:t>ModelOps</a:t>
            </a:r>
            <a:r>
              <a:rPr lang="en-US" dirty="0" smtClean="0"/>
              <a:t>: Model development and lifecycle</a:t>
            </a:r>
            <a:endParaRPr lang="en-US" dirty="0"/>
          </a:p>
        </p:txBody>
      </p:sp>
      <p:pic>
        <p:nvPicPr>
          <p:cNvPr id="28674" name="Picture 2" descr="ModelOps diagra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8215" y="1577975"/>
            <a:ext cx="9144000" cy="2428875"/>
          </a:xfrm>
          <a:prstGeom prst="rect">
            <a:avLst/>
          </a:prstGeom>
          <a:noFill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89000" y="4043679"/>
            <a:ext cx="10368280" cy="249904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600" dirty="0" smtClean="0"/>
              <a:t>Developing a model requires a series of experiments and a way to track and compare the conditions and results of those experiments. The </a:t>
            </a:r>
            <a:r>
              <a:rPr lang="en-US" sz="1600" dirty="0" err="1" smtClean="0"/>
              <a:t>Databricks</a:t>
            </a:r>
            <a:r>
              <a:rPr lang="en-US" sz="1600" dirty="0" smtClean="0"/>
              <a:t> Data Intelligence Platform includes </a:t>
            </a:r>
            <a:r>
              <a:rPr lang="en-US" sz="1600" dirty="0" err="1" smtClean="0"/>
              <a:t>MLflow</a:t>
            </a:r>
            <a:r>
              <a:rPr lang="en-US" sz="1600" dirty="0" smtClean="0"/>
              <a:t> for model development tracking and the </a:t>
            </a:r>
            <a:r>
              <a:rPr lang="en-US" sz="1600" dirty="0" err="1" smtClean="0"/>
              <a:t>MLflow</a:t>
            </a:r>
            <a:r>
              <a:rPr lang="en-US" sz="1600" dirty="0" smtClean="0"/>
              <a:t> Model Registry to manage the model lifecycle including staging, serving, and storing model artifacts.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xmlns="" val="31916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Thanking you !!!</a:t>
            </a:r>
            <a:endParaRPr lang="en-IN" dirty="0"/>
          </a:p>
        </p:txBody>
      </p:sp>
      <p:pic>
        <p:nvPicPr>
          <p:cNvPr id="30722" name="Picture 2" descr="https://img.freepik.com/free-vector/thank-you-lettering_1262-696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4455" y="1729740"/>
            <a:ext cx="5962650" cy="42195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19165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 flipV="1">
            <a:off x="0" y="1328468"/>
            <a:ext cx="12192000" cy="17256"/>
          </a:xfrm>
          <a:prstGeom prst="line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5C6C31E2-064A-5F89-7D14-9F4B5C663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62" y="0"/>
            <a:ext cx="10515600" cy="1325563"/>
          </a:xfrm>
        </p:spPr>
        <p:txBody>
          <a:bodyPr/>
          <a:lstStyle/>
          <a:p>
            <a:r>
              <a:rPr lang="en-US" dirty="0" smtClean="0"/>
              <a:t>Reference</a:t>
            </a:r>
            <a:endParaRPr lang="en-IN" dirty="0"/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hlinkClick r:id="rId2"/>
              </a:rPr>
              <a:t>Extend </a:t>
            </a:r>
            <a:r>
              <a:rPr lang="en-US" dirty="0" err="1" smtClean="0">
                <a:hlinkClick r:id="rId2"/>
              </a:rPr>
              <a:t>MLflow</a:t>
            </a:r>
            <a:r>
              <a:rPr lang="en-US" dirty="0" smtClean="0">
                <a:hlinkClick r:id="rId2"/>
              </a:rPr>
              <a:t> Model Registry Features | </a:t>
            </a:r>
            <a:r>
              <a:rPr lang="en-US" dirty="0" err="1" smtClean="0">
                <a:hlinkClick r:id="rId2"/>
              </a:rPr>
              <a:t>Databricks</a:t>
            </a:r>
            <a:r>
              <a:rPr lang="en-US" dirty="0" smtClean="0">
                <a:hlinkClick r:id="rId2"/>
              </a:rPr>
              <a:t> </a:t>
            </a:r>
            <a:r>
              <a:rPr lang="en-US" dirty="0" smtClean="0">
                <a:hlinkClick r:id="rId2"/>
              </a:rPr>
              <a:t>Blog</a:t>
            </a:r>
            <a:endParaRPr lang="en-US" dirty="0" smtClean="0"/>
          </a:p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www.databricks.com/blog/2020/04/15/databricks-extends-mlflow-model-registry-with-enterprise-features.html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https://docs.databricks.com/aws/en/mlflow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docs.databricks.com/aws/en/machine-learning/mlops/mlops-workflow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learn.microsoft.com/en-us/azure/databricks/machine-learning/feature-store/online-feature-stores</a:t>
            </a:r>
            <a:endParaRPr lang="en-US" dirty="0" smtClean="0"/>
          </a:p>
          <a:p>
            <a:r>
              <a:rPr lang="en-US" dirty="0" smtClean="0">
                <a:hlinkClick r:id="rId6"/>
              </a:rPr>
              <a:t>https://</a:t>
            </a:r>
            <a:r>
              <a:rPr lang="en-US" dirty="0" smtClean="0">
                <a:hlinkClick r:id="rId6"/>
              </a:rPr>
              <a:t>learn.microsoft.com/en-us/training/modules/deploy-model-managed-online-endpoint/1-introduction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562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756</Words>
  <Application>Microsoft Office PowerPoint</Application>
  <PresentationFormat>Custom</PresentationFormat>
  <Paragraphs>80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Databricks and Azure ML</vt:lpstr>
      <vt:lpstr>What is MLflow?</vt:lpstr>
      <vt:lpstr>What is MLflow?</vt:lpstr>
      <vt:lpstr>What is MLflow?</vt:lpstr>
      <vt:lpstr>What is Databricks-managed MLflow ?</vt:lpstr>
      <vt:lpstr>What is MLflow?</vt:lpstr>
      <vt:lpstr>MLflow</vt:lpstr>
      <vt:lpstr>Slide 8</vt:lpstr>
      <vt:lpstr>Slide 9</vt:lpstr>
      <vt:lpstr>What is Managed MLflow?</vt:lpstr>
      <vt:lpstr>What is Managed MLflow?</vt:lpstr>
      <vt:lpstr>What is Managed MLflow?</vt:lpstr>
      <vt:lpstr>The Model Registry shows different version in different stages throughout their lifecycle.</vt:lpstr>
      <vt:lpstr>Access Control Policies for Databricks Assets.</vt:lpstr>
      <vt:lpstr>Table for Model Registry Access, Abilities and Permissions</vt:lpstr>
      <vt:lpstr>Slide 16</vt:lpstr>
      <vt:lpstr>Model Registry UI Workflows</vt:lpstr>
      <vt:lpstr>Streamline MLOps With MLflow Model Registry Webhooks</vt:lpstr>
      <vt:lpstr>Development stage</vt:lpstr>
      <vt:lpstr>How does Databricks support CI/CD for machine learning?</vt:lpstr>
      <vt:lpstr>DataOps: Reliable and secure data</vt:lpstr>
      <vt:lpstr>ModelOps: Model development and lifecycle</vt:lpstr>
      <vt:lpstr>Thanking you !!!</vt:lpstr>
      <vt:lpstr>Reference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Important ML Concepts</dc:title>
  <dc:creator>Prabhjot Singh Bakshi</dc:creator>
  <cp:lastModifiedBy>hp</cp:lastModifiedBy>
  <cp:revision>24</cp:revision>
  <dcterms:created xsi:type="dcterms:W3CDTF">2024-12-05T06:37:39Z</dcterms:created>
  <dcterms:modified xsi:type="dcterms:W3CDTF">2025-07-31T14:48:21Z</dcterms:modified>
</cp:coreProperties>
</file>