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88" r:id="rId2"/>
    <p:sldId id="289" r:id="rId3"/>
    <p:sldId id="292" r:id="rId4"/>
    <p:sldId id="290" r:id="rId5"/>
    <p:sldId id="259" r:id="rId6"/>
    <p:sldId id="260" r:id="rId7"/>
    <p:sldId id="261" r:id="rId8"/>
    <p:sldId id="270" r:id="rId9"/>
    <p:sldId id="276" r:id="rId10"/>
    <p:sldId id="280" r:id="rId11"/>
    <p:sldId id="285" r:id="rId12"/>
    <p:sldId id="293" r:id="rId13"/>
    <p:sldId id="262" r:id="rId14"/>
  </p:sldIdLst>
  <p:sldSz cx="9144000" cy="5143500" type="screen16x9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Playfair Display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54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04b1c608ea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04b1c608ea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1087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04b1c608ea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04b1c608ea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3152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04b1c608ea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04b1c608ea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7053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04b1c608ea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04b1c608ea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3895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04b1c608ea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04b1c608ea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04b1c608ea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04b1c608ea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04b1c608ea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04b1c608ea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04b1c608ea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04b1c608ea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12602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04b1c608ea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04b1c608ea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86944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04b1c608ea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04b1c608ea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81374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04b1c608ea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04b1c608ea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26770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04b1c608ea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04b1c608ea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oral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vizcatalogue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projector.tensorflow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eachablemachine.withgoogle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ramener.com/cricket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nscombe%27s_quarte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ramener.com/budget/?Year=2007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ramener.com/software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ramener.com/posters/Winning-Parties.pdf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hartio.com/learn/charts/how-to-choose-data-visualization/" TargetMode="External"/><Relationship Id="rId5" Type="http://schemas.openxmlformats.org/officeDocument/2006/relationships/hyperlink" Target="https://blog.hubspot.com/marketing/types-of-graphs-for-data-visualization#sm.000vodl7ch6rf7e112a2q13r9cno0" TargetMode="External"/><Relationship Id="rId4" Type="http://schemas.openxmlformats.org/officeDocument/2006/relationships/hyperlink" Target="https://blog.socialcops.com/intelligence/aging-population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db.com/?ref_=nv_hom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mdb.com/search/title/?sort=num_votes,desc&amp;start=1&amp;title_type=feature&amp;year=1950,2012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github.com/awesomedata/awesome-public-datasets" TargetMode="External"/><Relationship Id="rId7" Type="http://schemas.openxmlformats.org/officeDocument/2006/relationships/hyperlink" Target="https://archive.ics.uci.edu/ml/index.ph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datasets" TargetMode="External"/><Relationship Id="rId5" Type="http://schemas.openxmlformats.org/officeDocument/2006/relationships/hyperlink" Target="https://data.gov.in/" TargetMode="External"/><Relationship Id="rId4" Type="http://schemas.openxmlformats.org/officeDocument/2006/relationships/hyperlink" Target="https://github.com/datameet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earson_correlation_coefficien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8A0AD6A-8E9E-E146-29FC-674A3ABFD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979" y="674802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Data Visualization methods </a:t>
            </a:r>
            <a:endParaRPr lang="en-IN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930083E-843A-556F-6AF2-3E801E972E84}"/>
              </a:ext>
            </a:extLst>
          </p:cNvPr>
          <p:cNvSpPr txBox="1">
            <a:spLocks/>
          </p:cNvSpPr>
          <p:nvPr/>
        </p:nvSpPr>
        <p:spPr>
          <a:xfrm>
            <a:off x="644979" y="1037932"/>
            <a:ext cx="6078039" cy="2866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IN">
                <a:hlinkClick r:id="rId3"/>
              </a:rPr>
              <a:t>https://datavizcatalogue.com/</a:t>
            </a:r>
            <a:r>
              <a:rPr lang="en-IN"/>
              <a:t> 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B22B49-820D-6D7E-79D9-FDEE95E79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7829" y="1467277"/>
            <a:ext cx="5040000" cy="329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95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A3AC4F8-4E99-B135-E3E1-D9F4D234C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Multidimensional data</a:t>
            </a:r>
            <a:endParaRPr lang="en-I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4A4E859-FA38-48D4-D32C-4BB10FEAB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/>
          <a:lstStyle/>
          <a:p>
            <a:r>
              <a:rPr lang="en-IN" dirty="0">
                <a:hlinkClick r:id="rId3"/>
              </a:rPr>
              <a:t>http://projector.tensorflow.org/</a:t>
            </a:r>
            <a:endParaRPr lang="en-IN" dirty="0"/>
          </a:p>
          <a:p>
            <a:r>
              <a:rPr lang="en-US" dirty="0"/>
              <a:t>Visualize a 200 dimensional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371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D0CA667-B85C-37ED-A948-B8132D4E99BB}"/>
              </a:ext>
            </a:extLst>
          </p:cNvPr>
          <p:cNvSpPr>
            <a:spLocks noGrp="1"/>
          </p:cNvSpPr>
          <p:nvPr/>
        </p:nvSpPr>
        <p:spPr>
          <a:xfrm>
            <a:off x="819150" y="987447"/>
            <a:ext cx="7505700" cy="2866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2000" b="0" i="0" u="none" strike="noStrike" cap="none">
                <a:solidFill>
                  <a:schemeClr val="dk2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800" b="0" i="0" u="none" strike="noStrike" cap="none">
                <a:solidFill>
                  <a:schemeClr val="bg2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 dirty="0">
                <a:hlinkClick r:id="rId3"/>
              </a:rPr>
              <a:t>https://teachablemachine.withgoogle.com/</a:t>
            </a:r>
            <a:r>
              <a:rPr lang="en-IN" dirty="0"/>
              <a:t> </a:t>
            </a:r>
          </a:p>
          <a:p>
            <a:r>
              <a:rPr lang="en-US" dirty="0"/>
              <a:t>Click on Get started 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0C6BFE-8F52-7FBD-7D9F-9AD8223E2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000" y="1919867"/>
            <a:ext cx="6480000" cy="223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390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dirty="0"/>
              <a:t>Visualisations - Some Examples: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dirty="0">
                <a:hlinkClick r:id="rId3"/>
              </a:rPr>
              <a:t>ODI: Ind batting (gramener.com)</a:t>
            </a: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IN" dirty="0"/>
          </a:p>
        </p:txBody>
      </p:sp>
      <p:pic>
        <p:nvPicPr>
          <p:cNvPr id="3" name="Picture 2" descr="Chart, treemap chart&#10;&#10;Description automatically generated">
            <a:extLst>
              <a:ext uri="{FF2B5EF4-FFF2-40B4-BE49-F238E27FC236}">
                <a16:creationId xmlns:a16="http://schemas.microsoft.com/office/drawing/2014/main" id="{9ADAF8B4-2850-1A27-71C4-32E096280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7656" y="15382"/>
            <a:ext cx="5036456" cy="322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086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hlinkClick r:id="rId3"/>
              </a:rPr>
              <a:t>The Necessity of Data </a:t>
            </a:r>
            <a:r>
              <a:rPr lang="en-US" dirty="0" err="1">
                <a:hlinkClick r:id="rId3"/>
              </a:rPr>
              <a:t>Visualisation</a:t>
            </a:r>
            <a:endParaRPr lang="en-IN" dirty="0">
              <a:hlinkClick r:id="rId3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dirty="0">
                <a:hlinkClick r:id="rId3"/>
              </a:rPr>
              <a:t>Anscombe's quartet – Wikipedia</a:t>
            </a: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“numerical calculations are exact, but graphs are rough.”</a:t>
            </a:r>
            <a:endParaRPr dirty="0"/>
          </a:p>
        </p:txBody>
      </p:sp>
      <p:pic>
        <p:nvPicPr>
          <p:cNvPr id="2" name="Picture 1" descr="A group of people playing football&#10;&#10;Description automatically generated with medium confidence">
            <a:extLst>
              <a:ext uri="{FF2B5EF4-FFF2-40B4-BE49-F238E27FC236}">
                <a16:creationId xmlns:a16="http://schemas.microsoft.com/office/drawing/2014/main" id="{84F68388-BA0A-2DE3-1BA9-880C6C416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9250" y="17362"/>
            <a:ext cx="3602299" cy="19821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Geneva"/>
              </a:rPr>
              <a:t>How do markets react to the budget?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dirty="0">
                <a:hlinkClick r:id="rId3"/>
              </a:rPr>
              <a:t>India Budget History (gramener.com)</a:t>
            </a: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dirty="0"/>
              <a:t>Software ecosystem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dirty="0">
                <a:hlinkClick r:id="rId3"/>
              </a:rPr>
              <a:t>Software ecosystem (gramener.com)</a:t>
            </a: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dirty="0"/>
              <a:t>Choosing Plot Types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dirty="0"/>
              <a:t>Python code: 3_1 </a:t>
            </a:r>
            <a:r>
              <a:rPr lang="en-IN" dirty="0" err="1"/>
              <a:t>DataVIZ</a:t>
            </a: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dirty="0">
                <a:hlinkClick r:id="rId3"/>
              </a:rPr>
              <a:t>PowerPoint Presentation (gramener.com)</a:t>
            </a: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hlinkClick r:id="rId4"/>
              </a:rPr>
              <a:t>The World’s Aging Population Crisis: Visualizing Demographic Transition | </a:t>
            </a:r>
            <a:r>
              <a:rPr lang="en-US" dirty="0" err="1">
                <a:hlinkClick r:id="rId4"/>
              </a:rPr>
              <a:t>SocialCops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hlinkClick r:id="rId5"/>
              </a:rPr>
              <a:t>14 Best Types of Charts and Graphs for Data Visualization [+ Guide] (hubspot.com)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hlinkClick r:id="rId6"/>
              </a:rPr>
              <a:t>How to Choose the Right Data Visualization | Tutorial by </a:t>
            </a:r>
            <a:r>
              <a:rPr lang="en-US" dirty="0" err="1">
                <a:hlinkClick r:id="rId6"/>
              </a:rPr>
              <a:t>Chartio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2275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lang="en-US" b="1" i="0" dirty="0">
                <a:solidFill>
                  <a:srgbClr val="091E42"/>
                </a:solidFill>
                <a:effectLst/>
                <a:latin typeface="circular"/>
              </a:rPr>
              <a:t>Web Scraping-I</a:t>
            </a:r>
          </a:p>
          <a:p>
            <a:pPr marL="114300" indent="0" algn="just">
              <a:buNone/>
            </a:pPr>
            <a:r>
              <a:rPr lang="en-US" b="0" i="0" dirty="0">
                <a:solidFill>
                  <a:srgbClr val="091E42"/>
                </a:solidFill>
                <a:effectLst/>
                <a:latin typeface="freight-text-pro"/>
              </a:rPr>
              <a:t>The </a:t>
            </a:r>
            <a:r>
              <a:rPr lang="en-US" b="0" i="0" u="none" strike="noStrike" dirty="0">
                <a:solidFill>
                  <a:srgbClr val="4F8AFB"/>
                </a:solidFill>
                <a:effectLst/>
                <a:latin typeface="freight-text-pro"/>
                <a:hlinkClick r:id="rId3"/>
              </a:rPr>
              <a:t>IMDB</a:t>
            </a:r>
            <a:r>
              <a:rPr lang="en-US" b="0" i="0" dirty="0">
                <a:solidFill>
                  <a:srgbClr val="091E42"/>
                </a:solidFill>
                <a:effectLst/>
                <a:latin typeface="freight-text-pro"/>
              </a:rPr>
              <a:t> website provides movie-related information such as </a:t>
            </a:r>
            <a:r>
              <a:rPr lang="en-US" b="1" i="0" dirty="0">
                <a:solidFill>
                  <a:srgbClr val="091E42"/>
                </a:solidFill>
                <a:effectLst/>
                <a:latin typeface="freight-text-pro"/>
              </a:rPr>
              <a:t>release date, runtime duration, cast, genre, ratings, </a:t>
            </a:r>
            <a:r>
              <a:rPr lang="en-US" b="0" i="0" dirty="0">
                <a:solidFill>
                  <a:srgbClr val="091E42"/>
                </a:solidFill>
                <a:effectLst/>
                <a:latin typeface="freight-text-pro"/>
              </a:rPr>
              <a:t>etc. Now, consider a </a:t>
            </a:r>
            <a:r>
              <a:rPr lang="en-US" b="0" i="0" u="none" strike="noStrike" dirty="0">
                <a:solidFill>
                  <a:srgbClr val="4F8AFB"/>
                </a:solidFill>
                <a:effectLst/>
                <a:latin typeface="freight-text-pro"/>
                <a:hlinkClick r:id="rId4"/>
              </a:rPr>
              <a:t>specific webpage</a:t>
            </a:r>
            <a:r>
              <a:rPr lang="en-US" b="0" i="0" dirty="0">
                <a:solidFill>
                  <a:srgbClr val="091E42"/>
                </a:solidFill>
                <a:effectLst/>
                <a:latin typeface="freight-text-pro"/>
              </a:rPr>
              <a:t> on the IMDB website that lists the top-rated movies along with information about them. It lists the top 50 rated movies, the number of votes, etc. Now, what if you want to perform a deeper analysis to answer certain questions as follows?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91E42"/>
                </a:solidFill>
                <a:effectLst/>
                <a:latin typeface="freight-text-pro"/>
              </a:rPr>
              <a:t>Which director has the highest number of movies in the top 50 rated movies?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91E42"/>
                </a:solidFill>
                <a:effectLst/>
                <a:latin typeface="freight-text-pro"/>
              </a:rPr>
              <a:t>Which genre has the highest rating among the top 50 rated movies?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91E42"/>
                </a:solidFill>
                <a:effectLst/>
                <a:latin typeface="freight-text-pro"/>
              </a:rPr>
              <a:t>What is the gross expenditure of the lowest-rated movies as compared with the highest-rated ones?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1841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just" rtl="0"/>
            <a:r>
              <a:rPr lang="en-US" b="0" i="0" dirty="0">
                <a:solidFill>
                  <a:srgbClr val="091E42"/>
                </a:solidFill>
                <a:effectLst/>
                <a:latin typeface="freight-text-pro"/>
              </a:rPr>
              <a:t>Given below are the links to some public datasets. You may explore these open sources to get the data:</a:t>
            </a:r>
          </a:p>
          <a:p>
            <a:pPr algn="just" rtl="0"/>
            <a:r>
              <a:rPr lang="en-US" b="1" i="0" dirty="0">
                <a:solidFill>
                  <a:srgbClr val="091E42"/>
                </a:solidFill>
                <a:effectLst/>
                <a:latin typeface="freight-text-pro"/>
              </a:rPr>
              <a:t>GitHub:</a:t>
            </a:r>
            <a:r>
              <a:rPr lang="en-US" b="0" i="0" dirty="0">
                <a:solidFill>
                  <a:srgbClr val="091E42"/>
                </a:solidFill>
                <a:effectLst/>
                <a:latin typeface="freight-text-pro"/>
              </a:rPr>
              <a:t> </a:t>
            </a:r>
            <a:r>
              <a:rPr lang="en-US" b="0" i="0" u="none" strike="noStrike" dirty="0">
                <a:solidFill>
                  <a:srgbClr val="4F8AFB"/>
                </a:solidFill>
                <a:effectLst/>
                <a:latin typeface="freight-text-pro"/>
                <a:hlinkClick r:id="rId3"/>
              </a:rPr>
              <a:t>Awesome public data sets</a:t>
            </a:r>
            <a:r>
              <a:rPr lang="en-US" b="0" i="0" dirty="0">
                <a:solidFill>
                  <a:srgbClr val="091E42"/>
                </a:solidFill>
                <a:effectLst/>
                <a:latin typeface="freight-text-pro"/>
              </a:rPr>
              <a:t>, </a:t>
            </a:r>
            <a:r>
              <a:rPr lang="en-US" b="0" i="0" u="none" strike="noStrike" dirty="0" err="1">
                <a:solidFill>
                  <a:srgbClr val="4F8AFB"/>
                </a:solidFill>
                <a:effectLst/>
                <a:latin typeface="freight-text-pro"/>
                <a:hlinkClick r:id="rId4"/>
              </a:rPr>
              <a:t>Github</a:t>
            </a:r>
            <a:r>
              <a:rPr lang="en-US" b="0" i="0" u="none" strike="noStrike" dirty="0">
                <a:solidFill>
                  <a:srgbClr val="4F8AFB"/>
                </a:solidFill>
                <a:effectLst/>
                <a:latin typeface="freight-text-pro"/>
                <a:hlinkClick r:id="rId4"/>
              </a:rPr>
              <a:t> data sets</a:t>
            </a:r>
            <a:endParaRPr lang="en-US" b="0" i="0" dirty="0">
              <a:solidFill>
                <a:srgbClr val="091E42"/>
              </a:solidFill>
              <a:effectLst/>
              <a:latin typeface="freight-text-pro"/>
            </a:endParaRPr>
          </a:p>
          <a:p>
            <a:pPr algn="just" rtl="0"/>
            <a:r>
              <a:rPr lang="en-US" b="1" i="0" dirty="0">
                <a:solidFill>
                  <a:srgbClr val="091E42"/>
                </a:solidFill>
                <a:effectLst/>
                <a:latin typeface="freight-text-pro"/>
              </a:rPr>
              <a:t>Open government data set:</a:t>
            </a:r>
            <a:r>
              <a:rPr lang="en-US" b="0" i="0" dirty="0">
                <a:solidFill>
                  <a:srgbClr val="091E42"/>
                </a:solidFill>
                <a:effectLst/>
                <a:latin typeface="freight-text-pro"/>
              </a:rPr>
              <a:t> </a:t>
            </a:r>
            <a:r>
              <a:rPr lang="en-US" b="0" i="0" u="none" strike="noStrike" dirty="0">
                <a:solidFill>
                  <a:srgbClr val="4F8AFB"/>
                </a:solidFill>
                <a:effectLst/>
                <a:latin typeface="freight-text-pro"/>
                <a:hlinkClick r:id="rId5"/>
              </a:rPr>
              <a:t>Open Government data.</a:t>
            </a:r>
            <a:endParaRPr lang="en-US" b="0" i="0" dirty="0">
              <a:solidFill>
                <a:srgbClr val="091E42"/>
              </a:solidFill>
              <a:effectLst/>
              <a:latin typeface="freight-text-pro"/>
            </a:endParaRPr>
          </a:p>
          <a:p>
            <a:pPr algn="just" rtl="0"/>
            <a:r>
              <a:rPr lang="en-US" b="1" i="0" dirty="0">
                <a:solidFill>
                  <a:srgbClr val="091E42"/>
                </a:solidFill>
                <a:effectLst/>
                <a:latin typeface="freight-text-pro"/>
              </a:rPr>
              <a:t>Kaggle website link: </a:t>
            </a:r>
            <a:r>
              <a:rPr lang="en-US" b="0" i="0" u="none" strike="noStrike" dirty="0">
                <a:solidFill>
                  <a:srgbClr val="4F8AFB"/>
                </a:solidFill>
                <a:effectLst/>
                <a:latin typeface="freight-text-pro"/>
                <a:hlinkClick r:id="rId6"/>
              </a:rPr>
              <a:t>Kaggle Website</a:t>
            </a:r>
            <a:endParaRPr lang="en-US" b="0" i="0" dirty="0">
              <a:solidFill>
                <a:srgbClr val="091E42"/>
              </a:solidFill>
              <a:effectLst/>
              <a:latin typeface="freight-text-pro"/>
            </a:endParaRPr>
          </a:p>
          <a:p>
            <a:pPr algn="just" rtl="0"/>
            <a:r>
              <a:rPr lang="en-US" b="1" i="0" dirty="0">
                <a:solidFill>
                  <a:srgbClr val="091E42"/>
                </a:solidFill>
                <a:effectLst/>
                <a:latin typeface="freight-text-pro"/>
              </a:rPr>
              <a:t>UCI repository of machine learning: </a:t>
            </a:r>
            <a:r>
              <a:rPr lang="en-US" b="0" i="0" u="none" strike="noStrike" dirty="0">
                <a:solidFill>
                  <a:srgbClr val="4F8AFB"/>
                </a:solidFill>
                <a:effectLst/>
                <a:latin typeface="freight-text-pro"/>
                <a:hlinkClick r:id="rId7"/>
              </a:rPr>
              <a:t>UCI machine learning data set repository.</a:t>
            </a:r>
            <a:endParaRPr lang="en-US" b="0" i="0" dirty="0">
              <a:solidFill>
                <a:srgbClr val="091E42"/>
              </a:solidFill>
              <a:effectLst/>
              <a:latin typeface="freight-text-pro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E80AE81-3012-8E21-B564-B540F3C18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723121"/>
            <a:ext cx="3962400" cy="3090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8861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316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600" b="1" i="0" dirty="0">
                <a:solidFill>
                  <a:srgbClr val="091E42"/>
                </a:solidFill>
                <a:effectLst/>
                <a:latin typeface="freight-text-pro"/>
              </a:rPr>
              <a:t>Pearson’s r</a:t>
            </a:r>
            <a:r>
              <a:rPr lang="en-US" sz="3600" b="0" i="0" dirty="0">
                <a:solidFill>
                  <a:srgbClr val="091E42"/>
                </a:solidFill>
                <a:effectLst/>
                <a:latin typeface="freight-text-pro"/>
              </a:rPr>
              <a:t> </a:t>
            </a:r>
            <a:r>
              <a:rPr lang="en-US" b="0" i="0" dirty="0">
                <a:solidFill>
                  <a:srgbClr val="091E42"/>
                </a:solidFill>
                <a:effectLst/>
                <a:latin typeface="freight-text-pro"/>
              </a:rPr>
              <a:t>value is a metric to measure the correlation between 2 numerical entities. You can read more about it in the following </a:t>
            </a:r>
            <a:r>
              <a:rPr lang="en-US" b="0" i="0" u="none" strike="noStrike" dirty="0">
                <a:solidFill>
                  <a:srgbClr val="4F8AFB"/>
                </a:solidFill>
                <a:effectLst/>
                <a:latin typeface="freight-text-pro"/>
                <a:hlinkClick r:id="rId3"/>
              </a:rPr>
              <a:t>link</a:t>
            </a:r>
            <a:endParaRPr lang="en-US" b="0" i="0" u="none" strike="noStrike" dirty="0">
              <a:solidFill>
                <a:srgbClr val="4F8AFB"/>
              </a:solidFill>
              <a:effectLst/>
              <a:latin typeface="freight-text-pro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Scatter plots can show the trends for only 2 numeric variables. For understanding the relationships between 3 or more, you need to use other </a:t>
            </a:r>
            <a:r>
              <a:rPr lang="en-US" dirty="0" err="1"/>
              <a:t>visualisations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3507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09588-3F99-2E3C-04F1-CCA6A753E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372CF-4D53-2224-3419-6ED8D4C383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515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body" idx="1"/>
          </p:nvPr>
        </p:nvSpPr>
        <p:spPr>
          <a:xfrm>
            <a:off x="311700" y="1910850"/>
            <a:ext cx="8520600" cy="13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5300" b="1">
                <a:solidFill>
                  <a:srgbClr val="CC0000"/>
                </a:solidFill>
                <a:latin typeface="Palatino"/>
                <a:ea typeface="Palatino"/>
                <a:cs typeface="Palatino"/>
                <a:sym typeface="Palatino"/>
              </a:rPr>
              <a:t>THANK YOU</a:t>
            </a:r>
            <a:endParaRPr sz="5300" b="1">
              <a:solidFill>
                <a:srgbClr val="CC0000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386</Words>
  <Application>Microsoft Office PowerPoint</Application>
  <PresentationFormat>On-screen Show (16:9)</PresentationFormat>
  <Paragraphs>35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circular</vt:lpstr>
      <vt:lpstr>Lato</vt:lpstr>
      <vt:lpstr>Arial</vt:lpstr>
      <vt:lpstr>Palatino</vt:lpstr>
      <vt:lpstr>freight-text-pro</vt:lpstr>
      <vt:lpstr>Playfair Display</vt:lpstr>
      <vt:lpstr>Geneva</vt:lpstr>
      <vt:lpstr>Coral</vt:lpstr>
      <vt:lpstr>Data Visualization methods </vt:lpstr>
      <vt:lpstr>Multidimensional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haripriya nair</dc:creator>
  <cp:lastModifiedBy>sachin saxena</cp:lastModifiedBy>
  <cp:revision>100</cp:revision>
  <dcterms:modified xsi:type="dcterms:W3CDTF">2024-01-27T09:44:03Z</dcterms:modified>
</cp:coreProperties>
</file>