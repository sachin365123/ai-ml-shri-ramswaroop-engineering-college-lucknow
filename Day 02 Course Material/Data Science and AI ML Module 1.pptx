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54"/>
  </p:notesMasterIdLst>
  <p:sldIdLst>
    <p:sldId id="256" r:id="rId2"/>
    <p:sldId id="492" r:id="rId3"/>
    <p:sldId id="640" r:id="rId4"/>
    <p:sldId id="641" r:id="rId5"/>
    <p:sldId id="642" r:id="rId6"/>
    <p:sldId id="643" r:id="rId7"/>
    <p:sldId id="644" r:id="rId8"/>
    <p:sldId id="645" r:id="rId9"/>
    <p:sldId id="675" r:id="rId10"/>
    <p:sldId id="637" r:id="rId11"/>
    <p:sldId id="646" r:id="rId12"/>
    <p:sldId id="647" r:id="rId13"/>
    <p:sldId id="648" r:id="rId14"/>
    <p:sldId id="649" r:id="rId15"/>
    <p:sldId id="650" r:id="rId16"/>
    <p:sldId id="651" r:id="rId17"/>
    <p:sldId id="652" r:id="rId18"/>
    <p:sldId id="653" r:id="rId19"/>
    <p:sldId id="654" r:id="rId20"/>
    <p:sldId id="676" r:id="rId21"/>
    <p:sldId id="655" r:id="rId22"/>
    <p:sldId id="444" r:id="rId23"/>
    <p:sldId id="445" r:id="rId24"/>
    <p:sldId id="446" r:id="rId25"/>
    <p:sldId id="447" r:id="rId26"/>
    <p:sldId id="448" r:id="rId27"/>
    <p:sldId id="449" r:id="rId28"/>
    <p:sldId id="451" r:id="rId29"/>
    <p:sldId id="452" r:id="rId30"/>
    <p:sldId id="425" r:id="rId31"/>
    <p:sldId id="436" r:id="rId32"/>
    <p:sldId id="420" r:id="rId33"/>
    <p:sldId id="422" r:id="rId34"/>
    <p:sldId id="421" r:id="rId35"/>
    <p:sldId id="423" r:id="rId36"/>
    <p:sldId id="424" r:id="rId37"/>
    <p:sldId id="491" r:id="rId38"/>
    <p:sldId id="438" r:id="rId39"/>
    <p:sldId id="439" r:id="rId40"/>
    <p:sldId id="426" r:id="rId41"/>
    <p:sldId id="427" r:id="rId42"/>
    <p:sldId id="428" r:id="rId43"/>
    <p:sldId id="429" r:id="rId44"/>
    <p:sldId id="430" r:id="rId45"/>
    <p:sldId id="464" r:id="rId46"/>
    <p:sldId id="453" r:id="rId47"/>
    <p:sldId id="454" r:id="rId48"/>
    <p:sldId id="465" r:id="rId49"/>
    <p:sldId id="456" r:id="rId50"/>
    <p:sldId id="457" r:id="rId51"/>
    <p:sldId id="458" r:id="rId52"/>
    <p:sldId id="459" r:id="rId53"/>
  </p:sldIdLst>
  <p:sldSz cx="9144000" cy="5143500" type="screen16x9"/>
  <p:notesSz cx="6858000" cy="9144000"/>
  <p:embeddedFontLst>
    <p:embeddedFont>
      <p:font typeface="Georgia" pitchFamily="18" charset="0"/>
      <p:regular r:id="rId55"/>
      <p:bold r:id="rId56"/>
      <p:italic r:id="rId57"/>
      <p:boldItalic r:id="rId58"/>
    </p:embeddedFont>
    <p:embeddedFont>
      <p:font typeface="Nunito" charset="0"/>
      <p:regular r:id="rId59"/>
      <p:bold r:id="rId60"/>
      <p:italic r:id="rId61"/>
      <p:boldItalic r:id="rId62"/>
    </p:embeddedFont>
    <p:embeddedFont>
      <p:font typeface="Calibri" pitchFamily="34"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97" autoAdjust="0"/>
    <p:restoredTop sz="94660"/>
  </p:normalViewPr>
  <p:slideViewPr>
    <p:cSldViewPr snapToGrid="0">
      <p:cViewPr varScale="1">
        <p:scale>
          <a:sx n="116" d="100"/>
          <a:sy n="116" d="100"/>
        </p:scale>
        <p:origin x="-475" y="-82"/>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font" Target="fonts/font9.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61"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1f87997393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1f87997393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dirty="0"/>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latin typeface="Georgia" panose="02040502050405020303" pitchFamily="18" charset="0"/>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atin typeface="Georgia" panose="02040502050405020303" pitchFamily="18"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atin typeface="Georgia" panose="02040502050405020303" pitchFamily="18" charset="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dirty="0"/>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sz="2000">
                <a:latin typeface="Georgia" panose="02040502050405020303" pitchFamily="18" charset="0"/>
              </a:defRPr>
            </a:lvl1pPr>
            <a:lvl2pPr marL="914400" lvl="1" indent="-298450">
              <a:spcBef>
                <a:spcPts val="0"/>
              </a:spcBef>
              <a:spcAft>
                <a:spcPts val="0"/>
              </a:spcAft>
              <a:buSzPts val="1100"/>
              <a:buChar char="○"/>
              <a:defRPr sz="1800">
                <a:solidFill>
                  <a:schemeClr val="bg2"/>
                </a:solidFill>
                <a:latin typeface="Georgia" panose="02040502050405020303" pitchFamily="18" charset="0"/>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lang="en-US" dirty="0"/>
          </a:p>
          <a:p>
            <a:pPr lvl="1"/>
            <a:endParaRPr dirty="0"/>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atin typeface="Georgia" panose="02040502050405020303" pitchFamily="18" charset="0"/>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atin typeface="Georgia" panose="02040502050405020303" pitchFamily="18" charset="0"/>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atin typeface="Georgia" panose="02040502050405020303" pitchFamily="18" charset="0"/>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atin typeface="Georgia" panose="02040502050405020303" pitchFamily="18"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atin typeface="Georgia" panose="02040502050405020303" pitchFamily="18" charset="0"/>
              </a:defRPr>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atin typeface="Georgia" panose="02040502050405020303" pitchFamily="18"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atin typeface="Georgia" panose="02040502050405020303" pitchFamily="18" charset="0"/>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atin typeface="Georgia" panose="02040502050405020303" pitchFamily="18"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OC">
  <p:cSld name="SECTION_HEADER_1">
    <p:spTree>
      <p:nvGrpSpPr>
        <p:cNvPr id="1" name="Shape 124"/>
        <p:cNvGrpSpPr/>
        <p:nvPr/>
      </p:nvGrpSpPr>
      <p:grpSpPr>
        <a:xfrm>
          <a:off x="0" y="0"/>
          <a:ext cx="0" cy="0"/>
          <a:chOff x="0" y="0"/>
          <a:chExt cx="0" cy="0"/>
        </a:xfrm>
      </p:grpSpPr>
      <p:grpSp>
        <p:nvGrpSpPr>
          <p:cNvPr id="125" name="Google Shape;125;p13"/>
          <p:cNvGrpSpPr/>
          <p:nvPr/>
        </p:nvGrpSpPr>
        <p:grpSpPr>
          <a:xfrm>
            <a:off x="4406400" y="0"/>
            <a:ext cx="4737600" cy="5143065"/>
            <a:chOff x="4406400" y="0"/>
            <a:chExt cx="4737600" cy="5143065"/>
          </a:xfrm>
        </p:grpSpPr>
        <p:sp>
          <p:nvSpPr>
            <p:cNvPr id="126" name="Google Shape;126;p1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27" name="Google Shape;127;p1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28" name="Google Shape;128;p1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29" name="Google Shape;129;p1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0" name="Google Shape;130;p1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1" name="Google Shape;131;p1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2" name="Google Shape;132;p1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3" name="Google Shape;133;p1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4" name="Google Shape;134;p1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5" name="Google Shape;135;p1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6" name="Google Shape;136;p1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7" name="Google Shape;137;p1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8" name="Google Shape;138;p1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39" name="Google Shape;139;p1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40" name="Google Shape;140;p1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41" name="Google Shape;141;p1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42" name="Google Shape;142;p1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sp>
          <p:nvSpPr>
            <p:cNvPr id="143" name="Google Shape;143;p1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Georgia" panose="02040502050405020303" pitchFamily="18" charset="0"/>
              </a:endParaRPr>
            </a:p>
          </p:txBody>
        </p:sp>
      </p:grpSp>
      <p:sp>
        <p:nvSpPr>
          <p:cNvPr id="144" name="Google Shape;144;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Georgia" panose="02040502050405020303" pitchFamily="18" charset="0"/>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
        <p:nvSpPr>
          <p:cNvPr id="145" name="Google Shape;145;p1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atin typeface="Georgia" panose="02040502050405020303" pitchFamily="18" charset="0"/>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dirty="0"/>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dirty="0"/>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Georgia" panose="02040502050405020303" pitchFamily="18" charset="0"/>
                <a:ea typeface="Georgia" panose="02040502050405020303" pitchFamily="18" charset="0"/>
                <a:cs typeface="Georgia" panose="02040502050405020303" pitchFamily="18" charset="0"/>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fld id="{00000000-1234-1234-1234-123412341234}" type="slidenum">
              <a:rPr lang="en-GB" smtClean="0"/>
              <a:pPr/>
              <a:t>‹#›</a:t>
            </a:fld>
            <a:endParaRPr lang="en-GB"/>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6" r:id="rId6"/>
    <p:sldLayoutId id="2147483657" r:id="rId7"/>
    <p:sldLayoutId id="2147483658" r:id="rId8"/>
    <p:sldLayoutId id="2147483659" r:id="rId9"/>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Georgia" panose="02040502050405020303" pitchFamily="18" charset="0"/>
          <a:ea typeface="Georgia" panose="02040502050405020303"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cap="none">
          <a:solidFill>
            <a:srgbClr val="000000"/>
          </a:solidFill>
          <a:latin typeface="Georgia" panose="02040502050405020303" pitchFamily="18" charset="0"/>
          <a:ea typeface="Georgia" panose="02040502050405020303"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teachablemachine.withgoogle.com/"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datavizcatalogue.com/" TargetMode="Externa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hyperlink" Target="http://projector.tensorflow.org/" TargetMode="Externa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7"/>
          <p:cNvSpPr txBox="1">
            <a:spLocks noGrp="1"/>
          </p:cNvSpPr>
          <p:nvPr>
            <p:ph type="ctrTitle"/>
          </p:nvPr>
        </p:nvSpPr>
        <p:spPr>
          <a:xfrm>
            <a:off x="1858700" y="517002"/>
            <a:ext cx="5361300" cy="1448100"/>
          </a:xfrm>
          <a:prstGeom prst="rect">
            <a:avLst/>
          </a:prstGeom>
        </p:spPr>
        <p:txBody>
          <a:bodyPr spcFirstLastPara="1" wrap="square" lIns="91425" tIns="91425" rIns="91425" bIns="91425" anchor="ctr" anchorCtr="0">
            <a:normAutofit fontScale="90000"/>
          </a:bodyPr>
          <a:lstStyle/>
          <a:p>
            <a:r>
              <a:rPr lang="en-US" dirty="0" smtClean="0">
                <a:latin typeface="Georgia" panose="02040502050405020303" pitchFamily="18" charset="0"/>
              </a:rPr>
              <a:t>Artificial Intelligence, </a:t>
            </a:r>
            <a:r>
              <a:rPr lang="en-US" dirty="0">
                <a:latin typeface="Georgia" panose="02040502050405020303" pitchFamily="18" charset="0"/>
              </a:rPr>
              <a:t>Data analytics, Data Science</a:t>
            </a:r>
            <a:endParaRPr dirty="0">
              <a:latin typeface="Georgia" panose="02040502050405020303" pitchFamily="18" charset="0"/>
            </a:endParaRP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a:t>
            </a:fld>
            <a:endParaRPr lang="en-GB"/>
          </a:p>
        </p:txBody>
      </p:sp>
      <p:sp>
        <p:nvSpPr>
          <p:cNvPr id="6" name="Subtitle 5"/>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704415-E84E-3A8B-716C-8E91B535FD50}"/>
              </a:ext>
            </a:extLst>
          </p:cNvPr>
          <p:cNvSpPr>
            <a:spLocks noGrp="1"/>
          </p:cNvSpPr>
          <p:nvPr>
            <p:ph type="title"/>
          </p:nvPr>
        </p:nvSpPr>
        <p:spPr/>
        <p:txBody>
          <a:bodyPr/>
          <a:lstStyle/>
          <a:p>
            <a:r>
              <a:rPr lang="en-US" dirty="0"/>
              <a:t>Data Science</a:t>
            </a:r>
            <a:endParaRPr lang="en-IN" dirty="0"/>
          </a:p>
        </p:txBody>
      </p:sp>
      <p:sp>
        <p:nvSpPr>
          <p:cNvPr id="3" name="Slide Number Placeholder 2">
            <a:extLst>
              <a:ext uri="{FF2B5EF4-FFF2-40B4-BE49-F238E27FC236}">
                <a16:creationId xmlns="" xmlns:a16="http://schemas.microsoft.com/office/drawing/2014/main" id="{15AE9750-4810-5F3D-FF0C-643750A9B0F3}"/>
              </a:ext>
            </a:extLst>
          </p:cNvPr>
          <p:cNvSpPr>
            <a:spLocks noGrp="1"/>
          </p:cNvSpPr>
          <p:nvPr>
            <p:ph type="sldNum" idx="12"/>
          </p:nvPr>
        </p:nvSpPr>
        <p:spPr/>
        <p:txBody>
          <a:bodyPr/>
          <a:lstStyle/>
          <a:p>
            <a:fld id="{00000000-1234-1234-1234-123412341234}" type="slidenum">
              <a:rPr lang="en-GB" smtClean="0"/>
              <a:pPr/>
              <a:t>2</a:t>
            </a:fld>
            <a:endParaRPr lang="en-GB"/>
          </a:p>
        </p:txBody>
      </p:sp>
    </p:spTree>
    <p:extLst>
      <p:ext uri="{BB962C8B-B14F-4D97-AF65-F5344CB8AC3E}">
        <p14:creationId xmlns="" xmlns:p14="http://schemas.microsoft.com/office/powerpoint/2010/main" val="4118363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What is data science</a:t>
            </a:r>
            <a:endParaRPr lang="en-IN" dirty="0"/>
          </a:p>
        </p:txBody>
      </p:sp>
      <p:sp>
        <p:nvSpPr>
          <p:cNvPr id="3" name="Text Placeholder 2"/>
          <p:cNvSpPr>
            <a:spLocks noGrp="1"/>
          </p:cNvSpPr>
          <p:nvPr>
            <p:ph type="body" idx="1"/>
          </p:nvPr>
        </p:nvSpPr>
        <p:spPr>
          <a:xfrm>
            <a:off x="819150" y="1571861"/>
            <a:ext cx="5240284" cy="2866864"/>
          </a:xfrm>
        </p:spPr>
        <p:txBody>
          <a:bodyPr>
            <a:normAutofit fontScale="92500"/>
          </a:bodyPr>
          <a:lstStyle/>
          <a:p>
            <a:r>
              <a:rPr lang="en-US" dirty="0"/>
              <a:t>Data Science is a blend of various tools, algorithms, and machine learning principles with the goal to discover hidden patterns from the raw data.</a:t>
            </a:r>
          </a:p>
          <a:p>
            <a:r>
              <a:rPr lang="en-US" dirty="0"/>
              <a:t>It not only explains the data but also predicts from the same. </a:t>
            </a:r>
          </a:p>
          <a:p>
            <a:r>
              <a:rPr lang="en-US" dirty="0"/>
              <a:t>Data Analyst usually explains what is going on by processing history of the data</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a:t>
            </a:fld>
            <a:endParaRPr lang="en-GB"/>
          </a:p>
        </p:txBody>
      </p:sp>
      <p:grpSp>
        <p:nvGrpSpPr>
          <p:cNvPr id="8" name="Group 7"/>
          <p:cNvGrpSpPr/>
          <p:nvPr/>
        </p:nvGrpSpPr>
        <p:grpSpPr>
          <a:xfrm>
            <a:off x="5948126" y="1695501"/>
            <a:ext cx="2797519" cy="2619583"/>
            <a:chOff x="2797520" y="845602"/>
            <a:chExt cx="4427144" cy="4091668"/>
          </a:xfrm>
        </p:grpSpPr>
        <p:grpSp>
          <p:nvGrpSpPr>
            <p:cNvPr id="9" name="Group 8"/>
            <p:cNvGrpSpPr/>
            <p:nvPr/>
          </p:nvGrpSpPr>
          <p:grpSpPr>
            <a:xfrm>
              <a:off x="2797520" y="845602"/>
              <a:ext cx="4427144" cy="4091668"/>
              <a:chOff x="2708322" y="817589"/>
              <a:chExt cx="3826939" cy="3655771"/>
            </a:xfrm>
          </p:grpSpPr>
          <p:sp>
            <p:nvSpPr>
              <p:cNvPr id="14" name="Freeform 13"/>
              <p:cNvSpPr/>
              <p:nvPr/>
            </p:nvSpPr>
            <p:spPr>
              <a:xfrm>
                <a:off x="3352799" y="817589"/>
                <a:ext cx="2438400" cy="2438400"/>
              </a:xfrm>
              <a:custGeom>
                <a:avLst/>
                <a:gdLst>
                  <a:gd name="connsiteX0" fmla="*/ 0 w 2438400"/>
                  <a:gd name="connsiteY0" fmla="*/ 1219200 h 2438400"/>
                  <a:gd name="connsiteX1" fmla="*/ 1219200 w 2438400"/>
                  <a:gd name="connsiteY1" fmla="*/ 0 h 2438400"/>
                  <a:gd name="connsiteX2" fmla="*/ 2438400 w 2438400"/>
                  <a:gd name="connsiteY2" fmla="*/ 1219200 h 2438400"/>
                  <a:gd name="connsiteX3" fmla="*/ 1219200 w 2438400"/>
                  <a:gd name="connsiteY3" fmla="*/ 2438400 h 2438400"/>
                  <a:gd name="connsiteX4" fmla="*/ 0 w 2438400"/>
                  <a:gd name="connsiteY4" fmla="*/ 1219200 h 243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8400" h="2438400">
                    <a:moveTo>
                      <a:pt x="0" y="1219200"/>
                    </a:moveTo>
                    <a:cubicBezTo>
                      <a:pt x="0" y="545854"/>
                      <a:pt x="545854" y="0"/>
                      <a:pt x="1219200" y="0"/>
                    </a:cubicBezTo>
                    <a:cubicBezTo>
                      <a:pt x="1892546" y="0"/>
                      <a:pt x="2438400" y="545854"/>
                      <a:pt x="2438400" y="1219200"/>
                    </a:cubicBezTo>
                    <a:cubicBezTo>
                      <a:pt x="2438400" y="1892546"/>
                      <a:pt x="1892546" y="2438400"/>
                      <a:pt x="1219200" y="2438400"/>
                    </a:cubicBezTo>
                    <a:cubicBezTo>
                      <a:pt x="545854" y="2438400"/>
                      <a:pt x="0" y="1892546"/>
                      <a:pt x="0" y="1219200"/>
                    </a:cubicBezTo>
                    <a:close/>
                  </a:path>
                </a:pathLst>
              </a:custGeom>
              <a:solidFill>
                <a:srgbClr val="FF0000">
                  <a:alpha val="50000"/>
                </a:srgbClr>
              </a:solidFill>
            </p:spPr>
            <p:style>
              <a:lnRef idx="3">
                <a:schemeClr val="lt1">
                  <a:hueOff val="0"/>
                  <a:satOff val="0"/>
                  <a:lumOff val="0"/>
                  <a:alphaOff val="0"/>
                </a:schemeClr>
              </a:lnRef>
              <a:fillRef idx="1">
                <a:scrgbClr r="0" g="0" b="0"/>
              </a:fillRef>
              <a:effectRef idx="0">
                <a:schemeClr val="accent2">
                  <a:alpha val="50000"/>
                  <a:hueOff val="0"/>
                  <a:satOff val="0"/>
                  <a:lumOff val="0"/>
                  <a:alphaOff val="0"/>
                </a:schemeClr>
              </a:effectRef>
              <a:fontRef idx="minor">
                <a:schemeClr val="tx1"/>
              </a:fontRef>
            </p:style>
            <p:txBody>
              <a:bodyPr spcFirstLastPara="0" vert="horz" wrap="square" lIns="325121" tIns="426720" rIns="325119" bIns="914400" numCol="1" spcCol="1270" anchor="ctr" anchorCtr="0">
                <a:noAutofit/>
              </a:bodyPr>
              <a:lstStyle/>
              <a:p>
                <a:pPr lvl="0" algn="ctr" defTabSz="2578100">
                  <a:lnSpc>
                    <a:spcPct val="90000"/>
                  </a:lnSpc>
                  <a:spcBef>
                    <a:spcPct val="0"/>
                  </a:spcBef>
                  <a:spcAft>
                    <a:spcPct val="35000"/>
                  </a:spcAft>
                </a:pPr>
                <a:r>
                  <a:rPr lang="en-US" sz="10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Mathematics </a:t>
                </a:r>
              </a:p>
            </p:txBody>
          </p:sp>
          <p:sp>
            <p:nvSpPr>
              <p:cNvPr id="15" name="Freeform 14"/>
              <p:cNvSpPr/>
              <p:nvPr/>
            </p:nvSpPr>
            <p:spPr>
              <a:xfrm>
                <a:off x="4096861" y="2000335"/>
                <a:ext cx="2438400" cy="2438400"/>
              </a:xfrm>
              <a:custGeom>
                <a:avLst/>
                <a:gdLst>
                  <a:gd name="connsiteX0" fmla="*/ 0 w 2438400"/>
                  <a:gd name="connsiteY0" fmla="*/ 1219200 h 2438400"/>
                  <a:gd name="connsiteX1" fmla="*/ 1219200 w 2438400"/>
                  <a:gd name="connsiteY1" fmla="*/ 0 h 2438400"/>
                  <a:gd name="connsiteX2" fmla="*/ 2438400 w 2438400"/>
                  <a:gd name="connsiteY2" fmla="*/ 1219200 h 2438400"/>
                  <a:gd name="connsiteX3" fmla="*/ 1219200 w 2438400"/>
                  <a:gd name="connsiteY3" fmla="*/ 2438400 h 2438400"/>
                  <a:gd name="connsiteX4" fmla="*/ 0 w 2438400"/>
                  <a:gd name="connsiteY4" fmla="*/ 1219200 h 243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8400" h="2438400">
                    <a:moveTo>
                      <a:pt x="0" y="1219200"/>
                    </a:moveTo>
                    <a:cubicBezTo>
                      <a:pt x="0" y="545854"/>
                      <a:pt x="545854" y="0"/>
                      <a:pt x="1219200" y="0"/>
                    </a:cubicBezTo>
                    <a:cubicBezTo>
                      <a:pt x="1892546" y="0"/>
                      <a:pt x="2438400" y="545854"/>
                      <a:pt x="2438400" y="1219200"/>
                    </a:cubicBezTo>
                    <a:cubicBezTo>
                      <a:pt x="2438400" y="1892546"/>
                      <a:pt x="1892546" y="2438400"/>
                      <a:pt x="1219200" y="2438400"/>
                    </a:cubicBezTo>
                    <a:cubicBezTo>
                      <a:pt x="545854" y="2438400"/>
                      <a:pt x="0" y="1892546"/>
                      <a:pt x="0" y="1219200"/>
                    </a:cubicBezTo>
                    <a:close/>
                  </a:path>
                </a:pathLst>
              </a:custGeom>
              <a:solidFill>
                <a:schemeClr val="accent6">
                  <a:alpha val="50000"/>
                </a:schemeClr>
              </a:solidFill>
            </p:spPr>
            <p:style>
              <a:lnRef idx="3">
                <a:schemeClr val="lt1">
                  <a:hueOff val="0"/>
                  <a:satOff val="0"/>
                  <a:lumOff val="0"/>
                  <a:alphaOff val="0"/>
                </a:schemeClr>
              </a:lnRef>
              <a:fillRef idx="1">
                <a:scrgbClr r="0" g="0" b="0"/>
              </a:fillRef>
              <a:effectRef idx="0">
                <a:schemeClr val="accent2">
                  <a:alpha val="50000"/>
                  <a:hueOff val="0"/>
                  <a:satOff val="0"/>
                  <a:lumOff val="0"/>
                  <a:alphaOff val="0"/>
                </a:schemeClr>
              </a:effectRef>
              <a:fontRef idx="minor">
                <a:schemeClr val="tx1"/>
              </a:fontRef>
            </p:style>
            <p:txBody>
              <a:bodyPr spcFirstLastPara="0" vert="horz" wrap="square" lIns="745744" tIns="629920" rIns="229616" bIns="467360" numCol="1" spcCol="1270" anchor="ctr" anchorCtr="0">
                <a:noAutofit/>
              </a:bodyPr>
              <a:lstStyle/>
              <a:p>
                <a:pPr lvl="0" algn="ctr" defTabSz="2133600">
                  <a:lnSpc>
                    <a:spcPct val="90000"/>
                  </a:lnSpc>
                  <a:spcBef>
                    <a:spcPct val="0"/>
                  </a:spcBef>
                  <a:spcAft>
                    <a:spcPct val="35000"/>
                  </a:spcAft>
                </a:pPr>
                <a:endParaRPr lang="en-US" sz="1000" b="1" kern="1200" dirty="0">
                  <a:ln w="9525">
                    <a:solidFill>
                      <a:schemeClr val="bg1"/>
                    </a:solidFill>
                    <a:prstDash val="solid"/>
                  </a:ln>
                  <a:effectLst>
                    <a:outerShdw blurRad="12700" dist="38100" dir="2700000" algn="tl" rotWithShape="0">
                      <a:schemeClr val="bg1">
                        <a:lumMod val="50000"/>
                      </a:schemeClr>
                    </a:outerShdw>
                  </a:effectLst>
                </a:endParaRPr>
              </a:p>
              <a:p>
                <a:pPr lvl="0" algn="ctr" defTabSz="2133600">
                  <a:lnSpc>
                    <a:spcPct val="90000"/>
                  </a:lnSpc>
                  <a:spcBef>
                    <a:spcPct val="0"/>
                  </a:spcBef>
                  <a:spcAft>
                    <a:spcPct val="35000"/>
                  </a:spcAft>
                </a:pPr>
                <a:r>
                  <a:rPr lang="en-US" sz="1000" b="1" kern="1200" dirty="0">
                    <a:ln w="9525">
                      <a:solidFill>
                        <a:schemeClr val="bg1"/>
                      </a:solidFill>
                      <a:prstDash val="solid"/>
                    </a:ln>
                    <a:effectLst>
                      <a:outerShdw blurRad="12700" dist="38100" dir="2700000" algn="tl" rotWithShape="0">
                        <a:schemeClr val="bg1">
                          <a:lumMod val="50000"/>
                        </a:schemeClr>
                      </a:outerShdw>
                    </a:effectLst>
                  </a:rPr>
                  <a:t>  Computer </a:t>
                </a:r>
              </a:p>
              <a:p>
                <a:pPr lvl="0" algn="ctr" defTabSz="2133600">
                  <a:lnSpc>
                    <a:spcPct val="90000"/>
                  </a:lnSpc>
                  <a:spcBef>
                    <a:spcPct val="0"/>
                  </a:spcBef>
                  <a:spcAft>
                    <a:spcPct val="35000"/>
                  </a:spcAft>
                </a:pPr>
                <a:r>
                  <a:rPr lang="en-US" sz="1000" b="1" kern="1200" dirty="0">
                    <a:ln w="9525">
                      <a:solidFill>
                        <a:schemeClr val="bg1"/>
                      </a:solidFill>
                      <a:prstDash val="solid"/>
                    </a:ln>
                    <a:effectLst>
                      <a:outerShdw blurRad="12700" dist="38100" dir="2700000" algn="tl" rotWithShape="0">
                        <a:schemeClr val="bg1">
                          <a:lumMod val="50000"/>
                        </a:schemeClr>
                      </a:outerShdw>
                    </a:effectLst>
                  </a:rPr>
                  <a:t>Science</a:t>
                </a:r>
              </a:p>
            </p:txBody>
          </p:sp>
          <p:sp>
            <p:nvSpPr>
              <p:cNvPr id="16" name="Freeform 15"/>
              <p:cNvSpPr/>
              <p:nvPr/>
            </p:nvSpPr>
            <p:spPr>
              <a:xfrm>
                <a:off x="2708322" y="2034960"/>
                <a:ext cx="2438400" cy="2438400"/>
              </a:xfrm>
              <a:custGeom>
                <a:avLst/>
                <a:gdLst>
                  <a:gd name="connsiteX0" fmla="*/ 0 w 2438400"/>
                  <a:gd name="connsiteY0" fmla="*/ 1219200 h 2438400"/>
                  <a:gd name="connsiteX1" fmla="*/ 1219200 w 2438400"/>
                  <a:gd name="connsiteY1" fmla="*/ 0 h 2438400"/>
                  <a:gd name="connsiteX2" fmla="*/ 2438400 w 2438400"/>
                  <a:gd name="connsiteY2" fmla="*/ 1219200 h 2438400"/>
                  <a:gd name="connsiteX3" fmla="*/ 1219200 w 2438400"/>
                  <a:gd name="connsiteY3" fmla="*/ 2438400 h 2438400"/>
                  <a:gd name="connsiteX4" fmla="*/ 0 w 2438400"/>
                  <a:gd name="connsiteY4" fmla="*/ 1219200 h 243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8400" h="2438400">
                    <a:moveTo>
                      <a:pt x="0" y="1219200"/>
                    </a:moveTo>
                    <a:cubicBezTo>
                      <a:pt x="0" y="545854"/>
                      <a:pt x="545854" y="0"/>
                      <a:pt x="1219200" y="0"/>
                    </a:cubicBezTo>
                    <a:cubicBezTo>
                      <a:pt x="1892546" y="0"/>
                      <a:pt x="2438400" y="545854"/>
                      <a:pt x="2438400" y="1219200"/>
                    </a:cubicBezTo>
                    <a:cubicBezTo>
                      <a:pt x="2438400" y="1892546"/>
                      <a:pt x="1892546" y="2438400"/>
                      <a:pt x="1219200" y="2438400"/>
                    </a:cubicBezTo>
                    <a:cubicBezTo>
                      <a:pt x="545854" y="2438400"/>
                      <a:pt x="0" y="1892546"/>
                      <a:pt x="0" y="1219200"/>
                    </a:cubicBezTo>
                    <a:close/>
                  </a:path>
                </a:pathLst>
              </a:custGeom>
              <a:solidFill>
                <a:srgbClr val="92D050">
                  <a:alpha val="50000"/>
                </a:srgbClr>
              </a:solidFill>
            </p:spPr>
            <p:style>
              <a:lnRef idx="3">
                <a:schemeClr val="lt1">
                  <a:hueOff val="0"/>
                  <a:satOff val="0"/>
                  <a:lumOff val="0"/>
                  <a:alphaOff val="0"/>
                </a:schemeClr>
              </a:lnRef>
              <a:fillRef idx="1">
                <a:scrgbClr r="0" g="0" b="0"/>
              </a:fillRef>
              <a:effectRef idx="0">
                <a:schemeClr val="accent2">
                  <a:alpha val="50000"/>
                  <a:hueOff val="0"/>
                  <a:satOff val="0"/>
                  <a:lumOff val="0"/>
                  <a:alphaOff val="0"/>
                </a:schemeClr>
              </a:effectRef>
              <a:fontRef idx="minor">
                <a:schemeClr val="tx1"/>
              </a:fontRef>
            </p:style>
            <p:txBody>
              <a:bodyPr spcFirstLastPara="0" vert="horz" wrap="square" lIns="229616" tIns="629920" rIns="745744" bIns="467360" numCol="1" spcCol="1270" anchor="ctr" anchorCtr="0">
                <a:noAutofit/>
              </a:bodyPr>
              <a:lstStyle/>
              <a:p>
                <a:pPr lvl="0" algn="ctr" defTabSz="2133600">
                  <a:lnSpc>
                    <a:spcPct val="90000"/>
                  </a:lnSpc>
                  <a:spcBef>
                    <a:spcPct val="0"/>
                  </a:spcBef>
                  <a:spcAft>
                    <a:spcPct val="35000"/>
                  </a:spcAft>
                </a:pPr>
                <a:r>
                  <a:rPr lang="en-US" sz="1000" b="1" kern="1200" dirty="0">
                    <a:ln w="9525">
                      <a:solidFill>
                        <a:schemeClr val="bg1"/>
                      </a:solidFill>
                      <a:prstDash val="solid"/>
                    </a:ln>
                    <a:effectLst>
                      <a:outerShdw blurRad="12700" dist="38100" dir="2700000" algn="tl" rotWithShape="0">
                        <a:schemeClr val="bg1">
                          <a:lumMod val="50000"/>
                        </a:schemeClr>
                      </a:outerShdw>
                    </a:effectLst>
                  </a:rPr>
                  <a:t>Domain </a:t>
                </a:r>
              </a:p>
              <a:p>
                <a:pPr lvl="0" algn="ctr" defTabSz="2133600">
                  <a:lnSpc>
                    <a:spcPct val="90000"/>
                  </a:lnSpc>
                  <a:spcBef>
                    <a:spcPct val="0"/>
                  </a:spcBef>
                  <a:spcAft>
                    <a:spcPct val="35000"/>
                  </a:spcAft>
                </a:pPr>
                <a:r>
                  <a:rPr lang="en-US" sz="1000" b="1" kern="1200" dirty="0">
                    <a:ln w="9525">
                      <a:solidFill>
                        <a:schemeClr val="bg1"/>
                      </a:solidFill>
                      <a:prstDash val="solid"/>
                    </a:ln>
                    <a:effectLst>
                      <a:outerShdw blurRad="12700" dist="38100" dir="2700000" algn="tl" rotWithShape="0">
                        <a:schemeClr val="bg1">
                          <a:lumMod val="50000"/>
                        </a:schemeClr>
                      </a:outerShdw>
                    </a:effectLst>
                  </a:rPr>
                  <a:t>Expert</a:t>
                </a:r>
              </a:p>
            </p:txBody>
          </p:sp>
        </p:grpSp>
        <p:sp>
          <p:nvSpPr>
            <p:cNvPr id="10" name="Rectangle 9"/>
            <p:cNvSpPr/>
            <p:nvPr/>
          </p:nvSpPr>
          <p:spPr>
            <a:xfrm>
              <a:off x="5087366" y="2102391"/>
              <a:ext cx="1276541" cy="804025"/>
            </a:xfrm>
            <a:prstGeom prst="rect">
              <a:avLst/>
            </a:prstGeom>
          </p:spPr>
          <p:txBody>
            <a:bodyPr wrap="square">
              <a:spAutoFit/>
            </a:bodyPr>
            <a:lstStyle/>
            <a:p>
              <a:pPr lvl="0" algn="ctr" defTabSz="2133600">
                <a:lnSpc>
                  <a:spcPct val="90000"/>
                </a:lnSpc>
                <a:spcBef>
                  <a:spcPct val="0"/>
                </a:spcBef>
                <a:spcAft>
                  <a:spcPct val="35000"/>
                </a:spcAft>
              </a:pPr>
              <a:endPar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lvl="0" algn="ctr" defTabSz="2133600">
                <a:lnSpc>
                  <a:spcPct val="90000"/>
                </a:lnSpc>
                <a:spcBef>
                  <a:spcPct val="0"/>
                </a:spcBef>
                <a:spcAft>
                  <a:spcPct val="35000"/>
                </a:spcAft>
              </a:pPr>
              <a:r>
                <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Machine Learning</a:t>
              </a:r>
            </a:p>
          </p:txBody>
        </p:sp>
        <p:sp>
          <p:nvSpPr>
            <p:cNvPr id="11" name="Rectangle 10"/>
            <p:cNvSpPr/>
            <p:nvPr/>
          </p:nvSpPr>
          <p:spPr>
            <a:xfrm>
              <a:off x="4315219" y="3488092"/>
              <a:ext cx="1365153" cy="533613"/>
            </a:xfrm>
            <a:prstGeom prst="rect">
              <a:avLst/>
            </a:prstGeom>
          </p:spPr>
          <p:txBody>
            <a:bodyPr wrap="square">
              <a:spAutoFit/>
            </a:bodyPr>
            <a:lstStyle/>
            <a:p>
              <a:pPr lvl="0" algn="ctr" defTabSz="2133600">
                <a:lnSpc>
                  <a:spcPct val="90000"/>
                </a:lnSpc>
                <a:spcBef>
                  <a:spcPct val="0"/>
                </a:spcBef>
                <a:spcAft>
                  <a:spcPct val="35000"/>
                </a:spcAft>
              </a:pPr>
              <a:r>
                <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Data Processing</a:t>
              </a:r>
            </a:p>
          </p:txBody>
        </p:sp>
        <p:sp>
          <p:nvSpPr>
            <p:cNvPr id="12" name="Rectangle 11"/>
            <p:cNvSpPr/>
            <p:nvPr/>
          </p:nvSpPr>
          <p:spPr>
            <a:xfrm>
              <a:off x="3481054" y="2162225"/>
              <a:ext cx="1276541" cy="804025"/>
            </a:xfrm>
            <a:prstGeom prst="rect">
              <a:avLst/>
            </a:prstGeom>
          </p:spPr>
          <p:txBody>
            <a:bodyPr wrap="square">
              <a:spAutoFit/>
            </a:bodyPr>
            <a:lstStyle/>
            <a:p>
              <a:pPr lvl="0" algn="ctr" defTabSz="2133600">
                <a:lnSpc>
                  <a:spcPct val="90000"/>
                </a:lnSpc>
                <a:spcBef>
                  <a:spcPct val="0"/>
                </a:spcBef>
                <a:spcAft>
                  <a:spcPct val="35000"/>
                </a:spcAft>
              </a:pPr>
              <a:endPar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lvl="0" algn="ctr" defTabSz="2133600">
                <a:lnSpc>
                  <a:spcPct val="90000"/>
                </a:lnSpc>
                <a:spcBef>
                  <a:spcPct val="0"/>
                </a:spcBef>
                <a:spcAft>
                  <a:spcPct val="35000"/>
                </a:spcAft>
              </a:pPr>
              <a:r>
                <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Statistical Research</a:t>
              </a:r>
            </a:p>
          </p:txBody>
        </p:sp>
        <p:sp>
          <p:nvSpPr>
            <p:cNvPr id="13" name="Rectangle 12"/>
            <p:cNvSpPr/>
            <p:nvPr/>
          </p:nvSpPr>
          <p:spPr>
            <a:xfrm>
              <a:off x="4341811" y="2614830"/>
              <a:ext cx="1276541" cy="804025"/>
            </a:xfrm>
            <a:prstGeom prst="rect">
              <a:avLst/>
            </a:prstGeom>
          </p:spPr>
          <p:txBody>
            <a:bodyPr wrap="square">
              <a:spAutoFit/>
            </a:bodyPr>
            <a:lstStyle/>
            <a:p>
              <a:pPr lvl="0" algn="ctr" defTabSz="2133600">
                <a:lnSpc>
                  <a:spcPct val="90000"/>
                </a:lnSpc>
                <a:spcBef>
                  <a:spcPct val="0"/>
                </a:spcBef>
                <a:spcAft>
                  <a:spcPct val="35000"/>
                </a:spcAft>
              </a:pPr>
              <a:endPar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lvl="0" algn="ctr" defTabSz="2133600">
                <a:lnSpc>
                  <a:spcPct val="90000"/>
                </a:lnSpc>
                <a:spcBef>
                  <a:spcPct val="0"/>
                </a:spcBef>
                <a:spcAft>
                  <a:spcPct val="35000"/>
                </a:spcAft>
              </a:pPr>
              <a:r>
                <a:rPr lang="en-US" sz="900" b="1" kern="120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Data Science</a:t>
              </a:r>
            </a:p>
          </p:txBody>
        </p:sp>
      </p:grpSp>
    </p:spTree>
    <p:extLst>
      <p:ext uri="{BB962C8B-B14F-4D97-AF65-F5344CB8AC3E}">
        <p14:creationId xmlns="" xmlns:p14="http://schemas.microsoft.com/office/powerpoint/2010/main" val="3695225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analysis vs Data Science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a:t>
            </a:fld>
            <a:endParaRPr lang="en-GB"/>
          </a:p>
        </p:txBody>
      </p:sp>
      <p:pic>
        <p:nvPicPr>
          <p:cNvPr id="7" name="Picture 6"/>
          <p:cNvPicPr>
            <a:picLocks noChangeAspect="1"/>
          </p:cNvPicPr>
          <p:nvPr/>
        </p:nvPicPr>
        <p:blipFill>
          <a:blip r:embed="rId2"/>
          <a:stretch>
            <a:fillRect/>
          </a:stretch>
        </p:blipFill>
        <p:spPr>
          <a:xfrm>
            <a:off x="1930072" y="1457480"/>
            <a:ext cx="4981575" cy="3095625"/>
          </a:xfrm>
          <a:prstGeom prst="rect">
            <a:avLst/>
          </a:prstGeom>
        </p:spPr>
      </p:pic>
    </p:spTree>
    <p:extLst>
      <p:ext uri="{BB962C8B-B14F-4D97-AF65-F5344CB8AC3E}">
        <p14:creationId xmlns="" xmlns:p14="http://schemas.microsoft.com/office/powerpoint/2010/main" val="2888243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IN" dirty="0"/>
              <a:t>Why Data Science?</a:t>
            </a:r>
          </a:p>
        </p:txBody>
      </p:sp>
      <p:sp>
        <p:nvSpPr>
          <p:cNvPr id="3" name="Text Placeholder 2"/>
          <p:cNvSpPr>
            <a:spLocks noGrp="1"/>
          </p:cNvSpPr>
          <p:nvPr>
            <p:ph type="body" idx="1"/>
          </p:nvPr>
        </p:nvSpPr>
        <p:spPr>
          <a:xfrm>
            <a:off x="819150" y="1571861"/>
            <a:ext cx="7505700" cy="2866864"/>
          </a:xfrm>
        </p:spPr>
        <p:txBody>
          <a:bodyPr/>
          <a:lstStyle/>
          <a:p>
            <a:r>
              <a:rPr lang="en-US" dirty="0"/>
              <a:t>Traditionally the data was structured and analysis was comparatively easy. </a:t>
            </a:r>
          </a:p>
          <a:p>
            <a:r>
              <a:rPr lang="en-US" dirty="0"/>
              <a:t>Now, more than 80% of the data is unstructured and traditional methods cannot work on such data </a:t>
            </a:r>
          </a:p>
          <a:p>
            <a:r>
              <a:rPr lang="en-US" dirty="0"/>
              <a:t>Also, very specific requirements from the customer about existing data raises the demand for data science.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5</a:t>
            </a:fld>
            <a:endParaRPr lang="en-GB"/>
          </a:p>
        </p:txBody>
      </p:sp>
    </p:spTree>
    <p:extLst>
      <p:ext uri="{BB962C8B-B14F-4D97-AF65-F5344CB8AC3E}">
        <p14:creationId xmlns="" xmlns:p14="http://schemas.microsoft.com/office/powerpoint/2010/main" val="754661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Applications of Data Science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6</a:t>
            </a:fld>
            <a:endParaRPr lang="en-GB"/>
          </a:p>
        </p:txBody>
      </p:sp>
      <p:pic>
        <p:nvPicPr>
          <p:cNvPr id="7" name="Picture 6"/>
          <p:cNvPicPr>
            <a:picLocks noChangeAspect="1"/>
          </p:cNvPicPr>
          <p:nvPr/>
        </p:nvPicPr>
        <p:blipFill>
          <a:blip r:embed="rId2"/>
          <a:stretch>
            <a:fillRect/>
          </a:stretch>
        </p:blipFill>
        <p:spPr>
          <a:xfrm>
            <a:off x="1127136" y="1571861"/>
            <a:ext cx="6889728" cy="2872124"/>
          </a:xfrm>
          <a:prstGeom prst="rect">
            <a:avLst/>
          </a:prstGeom>
        </p:spPr>
      </p:pic>
    </p:spTree>
    <p:extLst>
      <p:ext uri="{BB962C8B-B14F-4D97-AF65-F5344CB8AC3E}">
        <p14:creationId xmlns="" xmlns:p14="http://schemas.microsoft.com/office/powerpoint/2010/main" val="667204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Applications of Data Science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7</a:t>
            </a:fld>
            <a:endParaRPr lang="en-GB"/>
          </a:p>
        </p:txBody>
      </p:sp>
      <p:pic>
        <p:nvPicPr>
          <p:cNvPr id="7" name="Picture 6"/>
          <p:cNvPicPr>
            <a:picLocks noChangeAspect="1"/>
          </p:cNvPicPr>
          <p:nvPr/>
        </p:nvPicPr>
        <p:blipFill>
          <a:blip r:embed="rId2"/>
          <a:stretch>
            <a:fillRect/>
          </a:stretch>
        </p:blipFill>
        <p:spPr>
          <a:xfrm>
            <a:off x="1019135" y="1553438"/>
            <a:ext cx="6809943" cy="2885287"/>
          </a:xfrm>
          <a:prstGeom prst="rect">
            <a:avLst/>
          </a:prstGeom>
        </p:spPr>
      </p:pic>
    </p:spTree>
    <p:extLst>
      <p:ext uri="{BB962C8B-B14F-4D97-AF65-F5344CB8AC3E}">
        <p14:creationId xmlns="" xmlns:p14="http://schemas.microsoft.com/office/powerpoint/2010/main" val="369305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Applications of Data Science</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8</a:t>
            </a:fld>
            <a:endParaRPr lang="en-GB"/>
          </a:p>
        </p:txBody>
      </p:sp>
      <p:pic>
        <p:nvPicPr>
          <p:cNvPr id="7" name="Picture 6"/>
          <p:cNvPicPr>
            <a:picLocks noChangeAspect="1"/>
          </p:cNvPicPr>
          <p:nvPr/>
        </p:nvPicPr>
        <p:blipFill>
          <a:blip r:embed="rId2"/>
          <a:stretch>
            <a:fillRect/>
          </a:stretch>
        </p:blipFill>
        <p:spPr>
          <a:xfrm>
            <a:off x="343372" y="1700885"/>
            <a:ext cx="8457256" cy="2010169"/>
          </a:xfrm>
          <a:prstGeom prst="rect">
            <a:avLst/>
          </a:prstGeom>
        </p:spPr>
      </p:pic>
    </p:spTree>
    <p:extLst>
      <p:ext uri="{BB962C8B-B14F-4D97-AF65-F5344CB8AC3E}">
        <p14:creationId xmlns="" xmlns:p14="http://schemas.microsoft.com/office/powerpoint/2010/main" val="4023689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
            </a:r>
            <a:br>
              <a:rPr lang="en-US" dirty="0"/>
            </a:br>
            <a:r>
              <a:rPr lang="en-US" dirty="0"/>
              <a:t/>
            </a:r>
            <a:br>
              <a:rPr lang="en-US" dirty="0"/>
            </a:br>
            <a:r>
              <a:rPr lang="en-US" dirty="0"/>
              <a:t>An Example with Data Science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9</a:t>
            </a:fld>
            <a:endParaRPr lang="en-GB"/>
          </a:p>
        </p:txBody>
      </p:sp>
    </p:spTree>
    <p:extLst>
      <p:ext uri="{BB962C8B-B14F-4D97-AF65-F5344CB8AC3E}">
        <p14:creationId xmlns="" xmlns:p14="http://schemas.microsoft.com/office/powerpoint/2010/main" val="1862637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Problem Scoping</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10</a:t>
            </a:fld>
            <a:endParaRPr lang="en-GB"/>
          </a:p>
        </p:txBody>
      </p:sp>
      <p:pic>
        <p:nvPicPr>
          <p:cNvPr id="20" name="Picture 19"/>
          <p:cNvPicPr>
            <a:picLocks noChangeAspect="1"/>
          </p:cNvPicPr>
          <p:nvPr/>
        </p:nvPicPr>
        <p:blipFill>
          <a:blip r:embed="rId2"/>
          <a:stretch>
            <a:fillRect/>
          </a:stretch>
        </p:blipFill>
        <p:spPr>
          <a:xfrm>
            <a:off x="238125" y="2200485"/>
            <a:ext cx="8667750" cy="2133600"/>
          </a:xfrm>
          <a:prstGeom prst="rect">
            <a:avLst/>
          </a:prstGeom>
        </p:spPr>
      </p:pic>
      <p:sp>
        <p:nvSpPr>
          <p:cNvPr id="21" name="Text Placeholder 2"/>
          <p:cNvSpPr>
            <a:spLocks noGrp="1"/>
          </p:cNvSpPr>
          <p:nvPr>
            <p:ph type="body" idx="1"/>
          </p:nvPr>
        </p:nvSpPr>
        <p:spPr>
          <a:xfrm>
            <a:off x="819150" y="1571861"/>
            <a:ext cx="7505700" cy="2866864"/>
          </a:xfrm>
        </p:spPr>
        <p:txBody>
          <a:bodyPr/>
          <a:lstStyle/>
          <a:p>
            <a:r>
              <a:rPr lang="en-US" dirty="0"/>
              <a:t>Who?</a:t>
            </a:r>
            <a:endParaRPr lang="en-IN" dirty="0"/>
          </a:p>
        </p:txBody>
      </p:sp>
    </p:spTree>
    <p:extLst>
      <p:ext uri="{BB962C8B-B14F-4D97-AF65-F5344CB8AC3E}">
        <p14:creationId xmlns="" xmlns:p14="http://schemas.microsoft.com/office/powerpoint/2010/main" val="2461710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What?</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11</a:t>
            </a:fld>
            <a:endParaRPr lang="en-GB"/>
          </a:p>
        </p:txBody>
      </p:sp>
      <p:pic>
        <p:nvPicPr>
          <p:cNvPr id="7" name="Picture 6"/>
          <p:cNvPicPr>
            <a:picLocks noChangeAspect="1"/>
          </p:cNvPicPr>
          <p:nvPr/>
        </p:nvPicPr>
        <p:blipFill>
          <a:blip r:embed="rId2"/>
          <a:stretch>
            <a:fillRect/>
          </a:stretch>
        </p:blipFill>
        <p:spPr>
          <a:xfrm>
            <a:off x="243109" y="2225471"/>
            <a:ext cx="8696325" cy="2295525"/>
          </a:xfrm>
          <a:prstGeom prst="rect">
            <a:avLst/>
          </a:prstGeom>
        </p:spPr>
      </p:pic>
    </p:spTree>
    <p:extLst>
      <p:ext uri="{BB962C8B-B14F-4D97-AF65-F5344CB8AC3E}">
        <p14:creationId xmlns="" xmlns:p14="http://schemas.microsoft.com/office/powerpoint/2010/main" val="1480728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Where?</a:t>
            </a:r>
          </a:p>
          <a:p>
            <a:endParaRPr lang="en-US" dirty="0"/>
          </a:p>
          <a:p>
            <a:endParaRPr lang="en-US" dirty="0"/>
          </a:p>
          <a:p>
            <a:endParaRPr lang="en-US" dirty="0"/>
          </a:p>
          <a:p>
            <a:r>
              <a:rPr lang="en-US" dirty="0"/>
              <a:t>Why?</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12</a:t>
            </a:fld>
            <a:endParaRPr lang="en-GB"/>
          </a:p>
        </p:txBody>
      </p:sp>
      <p:pic>
        <p:nvPicPr>
          <p:cNvPr id="7" name="Picture 6"/>
          <p:cNvPicPr>
            <a:picLocks noChangeAspect="1"/>
          </p:cNvPicPr>
          <p:nvPr/>
        </p:nvPicPr>
        <p:blipFill>
          <a:blip r:embed="rId2"/>
          <a:stretch>
            <a:fillRect/>
          </a:stretch>
        </p:blipFill>
        <p:spPr>
          <a:xfrm>
            <a:off x="238125" y="2033587"/>
            <a:ext cx="8667750" cy="1076325"/>
          </a:xfrm>
          <a:prstGeom prst="rect">
            <a:avLst/>
          </a:prstGeom>
        </p:spPr>
      </p:pic>
      <p:pic>
        <p:nvPicPr>
          <p:cNvPr id="8" name="Picture 7"/>
          <p:cNvPicPr>
            <a:picLocks noChangeAspect="1"/>
          </p:cNvPicPr>
          <p:nvPr/>
        </p:nvPicPr>
        <p:blipFill>
          <a:blip r:embed="rId3"/>
          <a:stretch>
            <a:fillRect/>
          </a:stretch>
        </p:blipFill>
        <p:spPr>
          <a:xfrm>
            <a:off x="238125" y="3359144"/>
            <a:ext cx="7683657" cy="1743988"/>
          </a:xfrm>
          <a:prstGeom prst="rect">
            <a:avLst/>
          </a:prstGeom>
        </p:spPr>
      </p:pic>
    </p:spTree>
    <p:extLst>
      <p:ext uri="{BB962C8B-B14F-4D97-AF65-F5344CB8AC3E}">
        <p14:creationId xmlns="" xmlns:p14="http://schemas.microsoft.com/office/powerpoint/2010/main" val="834158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Problem Statement</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13</a:t>
            </a:fld>
            <a:endParaRPr lang="en-GB"/>
          </a:p>
        </p:txBody>
      </p:sp>
      <p:pic>
        <p:nvPicPr>
          <p:cNvPr id="7" name="Picture 6"/>
          <p:cNvPicPr>
            <a:picLocks noChangeAspect="1"/>
          </p:cNvPicPr>
          <p:nvPr/>
        </p:nvPicPr>
        <p:blipFill>
          <a:blip r:embed="rId2"/>
          <a:stretch>
            <a:fillRect/>
          </a:stretch>
        </p:blipFill>
        <p:spPr>
          <a:xfrm>
            <a:off x="223837" y="1885148"/>
            <a:ext cx="8696325" cy="1952625"/>
          </a:xfrm>
          <a:prstGeom prst="rect">
            <a:avLst/>
          </a:prstGeom>
        </p:spPr>
      </p:pic>
    </p:spTree>
    <p:extLst>
      <p:ext uri="{BB962C8B-B14F-4D97-AF65-F5344CB8AC3E}">
        <p14:creationId xmlns="" xmlns:p14="http://schemas.microsoft.com/office/powerpoint/2010/main" val="3461823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Acquisition</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14</a:t>
            </a:fld>
            <a:endParaRPr lang="en-GB"/>
          </a:p>
        </p:txBody>
      </p:sp>
      <p:pic>
        <p:nvPicPr>
          <p:cNvPr id="7" name="Picture 6"/>
          <p:cNvPicPr>
            <a:picLocks noChangeAspect="1"/>
          </p:cNvPicPr>
          <p:nvPr/>
        </p:nvPicPr>
        <p:blipFill>
          <a:blip r:embed="rId2"/>
          <a:stretch>
            <a:fillRect/>
          </a:stretch>
        </p:blipFill>
        <p:spPr>
          <a:xfrm>
            <a:off x="328477" y="1481177"/>
            <a:ext cx="8343900" cy="3409950"/>
          </a:xfrm>
          <a:prstGeom prst="rect">
            <a:avLst/>
          </a:prstGeom>
        </p:spPr>
      </p:pic>
    </p:spTree>
    <p:extLst>
      <p:ext uri="{BB962C8B-B14F-4D97-AF65-F5344CB8AC3E}">
        <p14:creationId xmlns="" xmlns:p14="http://schemas.microsoft.com/office/powerpoint/2010/main" val="615334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mapping</a:t>
            </a:r>
            <a:endParaRPr lang="en-IN" dirty="0"/>
          </a:p>
        </p:txBody>
      </p:sp>
      <p:sp>
        <p:nvSpPr>
          <p:cNvPr id="3" name="Text Placeholder 2"/>
          <p:cNvSpPr>
            <a:spLocks noGrp="1"/>
          </p:cNvSpPr>
          <p:nvPr>
            <p:ph type="body" idx="1"/>
          </p:nvPr>
        </p:nvSpPr>
        <p:spPr>
          <a:xfrm>
            <a:off x="425513" y="1571861"/>
            <a:ext cx="3983525" cy="2866864"/>
          </a:xfrm>
        </p:spPr>
        <p:txBody>
          <a:bodyPr>
            <a:normAutofit fontScale="92500" lnSpcReduction="10000"/>
          </a:bodyPr>
          <a:lstStyle/>
          <a:p>
            <a:r>
              <a:rPr lang="en-US" dirty="0"/>
              <a:t>Connect them to make a decision tree </a:t>
            </a:r>
          </a:p>
          <a:p>
            <a:r>
              <a:rPr lang="en-US" dirty="0"/>
              <a:t>Elements: </a:t>
            </a:r>
          </a:p>
          <a:p>
            <a:pPr lvl="1"/>
            <a:r>
              <a:rPr lang="en-US" dirty="0"/>
              <a:t>Dish Quantity </a:t>
            </a:r>
          </a:p>
          <a:p>
            <a:pPr lvl="1"/>
            <a:r>
              <a:rPr lang="en-US" dirty="0"/>
              <a:t>Dish Price </a:t>
            </a:r>
          </a:p>
          <a:p>
            <a:pPr lvl="1"/>
            <a:r>
              <a:rPr lang="en-US" dirty="0"/>
              <a:t>Total Customers </a:t>
            </a:r>
          </a:p>
          <a:p>
            <a:pPr lvl="1"/>
            <a:r>
              <a:rPr lang="en-US" dirty="0"/>
              <a:t>Dish consumption </a:t>
            </a:r>
          </a:p>
          <a:p>
            <a:pPr lvl="1"/>
            <a:r>
              <a:rPr lang="en-US" dirty="0"/>
              <a:t>Quantity for next day </a:t>
            </a:r>
          </a:p>
          <a:p>
            <a:pPr lvl="1"/>
            <a:r>
              <a:rPr lang="en-US" dirty="0"/>
              <a:t>Unconsumed dish quantity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15</a:t>
            </a:fld>
            <a:endParaRPr lang="en-GB"/>
          </a:p>
        </p:txBody>
      </p:sp>
      <p:pic>
        <p:nvPicPr>
          <p:cNvPr id="7" name="Picture 6"/>
          <p:cNvPicPr>
            <a:picLocks noChangeAspect="1"/>
          </p:cNvPicPr>
          <p:nvPr/>
        </p:nvPicPr>
        <p:blipFill>
          <a:blip r:embed="rId2"/>
          <a:stretch>
            <a:fillRect/>
          </a:stretch>
        </p:blipFill>
        <p:spPr>
          <a:xfrm>
            <a:off x="4245132" y="1481177"/>
            <a:ext cx="4320000" cy="3402280"/>
          </a:xfrm>
          <a:prstGeom prst="rect">
            <a:avLst/>
          </a:prstGeom>
        </p:spPr>
      </p:pic>
    </p:spTree>
    <p:extLst>
      <p:ext uri="{BB962C8B-B14F-4D97-AF65-F5344CB8AC3E}">
        <p14:creationId xmlns="" xmlns:p14="http://schemas.microsoft.com/office/powerpoint/2010/main" val="2291998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Exploration</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After creating the database, we now need to look at the data collected and understand what is required out of it. </a:t>
            </a:r>
          </a:p>
          <a:p>
            <a:r>
              <a:rPr lang="en-US" dirty="0"/>
              <a:t>In this case, since the goal of our project is to be able to predict the quantity of food to be prepared for the next day, we need to have the following data: </a:t>
            </a:r>
            <a:br>
              <a:rPr lang="en-US" dirty="0"/>
            </a:b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16</a:t>
            </a:fld>
            <a:endParaRPr lang="en-GB"/>
          </a:p>
        </p:txBody>
      </p:sp>
      <p:pic>
        <p:nvPicPr>
          <p:cNvPr id="7" name="Picture 6"/>
          <p:cNvPicPr>
            <a:picLocks noChangeAspect="1"/>
          </p:cNvPicPr>
          <p:nvPr/>
        </p:nvPicPr>
        <p:blipFill>
          <a:blip r:embed="rId2"/>
          <a:stretch>
            <a:fillRect/>
          </a:stretch>
        </p:blipFill>
        <p:spPr>
          <a:xfrm>
            <a:off x="1624012" y="3502218"/>
            <a:ext cx="5895975" cy="1238250"/>
          </a:xfrm>
          <a:prstGeom prst="rect">
            <a:avLst/>
          </a:prstGeom>
        </p:spPr>
      </p:pic>
    </p:spTree>
    <p:extLst>
      <p:ext uri="{BB962C8B-B14F-4D97-AF65-F5344CB8AC3E}">
        <p14:creationId xmlns="" xmlns:p14="http://schemas.microsoft.com/office/powerpoint/2010/main" val="1217884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Modeling</a:t>
            </a:r>
            <a:endParaRPr lang="en-IN" dirty="0"/>
          </a:p>
        </p:txBody>
      </p:sp>
      <p:sp>
        <p:nvSpPr>
          <p:cNvPr id="3" name="Text Placeholder 2"/>
          <p:cNvSpPr>
            <a:spLocks noGrp="1"/>
          </p:cNvSpPr>
          <p:nvPr>
            <p:ph type="body" idx="1"/>
          </p:nvPr>
        </p:nvSpPr>
        <p:spPr>
          <a:xfrm>
            <a:off x="819150" y="1571861"/>
            <a:ext cx="7505700" cy="2866864"/>
          </a:xfrm>
        </p:spPr>
        <p:txBody>
          <a:bodyPr>
            <a:normAutofit fontScale="85000" lnSpcReduction="10000"/>
          </a:bodyPr>
          <a:lstStyle/>
          <a:p>
            <a:r>
              <a:rPr lang="en-US" dirty="0"/>
              <a:t>A regression model is chosen in which the dataset is fed as a </a:t>
            </a:r>
            <a:r>
              <a:rPr lang="en-US" dirty="0" err="1"/>
              <a:t>dataframe</a:t>
            </a:r>
            <a:r>
              <a:rPr lang="en-US" dirty="0"/>
              <a:t> and is trained accordingly. </a:t>
            </a:r>
          </a:p>
          <a:p>
            <a:r>
              <a:rPr lang="en-US" dirty="0"/>
              <a:t>Since in our case the data which we have is a continuous data of 30 days, we can use the regression model so that it predicts the next</a:t>
            </a:r>
            <a:br>
              <a:rPr lang="en-US" dirty="0"/>
            </a:br>
            <a:r>
              <a:rPr lang="en-US" dirty="0"/>
              <a:t>values to it in a similar manner. </a:t>
            </a:r>
          </a:p>
          <a:p>
            <a:r>
              <a:rPr lang="en-US" dirty="0"/>
              <a:t>In this case, the dataset of 30 days is divided in a ratio of 2:1 for training</a:t>
            </a:r>
            <a:br>
              <a:rPr lang="en-US" dirty="0"/>
            </a:br>
            <a:r>
              <a:rPr lang="en-US" dirty="0"/>
              <a:t>and testing respectively. </a:t>
            </a:r>
          </a:p>
          <a:p>
            <a:r>
              <a:rPr lang="en-US" dirty="0"/>
              <a:t>In this case, the model is first trained on the 20-day data and then gets</a:t>
            </a:r>
            <a:br>
              <a:rPr lang="en-US" dirty="0"/>
            </a:br>
            <a:r>
              <a:rPr lang="en-US" dirty="0"/>
              <a:t>evaluated for the rest of the 10 days.</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17</a:t>
            </a:fld>
            <a:endParaRPr lang="en-GB"/>
          </a:p>
        </p:txBody>
      </p:sp>
    </p:spTree>
    <p:extLst>
      <p:ext uri="{BB962C8B-B14F-4D97-AF65-F5344CB8AC3E}">
        <p14:creationId xmlns="" xmlns:p14="http://schemas.microsoft.com/office/powerpoint/2010/main" val="2226462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Evaluation</a:t>
            </a:r>
            <a:endParaRPr lang="en-IN" dirty="0"/>
          </a:p>
        </p:txBody>
      </p:sp>
      <p:sp>
        <p:nvSpPr>
          <p:cNvPr id="3" name="Text Placeholder 2"/>
          <p:cNvSpPr>
            <a:spLocks noGrp="1"/>
          </p:cNvSpPr>
          <p:nvPr>
            <p:ph type="body" idx="1"/>
          </p:nvPr>
        </p:nvSpPr>
        <p:spPr>
          <a:xfrm>
            <a:off x="819150" y="1571861"/>
            <a:ext cx="7505700" cy="3289850"/>
          </a:xfrm>
        </p:spPr>
        <p:txBody>
          <a:bodyPr>
            <a:normAutofit fontScale="85000" lnSpcReduction="10000"/>
          </a:bodyPr>
          <a:lstStyle/>
          <a:p>
            <a:r>
              <a:rPr lang="en-US" dirty="0"/>
              <a:t>Once the model has been trained on the training dataset of 20 days, it is now time to see if the model is working properly or not </a:t>
            </a:r>
          </a:p>
          <a:p>
            <a:endParaRPr lang="en-US" b="1" dirty="0"/>
          </a:p>
          <a:p>
            <a:r>
              <a:rPr lang="en-US" b="1" dirty="0"/>
              <a:t>Step 1</a:t>
            </a:r>
            <a:r>
              <a:rPr lang="en-US" dirty="0"/>
              <a:t>: The trained model is fed data regards the name of the dish and the quantity produced for the same.</a:t>
            </a:r>
            <a:br>
              <a:rPr lang="en-US" dirty="0"/>
            </a:br>
            <a:r>
              <a:rPr lang="en-US" b="1" dirty="0"/>
              <a:t>Step 2</a:t>
            </a:r>
            <a:r>
              <a:rPr lang="en-US" dirty="0"/>
              <a:t>: It is then fed data regards the quantity of food left unconsumed for the same dish on previous occasions. </a:t>
            </a:r>
          </a:p>
          <a:p>
            <a:r>
              <a:rPr lang="en-US" b="1" dirty="0"/>
              <a:t>Step 3</a:t>
            </a:r>
            <a:r>
              <a:rPr lang="en-US" dirty="0"/>
              <a:t>: The model then works upon the entries according to the training it got at the modelling stage. </a:t>
            </a:r>
          </a:p>
          <a:p>
            <a:r>
              <a:rPr lang="en-US" b="1" dirty="0"/>
              <a:t>Step 4</a:t>
            </a:r>
            <a:r>
              <a:rPr lang="en-US" dirty="0"/>
              <a:t>: The Model predicts the quantity of food to be prepared for the next day.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18</a:t>
            </a:fld>
            <a:endParaRPr lang="en-GB"/>
          </a:p>
        </p:txBody>
      </p:sp>
    </p:spTree>
    <p:extLst>
      <p:ext uri="{BB962C8B-B14F-4D97-AF65-F5344CB8AC3E}">
        <p14:creationId xmlns="" xmlns:p14="http://schemas.microsoft.com/office/powerpoint/2010/main" val="136465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endParaRPr lang="en-IN" dirty="0"/>
          </a:p>
        </p:txBody>
      </p:sp>
      <p:sp>
        <p:nvSpPr>
          <p:cNvPr id="3" name="Text Placeholder 2"/>
          <p:cNvSpPr>
            <a:spLocks noGrp="1"/>
          </p:cNvSpPr>
          <p:nvPr>
            <p:ph type="body" idx="1"/>
          </p:nvPr>
        </p:nvSpPr>
        <p:spPr>
          <a:xfrm>
            <a:off x="819150" y="1571860"/>
            <a:ext cx="7505700" cy="3365407"/>
          </a:xfrm>
        </p:spPr>
        <p:txBody>
          <a:bodyPr>
            <a:normAutofit fontScale="85000" lnSpcReduction="20000"/>
          </a:bodyPr>
          <a:lstStyle/>
          <a:p>
            <a:r>
              <a:rPr lang="en-US" b="1" dirty="0"/>
              <a:t>Step 5</a:t>
            </a:r>
            <a:r>
              <a:rPr lang="en-US" dirty="0"/>
              <a:t>: The prediction is compared to the testing dataset value. From the testing dataset, ideally, we can say that the quantity of food to be produced for next day’s consumption should be the total quantity minus the unconsumed quantity.</a:t>
            </a:r>
            <a:br>
              <a:rPr lang="en-US" dirty="0"/>
            </a:br>
            <a:r>
              <a:rPr lang="en-US" b="1" dirty="0"/>
              <a:t>Step 6</a:t>
            </a:r>
            <a:r>
              <a:rPr lang="en-US" dirty="0"/>
              <a:t>: The model is tested for 10 testing datasets kept aside while training.</a:t>
            </a:r>
            <a:br>
              <a:rPr lang="en-US" dirty="0"/>
            </a:br>
            <a:r>
              <a:rPr lang="en-US" b="1" dirty="0"/>
              <a:t>Step 7</a:t>
            </a:r>
            <a:r>
              <a:rPr lang="en-US" dirty="0"/>
              <a:t>: Prediction values of testing dataset is compared to the actual values.</a:t>
            </a:r>
            <a:br>
              <a:rPr lang="en-US" dirty="0"/>
            </a:br>
            <a:r>
              <a:rPr lang="en-US" b="1" dirty="0"/>
              <a:t>Step 8</a:t>
            </a:r>
            <a:r>
              <a:rPr lang="en-US" dirty="0"/>
              <a:t>: If the prediction value is same or almost similar to the actual values, the model is said to be accurate. Otherwise, either the model selection is changed or the model is trained on more data for better accuracy.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19</a:t>
            </a:fld>
            <a:endParaRPr lang="en-GB"/>
          </a:p>
        </p:txBody>
      </p:sp>
    </p:spTree>
    <p:extLst>
      <p:ext uri="{BB962C8B-B14F-4D97-AF65-F5344CB8AC3E}">
        <p14:creationId xmlns="" xmlns:p14="http://schemas.microsoft.com/office/powerpoint/2010/main" val="1615134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Data Collection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20</a:t>
            </a:fld>
            <a:endParaRPr lang="en-GB"/>
          </a:p>
        </p:txBody>
      </p:sp>
    </p:spTree>
    <p:extLst>
      <p:ext uri="{BB962C8B-B14F-4D97-AF65-F5344CB8AC3E}">
        <p14:creationId xmlns="" xmlns:p14="http://schemas.microsoft.com/office/powerpoint/2010/main" val="4280488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Commonly used datasets</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21</a:t>
            </a:fld>
            <a:endParaRPr lang="en-GB"/>
          </a:p>
        </p:txBody>
      </p:sp>
      <p:pic>
        <p:nvPicPr>
          <p:cNvPr id="7" name="Picture 6"/>
          <p:cNvPicPr>
            <a:picLocks noChangeAspect="1"/>
          </p:cNvPicPr>
          <p:nvPr/>
        </p:nvPicPr>
        <p:blipFill>
          <a:blip r:embed="rId2"/>
          <a:stretch>
            <a:fillRect/>
          </a:stretch>
        </p:blipFill>
        <p:spPr>
          <a:xfrm>
            <a:off x="819150" y="1571861"/>
            <a:ext cx="7560000" cy="1924010"/>
          </a:xfrm>
          <a:prstGeom prst="rect">
            <a:avLst/>
          </a:prstGeom>
        </p:spPr>
      </p:pic>
      <p:pic>
        <p:nvPicPr>
          <p:cNvPr id="8" name="Picture 7"/>
          <p:cNvPicPr>
            <a:picLocks noChangeAspect="1"/>
          </p:cNvPicPr>
          <p:nvPr/>
        </p:nvPicPr>
        <p:blipFill>
          <a:blip r:embed="rId3"/>
          <a:stretch>
            <a:fillRect/>
          </a:stretch>
        </p:blipFill>
        <p:spPr>
          <a:xfrm>
            <a:off x="830734" y="3732100"/>
            <a:ext cx="7560000" cy="778235"/>
          </a:xfrm>
          <a:prstGeom prst="rect">
            <a:avLst/>
          </a:prstGeom>
        </p:spPr>
      </p:pic>
    </p:spTree>
    <p:extLst>
      <p:ext uri="{BB962C8B-B14F-4D97-AF65-F5344CB8AC3E}">
        <p14:creationId xmlns="" xmlns:p14="http://schemas.microsoft.com/office/powerpoint/2010/main" val="361486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IN" dirty="0"/>
              <a:t>Open-Source Datasets</a:t>
            </a:r>
            <a:br>
              <a:rPr lang="en-IN" dirty="0"/>
            </a:br>
            <a:r>
              <a:rPr lang="en-IN" dirty="0"/>
              <a:t/>
            </a:r>
            <a:br>
              <a:rPr lang="en-IN" dirty="0"/>
            </a:br>
            <a:endParaRPr lang="en-IN" dirty="0"/>
          </a:p>
        </p:txBody>
      </p:sp>
      <p:sp>
        <p:nvSpPr>
          <p:cNvPr id="3" name="Text Placeholder 2"/>
          <p:cNvSpPr>
            <a:spLocks noGrp="1"/>
          </p:cNvSpPr>
          <p:nvPr>
            <p:ph type="body" idx="1"/>
          </p:nvPr>
        </p:nvSpPr>
        <p:spPr>
          <a:xfrm>
            <a:off x="819150" y="1571861"/>
            <a:ext cx="7505700" cy="2866864"/>
          </a:xfrm>
        </p:spPr>
        <p:txBody>
          <a:bodyPr/>
          <a:lstStyle/>
          <a:p>
            <a:r>
              <a:rPr lang="en-IN" dirty="0"/>
              <a:t>Lionbridge AI</a:t>
            </a:r>
          </a:p>
          <a:p>
            <a:r>
              <a:rPr lang="en-IN" dirty="0"/>
              <a:t>Amazon Mechanical Turk</a:t>
            </a:r>
          </a:p>
          <a:p>
            <a:r>
              <a:rPr lang="en-IN" dirty="0" err="1"/>
              <a:t>LabelBox</a:t>
            </a:r>
            <a:endParaRPr lang="en-IN" dirty="0"/>
          </a:p>
          <a:p>
            <a:r>
              <a:rPr lang="en-IN" dirty="0"/>
              <a:t>Figure Eight</a:t>
            </a:r>
          </a:p>
          <a:p>
            <a:r>
              <a:rPr lang="en-IN" dirty="0" err="1"/>
              <a:t>Kaggle</a:t>
            </a:r>
            <a:r>
              <a:rPr lang="en-IN" dirty="0"/>
              <a:t> </a:t>
            </a:r>
          </a:p>
          <a:p>
            <a:r>
              <a:rPr lang="en-IN" dirty="0"/>
              <a:t>http://mospi.nic.in/data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22</a:t>
            </a:fld>
            <a:endParaRPr lang="en-GB"/>
          </a:p>
        </p:txBody>
      </p:sp>
    </p:spTree>
    <p:extLst>
      <p:ext uri="{BB962C8B-B14F-4D97-AF65-F5344CB8AC3E}">
        <p14:creationId xmlns="" xmlns:p14="http://schemas.microsoft.com/office/powerpoint/2010/main" val="694499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Big Data </a:t>
            </a:r>
            <a:endParaRPr lang="en-IN" dirty="0"/>
          </a:p>
        </p:txBody>
      </p:sp>
      <p:sp>
        <p:nvSpPr>
          <p:cNvPr id="3" name="Text Placeholder 2"/>
          <p:cNvSpPr>
            <a:spLocks noGrp="1"/>
          </p:cNvSpPr>
          <p:nvPr>
            <p:ph type="body" idx="1"/>
          </p:nvPr>
        </p:nvSpPr>
        <p:spPr>
          <a:xfrm>
            <a:off x="819150" y="1571861"/>
            <a:ext cx="7505700" cy="2866864"/>
          </a:xfrm>
        </p:spPr>
        <p:txBody>
          <a:bodyPr>
            <a:normAutofit/>
          </a:bodyPr>
          <a:lstStyle/>
          <a:p>
            <a:r>
              <a:rPr lang="en-US" dirty="0"/>
              <a:t>Big Data is a collection of data that is huge in volume, yet growing exponentially with time. </a:t>
            </a:r>
          </a:p>
          <a:p>
            <a:r>
              <a:rPr lang="en-US" dirty="0"/>
              <a:t>It is a data with so large size and complexity that none of traditional data management tools can store it or process it efficiently.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23</a:t>
            </a:fld>
            <a:endParaRPr lang="en-GB"/>
          </a:p>
        </p:txBody>
      </p:sp>
    </p:spTree>
    <p:extLst>
      <p:ext uri="{BB962C8B-B14F-4D97-AF65-F5344CB8AC3E}">
        <p14:creationId xmlns="" xmlns:p14="http://schemas.microsoft.com/office/powerpoint/2010/main" val="1145859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Examples of Big Data </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The New York Stock Exchange generates about one terabyte of new trade data per day.</a:t>
            </a:r>
          </a:p>
          <a:p>
            <a:r>
              <a:rPr lang="en-US" dirty="0"/>
              <a:t>The statistic shows that 500+terabytes of new data get ingested into the databases of social media site Facebook, every day. </a:t>
            </a:r>
          </a:p>
          <a:p>
            <a:r>
              <a:rPr lang="en-US" dirty="0"/>
              <a:t>A single Jet engine can generate 10+terabytes of data in 30 minutes of flight time. </a:t>
            </a:r>
            <a:endParaRPr lang="en-IN" dirty="0"/>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24</a:t>
            </a:fld>
            <a:endParaRPr lang="en-GB"/>
          </a:p>
        </p:txBody>
      </p:sp>
    </p:spTree>
    <p:extLst>
      <p:ext uri="{BB962C8B-B14F-4D97-AF65-F5344CB8AC3E}">
        <p14:creationId xmlns="" xmlns:p14="http://schemas.microsoft.com/office/powerpoint/2010/main" val="3554201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Types of Big Data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25</a:t>
            </a:fld>
            <a:endParaRPr lang="en-GB"/>
          </a:p>
        </p:txBody>
      </p:sp>
      <p:pic>
        <p:nvPicPr>
          <p:cNvPr id="8" name="Picture 7"/>
          <p:cNvPicPr>
            <a:picLocks noChangeAspect="1"/>
          </p:cNvPicPr>
          <p:nvPr/>
        </p:nvPicPr>
        <p:blipFill>
          <a:blip r:embed="rId2"/>
          <a:stretch>
            <a:fillRect/>
          </a:stretch>
        </p:blipFill>
        <p:spPr>
          <a:xfrm>
            <a:off x="764850" y="1388242"/>
            <a:ext cx="7560000" cy="3746549"/>
          </a:xfrm>
          <a:prstGeom prst="rect">
            <a:avLst/>
          </a:prstGeom>
        </p:spPr>
      </p:pic>
    </p:spTree>
    <p:extLst>
      <p:ext uri="{BB962C8B-B14F-4D97-AF65-F5344CB8AC3E}">
        <p14:creationId xmlns="" xmlns:p14="http://schemas.microsoft.com/office/powerpoint/2010/main" val="3610767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Structured </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26</a:t>
            </a:fld>
            <a:endParaRPr lang="en-GB"/>
          </a:p>
        </p:txBody>
      </p:sp>
      <p:pic>
        <p:nvPicPr>
          <p:cNvPr id="7" name="Picture 6"/>
          <p:cNvPicPr>
            <a:picLocks noChangeAspect="1"/>
          </p:cNvPicPr>
          <p:nvPr/>
        </p:nvPicPr>
        <p:blipFill>
          <a:blip r:embed="rId2"/>
          <a:stretch>
            <a:fillRect/>
          </a:stretch>
        </p:blipFill>
        <p:spPr>
          <a:xfrm>
            <a:off x="679506" y="1571861"/>
            <a:ext cx="7791450" cy="2609850"/>
          </a:xfrm>
          <a:prstGeom prst="rect">
            <a:avLst/>
          </a:prstGeom>
        </p:spPr>
      </p:pic>
    </p:spTree>
    <p:extLst>
      <p:ext uri="{BB962C8B-B14F-4D97-AF65-F5344CB8AC3E}">
        <p14:creationId xmlns="" xmlns:p14="http://schemas.microsoft.com/office/powerpoint/2010/main" val="1832520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Unstructured</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27</a:t>
            </a:fld>
            <a:endParaRPr lang="en-GB"/>
          </a:p>
        </p:txBody>
      </p:sp>
      <p:pic>
        <p:nvPicPr>
          <p:cNvPr id="7" name="Picture 6"/>
          <p:cNvPicPr>
            <a:picLocks noChangeAspect="1"/>
          </p:cNvPicPr>
          <p:nvPr/>
        </p:nvPicPr>
        <p:blipFill>
          <a:blip r:embed="rId2"/>
          <a:stretch>
            <a:fillRect/>
          </a:stretch>
        </p:blipFill>
        <p:spPr>
          <a:xfrm>
            <a:off x="819150" y="1399392"/>
            <a:ext cx="7400925" cy="3429000"/>
          </a:xfrm>
          <a:prstGeom prst="rect">
            <a:avLst/>
          </a:prstGeom>
        </p:spPr>
      </p:pic>
    </p:spTree>
    <p:extLst>
      <p:ext uri="{BB962C8B-B14F-4D97-AF65-F5344CB8AC3E}">
        <p14:creationId xmlns="" xmlns:p14="http://schemas.microsoft.com/office/powerpoint/2010/main" val="866948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Training Testing and Validation</a:t>
            </a:r>
            <a:endParaRPr lang="en-IN" dirty="0"/>
          </a:p>
        </p:txBody>
      </p:sp>
      <p:sp>
        <p:nvSpPr>
          <p:cNvPr id="3" name="Text Placeholder 2"/>
          <p:cNvSpPr>
            <a:spLocks noGrp="1"/>
          </p:cNvSpPr>
          <p:nvPr>
            <p:ph type="body" idx="1"/>
          </p:nvPr>
        </p:nvSpPr>
        <p:spPr>
          <a:xfrm>
            <a:off x="819150" y="1571861"/>
            <a:ext cx="7505700" cy="2866864"/>
          </a:xfrm>
        </p:spPr>
        <p:txBody>
          <a:bodyPr/>
          <a:lstStyle/>
          <a:p>
            <a:pPr fontAlgn="base"/>
            <a:r>
              <a:rPr lang="en-US" b="1" dirty="0"/>
              <a:t>Training set:</a:t>
            </a:r>
            <a:r>
              <a:rPr lang="en-US" dirty="0"/>
              <a:t> The data where the model is trained on</a:t>
            </a:r>
          </a:p>
          <a:p>
            <a:pPr fontAlgn="base"/>
            <a:r>
              <a:rPr lang="en-US" b="1" dirty="0"/>
              <a:t>Validation set:</a:t>
            </a:r>
            <a:r>
              <a:rPr lang="en-US" dirty="0"/>
              <a:t> Data the model has not been trained on and used to tune </a:t>
            </a:r>
            <a:r>
              <a:rPr lang="en-US" dirty="0" err="1"/>
              <a:t>hyperparameters</a:t>
            </a:r>
            <a:endParaRPr lang="en-US" dirty="0"/>
          </a:p>
          <a:p>
            <a:pPr fontAlgn="base"/>
            <a:r>
              <a:rPr lang="en-US" b="1" dirty="0"/>
              <a:t>Test set:</a:t>
            </a:r>
            <a:r>
              <a:rPr lang="en-US" dirty="0"/>
              <a:t> In principle the same like the validation set.. just used at the final end after the model has been tailored.</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28</a:t>
            </a:fld>
            <a:endParaRPr lang="en-GB"/>
          </a:p>
        </p:txBody>
      </p:sp>
    </p:spTree>
    <p:extLst>
      <p:ext uri="{BB962C8B-B14F-4D97-AF65-F5344CB8AC3E}">
        <p14:creationId xmlns="" xmlns:p14="http://schemas.microsoft.com/office/powerpoint/2010/main" val="3372467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29</a:t>
            </a:fld>
            <a:endParaRPr lang="en-GB"/>
          </a:p>
        </p:txBody>
      </p:sp>
      <p:pic>
        <p:nvPicPr>
          <p:cNvPr id="3074" name="Picture 2" descr="Overview"/>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92770" y="845600"/>
            <a:ext cx="7560000" cy="407243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76325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acquisition demo</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IN" dirty="0">
                <a:hlinkClick r:id="rId2"/>
              </a:rPr>
              <a:t>https://teachablemachine.withgoogle.com/</a:t>
            </a:r>
            <a:r>
              <a:rPr lang="en-IN" dirty="0"/>
              <a:t> </a:t>
            </a:r>
          </a:p>
          <a:p>
            <a:r>
              <a:rPr lang="en-US" dirty="0"/>
              <a:t>Click on Get started </a:t>
            </a:r>
          </a:p>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30</a:t>
            </a:fld>
            <a:endParaRPr lang="en-GB"/>
          </a:p>
        </p:txBody>
      </p:sp>
      <p:pic>
        <p:nvPicPr>
          <p:cNvPr id="7" name="Picture 6"/>
          <p:cNvPicPr>
            <a:picLocks noChangeAspect="1"/>
          </p:cNvPicPr>
          <p:nvPr/>
        </p:nvPicPr>
        <p:blipFill>
          <a:blip r:embed="rId3"/>
          <a:stretch>
            <a:fillRect/>
          </a:stretch>
        </p:blipFill>
        <p:spPr>
          <a:xfrm>
            <a:off x="1332000" y="2504281"/>
            <a:ext cx="6480000" cy="2236187"/>
          </a:xfrm>
          <a:prstGeom prst="rect">
            <a:avLst/>
          </a:prstGeom>
        </p:spPr>
      </p:pic>
    </p:spTree>
    <p:extLst>
      <p:ext uri="{BB962C8B-B14F-4D97-AF65-F5344CB8AC3E}">
        <p14:creationId xmlns="" xmlns:p14="http://schemas.microsoft.com/office/powerpoint/2010/main" val="2555398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Data Exploration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31</a:t>
            </a:fld>
            <a:endParaRPr lang="en-GB"/>
          </a:p>
        </p:txBody>
      </p:sp>
    </p:spTree>
    <p:extLst>
      <p:ext uri="{BB962C8B-B14F-4D97-AF65-F5344CB8AC3E}">
        <p14:creationId xmlns="" xmlns:p14="http://schemas.microsoft.com/office/powerpoint/2010/main" val="2728415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visualization tools</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Microsoft Excel</a:t>
            </a:r>
          </a:p>
          <a:p>
            <a:r>
              <a:rPr lang="en-US" dirty="0"/>
              <a:t>Tableau </a:t>
            </a:r>
          </a:p>
          <a:p>
            <a:r>
              <a:rPr lang="en-US" dirty="0" err="1"/>
              <a:t>Qlikview</a:t>
            </a:r>
            <a:endParaRPr lang="en-US" dirty="0"/>
          </a:p>
          <a:p>
            <a:r>
              <a:rPr lang="en-US" dirty="0" err="1"/>
              <a:t>Datawrapper</a:t>
            </a:r>
            <a:endParaRPr lang="en-US" dirty="0"/>
          </a:p>
          <a:p>
            <a:r>
              <a:rPr lang="en-US" dirty="0"/>
              <a:t>Google Data Studio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32</a:t>
            </a:fld>
            <a:endParaRPr lang="en-GB"/>
          </a:p>
        </p:txBody>
      </p:sp>
    </p:spTree>
    <p:extLst>
      <p:ext uri="{BB962C8B-B14F-4D97-AF65-F5344CB8AC3E}">
        <p14:creationId xmlns="" xmlns:p14="http://schemas.microsoft.com/office/powerpoint/2010/main" val="478986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Why do we need to visualize</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Quickly get a sense of the trends, relationships and patterns contained within the data.</a:t>
            </a:r>
          </a:p>
          <a:p>
            <a:r>
              <a:rPr lang="en-US" dirty="0"/>
              <a:t>Define strategy for which model to use at a later stage. </a:t>
            </a:r>
          </a:p>
          <a:p>
            <a:r>
              <a:rPr lang="en-US" dirty="0"/>
              <a:t>Communicate the same to others effectively. </a:t>
            </a:r>
          </a:p>
          <a:p>
            <a:r>
              <a:rPr lang="en-US" dirty="0"/>
              <a:t>To </a:t>
            </a:r>
            <a:r>
              <a:rPr lang="en-US" dirty="0" err="1"/>
              <a:t>visualise</a:t>
            </a:r>
            <a:r>
              <a:rPr lang="en-US" dirty="0"/>
              <a:t> data, we can use various types of visual representations. </a:t>
            </a:r>
            <a:br>
              <a:rPr lang="en-US" dirty="0"/>
            </a:b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33</a:t>
            </a:fld>
            <a:endParaRPr lang="en-GB"/>
          </a:p>
        </p:txBody>
      </p:sp>
    </p:spTree>
    <p:extLst>
      <p:ext uri="{BB962C8B-B14F-4D97-AF65-F5344CB8AC3E}">
        <p14:creationId xmlns="" xmlns:p14="http://schemas.microsoft.com/office/powerpoint/2010/main" val="304650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Data Visualization methods </a:t>
            </a:r>
            <a:endParaRPr lang="en-IN" dirty="0"/>
          </a:p>
        </p:txBody>
      </p:sp>
      <p:sp>
        <p:nvSpPr>
          <p:cNvPr id="3" name="Text Placeholder 2"/>
          <p:cNvSpPr>
            <a:spLocks noGrp="1"/>
          </p:cNvSpPr>
          <p:nvPr>
            <p:ph type="body" idx="1"/>
          </p:nvPr>
        </p:nvSpPr>
        <p:spPr>
          <a:xfrm>
            <a:off x="819150" y="1208730"/>
            <a:ext cx="6078039" cy="2866864"/>
          </a:xfrm>
        </p:spPr>
        <p:txBody>
          <a:bodyPr/>
          <a:lstStyle/>
          <a:p>
            <a:r>
              <a:rPr lang="en-IN" dirty="0">
                <a:hlinkClick r:id="rId2"/>
              </a:rPr>
              <a:t>https://datavizcatalogue.com/</a:t>
            </a:r>
            <a:r>
              <a:rPr lang="en-IN"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34</a:t>
            </a:fld>
            <a:endParaRPr lang="en-GB"/>
          </a:p>
        </p:txBody>
      </p:sp>
      <p:pic>
        <p:nvPicPr>
          <p:cNvPr id="7" name="Picture 6"/>
          <p:cNvPicPr>
            <a:picLocks noChangeAspect="1"/>
          </p:cNvPicPr>
          <p:nvPr/>
        </p:nvPicPr>
        <p:blipFill>
          <a:blip r:embed="rId3"/>
          <a:stretch>
            <a:fillRect/>
          </a:stretch>
        </p:blipFill>
        <p:spPr>
          <a:xfrm>
            <a:off x="2052000" y="1638075"/>
            <a:ext cx="5040000" cy="3299193"/>
          </a:xfrm>
          <a:prstGeom prst="rect">
            <a:avLst/>
          </a:prstGeom>
        </p:spPr>
      </p:pic>
    </p:spTree>
    <p:extLst>
      <p:ext uri="{BB962C8B-B14F-4D97-AF65-F5344CB8AC3E}">
        <p14:creationId xmlns="" xmlns:p14="http://schemas.microsoft.com/office/powerpoint/2010/main" val="2066923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Student worksheet</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35</a:t>
            </a:fld>
            <a:endParaRPr lang="en-GB"/>
          </a:p>
        </p:txBody>
      </p:sp>
      <p:pic>
        <p:nvPicPr>
          <p:cNvPr id="7" name="Picture 6"/>
          <p:cNvPicPr>
            <a:picLocks noChangeAspect="1"/>
          </p:cNvPicPr>
          <p:nvPr/>
        </p:nvPicPr>
        <p:blipFill>
          <a:blip r:embed="rId2"/>
          <a:stretch>
            <a:fillRect/>
          </a:stretch>
        </p:blipFill>
        <p:spPr>
          <a:xfrm>
            <a:off x="1719807" y="1481177"/>
            <a:ext cx="5177382" cy="3424020"/>
          </a:xfrm>
          <a:prstGeom prst="rect">
            <a:avLst/>
          </a:prstGeom>
        </p:spPr>
      </p:pic>
    </p:spTree>
    <p:extLst>
      <p:ext uri="{BB962C8B-B14F-4D97-AF65-F5344CB8AC3E}">
        <p14:creationId xmlns="" xmlns:p14="http://schemas.microsoft.com/office/powerpoint/2010/main" val="2772247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Example in Excel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36</a:t>
            </a:fld>
            <a:endParaRPr lang="en-GB"/>
          </a:p>
        </p:txBody>
      </p:sp>
      <p:graphicFrame>
        <p:nvGraphicFramePr>
          <p:cNvPr id="7" name="Table 6"/>
          <p:cNvGraphicFramePr>
            <a:graphicFrameLocks noGrp="1"/>
          </p:cNvGraphicFramePr>
          <p:nvPr>
            <p:extLst>
              <p:ext uri="{D42A27DB-BD31-4B8C-83A1-F6EECF244321}">
                <p14:modId xmlns="" xmlns:p14="http://schemas.microsoft.com/office/powerpoint/2010/main" val="1366975682"/>
              </p:ext>
            </p:extLst>
          </p:nvPr>
        </p:nvGraphicFramePr>
        <p:xfrm>
          <a:off x="496389" y="1965823"/>
          <a:ext cx="1219200" cy="1868805"/>
        </p:xfrm>
        <a:graphic>
          <a:graphicData uri="http://schemas.openxmlformats.org/drawingml/2006/table">
            <a:tbl>
              <a:tblPr>
                <a:tableStyleId>{5C22544A-7EE6-4342-B048-85BDC9FD1C3A}</a:tableStyleId>
              </a:tblPr>
              <a:tblGrid>
                <a:gridCol w="609600">
                  <a:extLst>
                    <a:ext uri="{9D8B030D-6E8A-4147-A177-3AD203B41FA5}">
                      <a16:colId xmlns="" xmlns:a16="http://schemas.microsoft.com/office/drawing/2014/main" val="2990091517"/>
                    </a:ext>
                  </a:extLst>
                </a:gridCol>
                <a:gridCol w="609600">
                  <a:extLst>
                    <a:ext uri="{9D8B030D-6E8A-4147-A177-3AD203B41FA5}">
                      <a16:colId xmlns="" xmlns:a16="http://schemas.microsoft.com/office/drawing/2014/main" val="2170697615"/>
                    </a:ext>
                  </a:extLst>
                </a:gridCol>
              </a:tblGrid>
              <a:tr h="190500">
                <a:tc>
                  <a:txBody>
                    <a:bodyPr/>
                    <a:lstStyle/>
                    <a:p>
                      <a:pPr algn="ctr" fontAlgn="b"/>
                      <a:r>
                        <a:rPr lang="en-IN" sz="1100" u="none" strike="noStrike">
                          <a:solidFill>
                            <a:schemeClr val="accent5"/>
                          </a:solidFill>
                          <a:effectLst/>
                        </a:rPr>
                        <a:t>Grade </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No. of grades </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446757360"/>
                  </a:ext>
                </a:extLst>
              </a:tr>
              <a:tr h="190500">
                <a:tc>
                  <a:txBody>
                    <a:bodyPr/>
                    <a:lstStyle/>
                    <a:p>
                      <a:pPr algn="ctr" fontAlgn="b"/>
                      <a:r>
                        <a:rPr lang="en-IN" sz="1100" u="none" strike="noStrike" dirty="0">
                          <a:solidFill>
                            <a:schemeClr val="accent5"/>
                          </a:solidFill>
                          <a:effectLst/>
                        </a:rPr>
                        <a:t>A</a:t>
                      </a:r>
                      <a:endParaRPr lang="en-IN" sz="1100" b="0" i="0" u="none" strike="noStrike" dirty="0">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20</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677435169"/>
                  </a:ext>
                </a:extLst>
              </a:tr>
              <a:tr h="190500">
                <a:tc>
                  <a:txBody>
                    <a:bodyPr/>
                    <a:lstStyle/>
                    <a:p>
                      <a:pPr algn="ctr" fontAlgn="b"/>
                      <a:r>
                        <a:rPr lang="en-IN" sz="1100" u="none" strike="noStrike">
                          <a:solidFill>
                            <a:schemeClr val="accent5"/>
                          </a:solidFill>
                          <a:effectLst/>
                        </a:rPr>
                        <a:t>AB</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28</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931718518"/>
                  </a:ext>
                </a:extLst>
              </a:tr>
              <a:tr h="190500">
                <a:tc>
                  <a:txBody>
                    <a:bodyPr/>
                    <a:lstStyle/>
                    <a:p>
                      <a:pPr algn="ctr" fontAlgn="b"/>
                      <a:r>
                        <a:rPr lang="en-IN" sz="1100" u="none" strike="noStrike">
                          <a:solidFill>
                            <a:schemeClr val="accent5"/>
                          </a:solidFill>
                          <a:effectLst/>
                        </a:rPr>
                        <a:t>B</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50</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065713632"/>
                  </a:ext>
                </a:extLst>
              </a:tr>
              <a:tr h="190500">
                <a:tc>
                  <a:txBody>
                    <a:bodyPr/>
                    <a:lstStyle/>
                    <a:p>
                      <a:pPr algn="ctr" fontAlgn="b"/>
                      <a:r>
                        <a:rPr lang="en-IN" sz="1100" u="none" strike="noStrike">
                          <a:solidFill>
                            <a:schemeClr val="accent5"/>
                          </a:solidFill>
                          <a:effectLst/>
                        </a:rPr>
                        <a:t>BC</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70</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622208124"/>
                  </a:ext>
                </a:extLst>
              </a:tr>
              <a:tr h="190500">
                <a:tc>
                  <a:txBody>
                    <a:bodyPr/>
                    <a:lstStyle/>
                    <a:p>
                      <a:pPr algn="ctr" fontAlgn="b"/>
                      <a:r>
                        <a:rPr lang="en-IN" sz="1100" u="none" strike="noStrike">
                          <a:solidFill>
                            <a:schemeClr val="accent5"/>
                          </a:solidFill>
                          <a:effectLst/>
                        </a:rPr>
                        <a:t>C</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63</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979679437"/>
                  </a:ext>
                </a:extLst>
              </a:tr>
              <a:tr h="190500">
                <a:tc>
                  <a:txBody>
                    <a:bodyPr/>
                    <a:lstStyle/>
                    <a:p>
                      <a:pPr algn="ctr" fontAlgn="b"/>
                      <a:r>
                        <a:rPr lang="en-IN" sz="1100" u="none" strike="noStrike">
                          <a:solidFill>
                            <a:schemeClr val="accent5"/>
                          </a:solidFill>
                          <a:effectLst/>
                        </a:rPr>
                        <a:t>CD</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40</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2114901740"/>
                  </a:ext>
                </a:extLst>
              </a:tr>
              <a:tr h="190500">
                <a:tc>
                  <a:txBody>
                    <a:bodyPr/>
                    <a:lstStyle/>
                    <a:p>
                      <a:pPr algn="ctr" fontAlgn="b"/>
                      <a:r>
                        <a:rPr lang="en-IN" sz="1100" u="none" strike="noStrike">
                          <a:solidFill>
                            <a:schemeClr val="accent5"/>
                          </a:solidFill>
                          <a:effectLst/>
                        </a:rPr>
                        <a:t>D</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a:solidFill>
                            <a:schemeClr val="accent5"/>
                          </a:solidFill>
                          <a:effectLst/>
                        </a:rPr>
                        <a:t>30</a:t>
                      </a:r>
                      <a:endParaRPr lang="en-IN" sz="1100" b="0" i="0" u="none" strike="noStrike">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1964503711"/>
                  </a:ext>
                </a:extLst>
              </a:tr>
              <a:tr h="190500">
                <a:tc>
                  <a:txBody>
                    <a:bodyPr/>
                    <a:lstStyle/>
                    <a:p>
                      <a:pPr algn="ctr" fontAlgn="b"/>
                      <a:r>
                        <a:rPr lang="en-IN" sz="1100" u="none" strike="noStrike">
                          <a:solidFill>
                            <a:schemeClr val="accent5"/>
                          </a:solidFill>
                          <a:effectLst/>
                        </a:rPr>
                        <a:t>F</a:t>
                      </a:r>
                      <a:endParaRPr lang="en-IN" sz="1100" b="0" i="0" u="none" strike="noStrike">
                        <a:solidFill>
                          <a:schemeClr val="accent5"/>
                        </a:solidFill>
                        <a:effectLst/>
                        <a:latin typeface="Calibri" panose="020F0502020204030204" pitchFamily="34" charset="0"/>
                      </a:endParaRPr>
                    </a:p>
                  </a:txBody>
                  <a:tcPr marL="9525" marR="9525" marT="9525" marB="0" anchor="b"/>
                </a:tc>
                <a:tc>
                  <a:txBody>
                    <a:bodyPr/>
                    <a:lstStyle/>
                    <a:p>
                      <a:pPr algn="ctr" fontAlgn="b"/>
                      <a:r>
                        <a:rPr lang="en-IN" sz="1100" u="none" strike="noStrike" dirty="0">
                          <a:solidFill>
                            <a:schemeClr val="accent5"/>
                          </a:solidFill>
                          <a:effectLst/>
                        </a:rPr>
                        <a:t>2</a:t>
                      </a:r>
                      <a:endParaRPr lang="en-IN" sz="1100" b="0" i="0" u="none" strike="noStrike" dirty="0">
                        <a:solidFill>
                          <a:schemeClr val="accent5"/>
                        </a:solidFill>
                        <a:effectLst/>
                        <a:latin typeface="Calibri" panose="020F0502020204030204" pitchFamily="34" charset="0"/>
                      </a:endParaRPr>
                    </a:p>
                  </a:txBody>
                  <a:tcPr marL="9525" marR="9525" marT="9525" marB="0" anchor="b"/>
                </a:tc>
                <a:extLst>
                  <a:ext uri="{0D108BD9-81ED-4DB2-BD59-A6C34878D82A}">
                    <a16:rowId xmlns="" xmlns:a16="http://schemas.microsoft.com/office/drawing/2014/main" val="3771725495"/>
                  </a:ext>
                </a:extLst>
              </a:tr>
            </a:tbl>
          </a:graphicData>
        </a:graphic>
      </p:graphicFrame>
      <p:pic>
        <p:nvPicPr>
          <p:cNvPr id="11" name="Picture 10"/>
          <p:cNvPicPr>
            <a:picLocks noChangeAspect="1"/>
          </p:cNvPicPr>
          <p:nvPr/>
        </p:nvPicPr>
        <p:blipFill>
          <a:blip r:embed="rId2"/>
          <a:stretch>
            <a:fillRect/>
          </a:stretch>
        </p:blipFill>
        <p:spPr>
          <a:xfrm>
            <a:off x="2638696" y="1357183"/>
            <a:ext cx="5623253" cy="3383285"/>
          </a:xfrm>
          <a:prstGeom prst="rect">
            <a:avLst/>
          </a:prstGeom>
        </p:spPr>
      </p:pic>
    </p:spTree>
    <p:extLst>
      <p:ext uri="{BB962C8B-B14F-4D97-AF65-F5344CB8AC3E}">
        <p14:creationId xmlns="" xmlns:p14="http://schemas.microsoft.com/office/powerpoint/2010/main" val="2076076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Multidimensional data</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IN" dirty="0">
                <a:hlinkClick r:id="rId2"/>
              </a:rPr>
              <a:t>http://projector.tensorflow.org/</a:t>
            </a:r>
            <a:endParaRPr lang="en-IN" dirty="0"/>
          </a:p>
          <a:p>
            <a:r>
              <a:rPr lang="en-US" dirty="0"/>
              <a:t>Visualize a 200 dimensional data</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37</a:t>
            </a:fld>
            <a:endParaRPr lang="en-GB"/>
          </a:p>
        </p:txBody>
      </p:sp>
    </p:spTree>
    <p:extLst>
      <p:ext uri="{BB962C8B-B14F-4D97-AF65-F5344CB8AC3E}">
        <p14:creationId xmlns="" xmlns:p14="http://schemas.microsoft.com/office/powerpoint/2010/main" val="34779182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Modeling</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38</a:t>
            </a:fld>
            <a:endParaRPr lang="en-GB"/>
          </a:p>
        </p:txBody>
      </p:sp>
    </p:spTree>
    <p:extLst>
      <p:ext uri="{BB962C8B-B14F-4D97-AF65-F5344CB8AC3E}">
        <p14:creationId xmlns="" xmlns:p14="http://schemas.microsoft.com/office/powerpoint/2010/main" val="565521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19150" y="845600"/>
            <a:ext cx="7505700" cy="544893"/>
          </a:xfrm>
        </p:spPr>
        <p:txBody>
          <a:bodyPr>
            <a:normAutofit fontScale="90000"/>
          </a:bodyPr>
          <a:lstStyle/>
          <a:p>
            <a:r>
              <a:rPr lang="en-US" dirty="0"/>
              <a:t>Modeling</a:t>
            </a:r>
            <a:endParaRPr lang="en-IN" dirty="0"/>
          </a:p>
        </p:txBody>
      </p:sp>
      <p:sp>
        <p:nvSpPr>
          <p:cNvPr id="8" name="Text Placeholder 7"/>
          <p:cNvSpPr>
            <a:spLocks noGrp="1"/>
          </p:cNvSpPr>
          <p:nvPr>
            <p:ph type="body" idx="1"/>
          </p:nvPr>
        </p:nvSpPr>
        <p:spPr>
          <a:xfrm>
            <a:off x="819150" y="1496291"/>
            <a:ext cx="3686100" cy="2942434"/>
          </a:xfrm>
        </p:spPr>
        <p:txBody>
          <a:bodyPr/>
          <a:lstStyle/>
          <a:p>
            <a:endParaRPr lang="en-US" dirty="0"/>
          </a:p>
          <a:p>
            <a:r>
              <a:rPr lang="en-US" dirty="0"/>
              <a:t>AI models – Rule based and learning based </a:t>
            </a:r>
          </a:p>
          <a:p>
            <a:r>
              <a:rPr lang="en-US" dirty="0"/>
              <a:t>Learning based - ML and DL </a:t>
            </a:r>
          </a:p>
          <a:p>
            <a:r>
              <a:rPr lang="en-US" dirty="0"/>
              <a:t>Complete the teachable game </a:t>
            </a:r>
          </a:p>
          <a:p>
            <a:endParaRPr lang="en-US" dirty="0"/>
          </a:p>
          <a:p>
            <a:endParaRPr lang="en-US" dirty="0"/>
          </a:p>
        </p:txBody>
      </p:sp>
      <p:sp>
        <p:nvSpPr>
          <p:cNvPr id="9" name="Text Placeholder 8"/>
          <p:cNvSpPr>
            <a:spLocks noGrp="1"/>
          </p:cNvSpPr>
          <p:nvPr>
            <p:ph type="body" idx="2"/>
          </p:nvPr>
        </p:nvSpPr>
        <p:spPr>
          <a:xfrm>
            <a:off x="4638675" y="1496292"/>
            <a:ext cx="3686100" cy="2942434"/>
          </a:xfrm>
        </p:spPr>
        <p:txBody>
          <a:bodyPr/>
          <a:lstStyle/>
          <a:p>
            <a:endParaRPr lang="en-US" dirty="0"/>
          </a:p>
          <a:p>
            <a:r>
              <a:rPr lang="en-US" dirty="0"/>
              <a:t>AI models – Rule based and learning based </a:t>
            </a:r>
          </a:p>
          <a:p>
            <a:r>
              <a:rPr lang="en-US" dirty="0"/>
              <a:t>Learning based – Supervised, Unsupervised, Reinforcement </a:t>
            </a:r>
          </a:p>
          <a:p>
            <a:r>
              <a:rPr lang="en-US" dirty="0"/>
              <a:t>Regression, Classification, Clustering, Dimensionality reduction </a:t>
            </a:r>
          </a:p>
          <a:p>
            <a:endParaRPr lang="en-US" dirty="0"/>
          </a:p>
          <a:p>
            <a:r>
              <a:rPr lang="en-US" dirty="0"/>
              <a:t>Evaluation </a:t>
            </a:r>
          </a:p>
          <a:p>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39</a:t>
            </a:fld>
            <a:endParaRPr lang="en-GB"/>
          </a:p>
        </p:txBody>
      </p:sp>
    </p:spTree>
    <p:extLst>
      <p:ext uri="{BB962C8B-B14F-4D97-AF65-F5344CB8AC3E}">
        <p14:creationId xmlns="" xmlns:p14="http://schemas.microsoft.com/office/powerpoint/2010/main" val="1030818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AI ML and DL</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40</a:t>
            </a:fld>
            <a:endParaRPr lang="en-GB"/>
          </a:p>
        </p:txBody>
      </p:sp>
      <p:pic>
        <p:nvPicPr>
          <p:cNvPr id="5122" name="Picture 2" descr="Cousins of Artificial Intelligence | by Seema Singh | Towards Data Science"/>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315716" y="291808"/>
            <a:ext cx="4320000" cy="44569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904059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AI, ML and DL</a:t>
            </a:r>
            <a:endParaRPr lang="en-IN" dirty="0"/>
          </a:p>
        </p:txBody>
      </p:sp>
      <p:sp>
        <p:nvSpPr>
          <p:cNvPr id="3" name="Text Placeholder 2"/>
          <p:cNvSpPr>
            <a:spLocks noGrp="1"/>
          </p:cNvSpPr>
          <p:nvPr>
            <p:ph type="body" idx="1"/>
          </p:nvPr>
        </p:nvSpPr>
        <p:spPr>
          <a:xfrm>
            <a:off x="819150" y="1571861"/>
            <a:ext cx="7505700" cy="2866864"/>
          </a:xfrm>
        </p:spPr>
        <p:txBody>
          <a:bodyPr>
            <a:normAutofit fontScale="92500" lnSpcReduction="20000"/>
          </a:bodyPr>
          <a:lstStyle/>
          <a:p>
            <a:r>
              <a:rPr lang="en-US" b="1" dirty="0"/>
              <a:t>Artificial Intelligence</a:t>
            </a:r>
            <a:r>
              <a:rPr lang="en-US" dirty="0"/>
              <a:t>, or AI, refers to any technique that enables computers to mimic human intelligence. </a:t>
            </a:r>
          </a:p>
          <a:p>
            <a:r>
              <a:rPr lang="en-US" b="1" dirty="0"/>
              <a:t>Machine Learning</a:t>
            </a:r>
            <a:r>
              <a:rPr lang="en-US" dirty="0"/>
              <a:t>, or ML, enables machines to improve at tasks with experience. The machine learns from its mistakes and takes them into consideration in the next execution.</a:t>
            </a:r>
          </a:p>
          <a:p>
            <a:r>
              <a:rPr lang="en-US" b="1" dirty="0"/>
              <a:t>Deep Learning</a:t>
            </a:r>
            <a:r>
              <a:rPr lang="en-US" dirty="0"/>
              <a:t>, or DL, enables software to train itself to perform tasks with vast amounts of data. In deep learning, the machine is trained with huge amounts of data which helps it</a:t>
            </a:r>
            <a:br>
              <a:rPr lang="en-US" dirty="0"/>
            </a:br>
            <a:r>
              <a:rPr lang="en-US" dirty="0"/>
              <a:t>into training itself around the data.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41</a:t>
            </a:fld>
            <a:endParaRPr lang="en-GB"/>
          </a:p>
        </p:txBody>
      </p:sp>
    </p:spTree>
    <p:extLst>
      <p:ext uri="{BB962C8B-B14F-4D97-AF65-F5344CB8AC3E}">
        <p14:creationId xmlns="" xmlns:p14="http://schemas.microsoft.com/office/powerpoint/2010/main" val="2604170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Modeling</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AI Modelling refers to developing algorithms, also called models which can be trained to get intelligent outputs. </a:t>
            </a:r>
          </a:p>
          <a:p>
            <a:r>
              <a:rPr lang="en-US" dirty="0"/>
              <a:t>That is, writing codes to make a machine artificially intelligent. </a:t>
            </a:r>
            <a:br>
              <a:rPr lang="en-US" dirty="0"/>
            </a:b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42</a:t>
            </a:fld>
            <a:endParaRPr lang="en-GB"/>
          </a:p>
        </p:txBody>
      </p:sp>
    </p:spTree>
    <p:extLst>
      <p:ext uri="{BB962C8B-B14F-4D97-AF65-F5344CB8AC3E}">
        <p14:creationId xmlns="" xmlns:p14="http://schemas.microsoft.com/office/powerpoint/2010/main" val="2954507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Types of AI models </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43</a:t>
            </a:fld>
            <a:endParaRPr lang="en-GB"/>
          </a:p>
        </p:txBody>
      </p:sp>
      <p:sp>
        <p:nvSpPr>
          <p:cNvPr id="7" name="Flowchart: Process 6"/>
          <p:cNvSpPr/>
          <p:nvPr/>
        </p:nvSpPr>
        <p:spPr>
          <a:xfrm>
            <a:off x="3587931" y="1481177"/>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AI Models</a:t>
            </a:r>
            <a:endParaRPr lang="en-IN" dirty="0"/>
          </a:p>
        </p:txBody>
      </p:sp>
      <p:sp>
        <p:nvSpPr>
          <p:cNvPr id="8" name="Flowchart: Process 7"/>
          <p:cNvSpPr/>
          <p:nvPr/>
        </p:nvSpPr>
        <p:spPr>
          <a:xfrm>
            <a:off x="2046513" y="2630824"/>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Rule based</a:t>
            </a:r>
            <a:endParaRPr lang="en-IN" dirty="0"/>
          </a:p>
        </p:txBody>
      </p:sp>
      <p:sp>
        <p:nvSpPr>
          <p:cNvPr id="10" name="Flowchart: Process 9"/>
          <p:cNvSpPr/>
          <p:nvPr/>
        </p:nvSpPr>
        <p:spPr>
          <a:xfrm>
            <a:off x="5129349" y="2630824"/>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Learning based</a:t>
            </a:r>
            <a:endParaRPr lang="en-IN" dirty="0"/>
          </a:p>
        </p:txBody>
      </p:sp>
      <p:sp>
        <p:nvSpPr>
          <p:cNvPr id="11" name="Flowchart: Process 10"/>
          <p:cNvSpPr/>
          <p:nvPr/>
        </p:nvSpPr>
        <p:spPr>
          <a:xfrm>
            <a:off x="4053840" y="3844801"/>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Machine Learning </a:t>
            </a:r>
            <a:endParaRPr lang="en-IN" dirty="0"/>
          </a:p>
        </p:txBody>
      </p:sp>
      <p:sp>
        <p:nvSpPr>
          <p:cNvPr id="12" name="Flowchart: Process 11"/>
          <p:cNvSpPr/>
          <p:nvPr/>
        </p:nvSpPr>
        <p:spPr>
          <a:xfrm>
            <a:off x="6189345" y="3844801"/>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Deep Learning</a:t>
            </a:r>
            <a:endParaRPr lang="en-IN" dirty="0"/>
          </a:p>
        </p:txBody>
      </p:sp>
      <p:cxnSp>
        <p:nvCxnSpPr>
          <p:cNvPr id="14" name="Straight Arrow Connector 13"/>
          <p:cNvCxnSpPr>
            <a:stCxn id="7" idx="2"/>
            <a:endCxn id="8" idx="0"/>
          </p:cNvCxnSpPr>
          <p:nvPr/>
        </p:nvCxnSpPr>
        <p:spPr>
          <a:xfrm flipH="1">
            <a:off x="2817222" y="2230114"/>
            <a:ext cx="1541418" cy="400710"/>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cxnSp>
        <p:nvCxnSpPr>
          <p:cNvPr id="16" name="Straight Arrow Connector 15"/>
          <p:cNvCxnSpPr>
            <a:stCxn id="7" idx="2"/>
            <a:endCxn id="10" idx="0"/>
          </p:cNvCxnSpPr>
          <p:nvPr/>
        </p:nvCxnSpPr>
        <p:spPr>
          <a:xfrm>
            <a:off x="4358640" y="2230114"/>
            <a:ext cx="1541418" cy="400710"/>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cxnSp>
        <p:nvCxnSpPr>
          <p:cNvPr id="18" name="Straight Arrow Connector 17"/>
          <p:cNvCxnSpPr>
            <a:stCxn id="10" idx="2"/>
            <a:endCxn id="11" idx="0"/>
          </p:cNvCxnSpPr>
          <p:nvPr/>
        </p:nvCxnSpPr>
        <p:spPr>
          <a:xfrm flipH="1">
            <a:off x="4824549" y="3379761"/>
            <a:ext cx="1075509" cy="465040"/>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cxnSp>
        <p:nvCxnSpPr>
          <p:cNvPr id="20" name="Straight Arrow Connector 19"/>
          <p:cNvCxnSpPr>
            <a:endCxn id="12" idx="0"/>
          </p:cNvCxnSpPr>
          <p:nvPr/>
        </p:nvCxnSpPr>
        <p:spPr>
          <a:xfrm>
            <a:off x="5900058" y="3379761"/>
            <a:ext cx="1059996" cy="465040"/>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spTree>
    <p:extLst>
      <p:ext uri="{BB962C8B-B14F-4D97-AF65-F5344CB8AC3E}">
        <p14:creationId xmlns="" xmlns:p14="http://schemas.microsoft.com/office/powerpoint/2010/main" val="34021844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Rule based model</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44</a:t>
            </a:fld>
            <a:endParaRPr lang="en-GB"/>
          </a:p>
        </p:txBody>
      </p:sp>
      <p:pic>
        <p:nvPicPr>
          <p:cNvPr id="7" name="Picture 6"/>
          <p:cNvPicPr>
            <a:picLocks noChangeAspect="1"/>
          </p:cNvPicPr>
          <p:nvPr/>
        </p:nvPicPr>
        <p:blipFill>
          <a:blip r:embed="rId2"/>
          <a:stretch>
            <a:fillRect/>
          </a:stretch>
        </p:blipFill>
        <p:spPr>
          <a:xfrm>
            <a:off x="2629988" y="1333613"/>
            <a:ext cx="4107316" cy="3603655"/>
          </a:xfrm>
          <a:prstGeom prst="rect">
            <a:avLst/>
          </a:prstGeom>
        </p:spPr>
      </p:pic>
    </p:spTree>
    <p:extLst>
      <p:ext uri="{BB962C8B-B14F-4D97-AF65-F5344CB8AC3E}">
        <p14:creationId xmlns="" xmlns:p14="http://schemas.microsoft.com/office/powerpoint/2010/main" val="264389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Learning based model</a:t>
            </a:r>
            <a:endParaRPr lang="en-IN" dirty="0"/>
          </a:p>
        </p:txBody>
      </p:sp>
      <p:sp>
        <p:nvSpPr>
          <p:cNvPr id="3" name="Text Placeholder 2"/>
          <p:cNvSpPr>
            <a:spLocks noGrp="1"/>
          </p:cNvSpPr>
          <p:nvPr>
            <p:ph type="body" idx="1"/>
          </p:nvPr>
        </p:nvSpPr>
        <p:spPr>
          <a:xfrm>
            <a:off x="819150" y="1571861"/>
            <a:ext cx="3604395" cy="2866864"/>
          </a:xfrm>
        </p:spPr>
        <p:txBody>
          <a:bodyPr>
            <a:normAutofit fontScale="77500" lnSpcReduction="20000"/>
          </a:bodyPr>
          <a:lstStyle/>
          <a:p>
            <a:r>
              <a:rPr lang="en-US" dirty="0"/>
              <a:t>For example, suppose you have a dataset of 1000 images of random stray dogs of your area.</a:t>
            </a:r>
          </a:p>
          <a:p>
            <a:r>
              <a:rPr lang="en-US" dirty="0"/>
              <a:t>Thus, you would put this into a learning approach based AI machine. </a:t>
            </a:r>
          </a:p>
          <a:p>
            <a:r>
              <a:rPr lang="en-US" dirty="0"/>
              <a:t>It might cluster the data on the basis of </a:t>
            </a:r>
            <a:r>
              <a:rPr lang="en-US" dirty="0" err="1"/>
              <a:t>colour</a:t>
            </a:r>
            <a:r>
              <a:rPr lang="en-US" dirty="0"/>
              <a:t>, size, fur style, etc. </a:t>
            </a:r>
            <a:br>
              <a:rPr lang="en-US" dirty="0"/>
            </a:b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45</a:t>
            </a:fld>
            <a:endParaRPr lang="en-GB"/>
          </a:p>
        </p:txBody>
      </p:sp>
      <p:pic>
        <p:nvPicPr>
          <p:cNvPr id="8" name="Picture 7"/>
          <p:cNvPicPr>
            <a:picLocks noChangeAspect="1"/>
          </p:cNvPicPr>
          <p:nvPr/>
        </p:nvPicPr>
        <p:blipFill>
          <a:blip r:embed="rId2"/>
          <a:stretch>
            <a:fillRect/>
          </a:stretch>
        </p:blipFill>
        <p:spPr>
          <a:xfrm>
            <a:off x="4423545" y="912535"/>
            <a:ext cx="4320000" cy="3766700"/>
          </a:xfrm>
          <a:prstGeom prst="rect">
            <a:avLst/>
          </a:prstGeom>
        </p:spPr>
      </p:pic>
    </p:spTree>
    <p:extLst>
      <p:ext uri="{BB962C8B-B14F-4D97-AF65-F5344CB8AC3E}">
        <p14:creationId xmlns="" xmlns:p14="http://schemas.microsoft.com/office/powerpoint/2010/main" val="1265372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Decision tree</a:t>
            </a:r>
            <a:endParaRPr lang="en-IN" dirty="0"/>
          </a:p>
        </p:txBody>
      </p:sp>
      <p:sp>
        <p:nvSpPr>
          <p:cNvPr id="3" name="Text Placeholder 2"/>
          <p:cNvSpPr>
            <a:spLocks noGrp="1"/>
          </p:cNvSpPr>
          <p:nvPr>
            <p:ph type="body" idx="1"/>
          </p:nvPr>
        </p:nvSpPr>
        <p:spPr>
          <a:xfrm>
            <a:off x="819150" y="1571861"/>
            <a:ext cx="7505700" cy="2866864"/>
          </a:xfrm>
        </p:spPr>
        <p:txBody>
          <a:bodyPr/>
          <a:lstStyle/>
          <a:p>
            <a:r>
              <a:rPr lang="en-US" dirty="0"/>
              <a:t>Decision tree builds classification or regression models in the form of a tree structure. </a:t>
            </a:r>
          </a:p>
          <a:p>
            <a:r>
              <a:rPr lang="en-US" dirty="0"/>
              <a:t>It breaks down a dataset into smaller and smaller subsets while at the same time an associated decision tree is incrementally developed. </a:t>
            </a:r>
          </a:p>
          <a:p>
            <a:r>
              <a:rPr lang="en-US" dirty="0"/>
              <a:t>The final result is a tree with </a:t>
            </a:r>
            <a:r>
              <a:rPr lang="en-US" b="1" dirty="0"/>
              <a:t>decision nodes</a:t>
            </a:r>
            <a:r>
              <a:rPr lang="en-US" dirty="0"/>
              <a:t> and </a:t>
            </a:r>
            <a:r>
              <a:rPr lang="en-US" b="1" dirty="0"/>
              <a:t>leaf nodes</a:t>
            </a:r>
            <a:r>
              <a:rPr lang="en-US" dirty="0"/>
              <a:t>.</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46</a:t>
            </a:fld>
            <a:endParaRPr lang="en-GB"/>
          </a:p>
        </p:txBody>
      </p:sp>
    </p:spTree>
    <p:extLst>
      <p:ext uri="{BB962C8B-B14F-4D97-AF65-F5344CB8AC3E}">
        <p14:creationId xmlns="" xmlns:p14="http://schemas.microsoft.com/office/powerpoint/2010/main" val="35587530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Example </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47</a:t>
            </a:fld>
            <a:endParaRPr lang="en-GB"/>
          </a:p>
        </p:txBody>
      </p:sp>
      <p:pic>
        <p:nvPicPr>
          <p:cNvPr id="6146" name="Picture 2" descr="https://www.saedsayad.com/images/Decision_Tree_1.pn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86501" y="1302565"/>
            <a:ext cx="8358875" cy="3136159"/>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655454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Types of learnings</a:t>
            </a:r>
            <a:endParaRPr lang="en-IN" dirty="0"/>
          </a:p>
        </p:txBody>
      </p:sp>
      <p:sp>
        <p:nvSpPr>
          <p:cNvPr id="3" name="Text Placeholder 2"/>
          <p:cNvSpPr>
            <a:spLocks noGrp="1"/>
          </p:cNvSpPr>
          <p:nvPr>
            <p:ph type="body" idx="1"/>
          </p:nvPr>
        </p:nvSpPr>
        <p:spPr>
          <a:xfrm>
            <a:off x="819150" y="1571861"/>
            <a:ext cx="7505700" cy="2866864"/>
          </a:xfrm>
        </p:spPr>
        <p:txBody>
          <a:bodyPr/>
          <a:lstStyle/>
          <a:p>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48</a:t>
            </a:fld>
            <a:endParaRPr lang="en-GB"/>
          </a:p>
        </p:txBody>
      </p:sp>
      <p:sp>
        <p:nvSpPr>
          <p:cNvPr id="10" name="Flowchart: Process 9"/>
          <p:cNvSpPr/>
          <p:nvPr/>
        </p:nvSpPr>
        <p:spPr>
          <a:xfrm>
            <a:off x="3688080" y="1691880"/>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Learning based</a:t>
            </a:r>
            <a:endParaRPr lang="en-IN" dirty="0"/>
          </a:p>
        </p:txBody>
      </p:sp>
      <p:sp>
        <p:nvSpPr>
          <p:cNvPr id="11" name="Flowchart: Process 10"/>
          <p:cNvSpPr/>
          <p:nvPr/>
        </p:nvSpPr>
        <p:spPr>
          <a:xfrm>
            <a:off x="3688080" y="3479041"/>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Unsupervised Learning </a:t>
            </a:r>
            <a:endParaRPr lang="en-IN" dirty="0"/>
          </a:p>
        </p:txBody>
      </p:sp>
      <p:sp>
        <p:nvSpPr>
          <p:cNvPr id="12" name="Flowchart: Process 11"/>
          <p:cNvSpPr/>
          <p:nvPr/>
        </p:nvSpPr>
        <p:spPr>
          <a:xfrm>
            <a:off x="5823585" y="3479041"/>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Reinforcement Learning </a:t>
            </a:r>
            <a:endParaRPr lang="en-IN" dirty="0"/>
          </a:p>
        </p:txBody>
      </p:sp>
      <p:cxnSp>
        <p:nvCxnSpPr>
          <p:cNvPr id="18" name="Straight Arrow Connector 17"/>
          <p:cNvCxnSpPr>
            <a:stCxn id="10" idx="2"/>
            <a:endCxn id="11" idx="0"/>
          </p:cNvCxnSpPr>
          <p:nvPr/>
        </p:nvCxnSpPr>
        <p:spPr>
          <a:xfrm>
            <a:off x="4458789" y="2440817"/>
            <a:ext cx="0" cy="1038224"/>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cxnSp>
        <p:nvCxnSpPr>
          <p:cNvPr id="20" name="Straight Arrow Connector 19"/>
          <p:cNvCxnSpPr>
            <a:endCxn id="12" idx="0"/>
          </p:cNvCxnSpPr>
          <p:nvPr/>
        </p:nvCxnSpPr>
        <p:spPr>
          <a:xfrm>
            <a:off x="4454436" y="2440817"/>
            <a:ext cx="2139858" cy="1038224"/>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sp>
        <p:nvSpPr>
          <p:cNvPr id="17" name="Flowchart: Process 16"/>
          <p:cNvSpPr/>
          <p:nvPr/>
        </p:nvSpPr>
        <p:spPr>
          <a:xfrm>
            <a:off x="1608908" y="3479041"/>
            <a:ext cx="1541418" cy="748937"/>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Supervised Learning </a:t>
            </a:r>
            <a:endParaRPr lang="en-IN" dirty="0"/>
          </a:p>
        </p:txBody>
      </p:sp>
      <p:cxnSp>
        <p:nvCxnSpPr>
          <p:cNvPr id="19" name="Straight Arrow Connector 18"/>
          <p:cNvCxnSpPr>
            <a:stCxn id="10" idx="2"/>
            <a:endCxn id="17" idx="0"/>
          </p:cNvCxnSpPr>
          <p:nvPr/>
        </p:nvCxnSpPr>
        <p:spPr>
          <a:xfrm flipH="1">
            <a:off x="2379617" y="2440817"/>
            <a:ext cx="2079172" cy="1038224"/>
          </a:xfrm>
          <a:prstGeom prst="straightConnector1">
            <a:avLst/>
          </a:prstGeom>
          <a:ln>
            <a:tailEnd type="triangle"/>
          </a:ln>
        </p:spPr>
        <p:style>
          <a:lnRef idx="3">
            <a:schemeClr val="lt1"/>
          </a:lnRef>
          <a:fillRef idx="1">
            <a:schemeClr val="accent4"/>
          </a:fillRef>
          <a:effectRef idx="1">
            <a:schemeClr val="accent4"/>
          </a:effectRef>
          <a:fontRef idx="minor">
            <a:schemeClr val="lt1"/>
          </a:fontRef>
        </p:style>
      </p:cxnSp>
    </p:spTree>
    <p:extLst>
      <p:ext uri="{BB962C8B-B14F-4D97-AF65-F5344CB8AC3E}">
        <p14:creationId xmlns="" xmlns:p14="http://schemas.microsoft.com/office/powerpoint/2010/main" val="414310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Supervised Learning </a:t>
            </a:r>
            <a:endParaRPr lang="en-IN" dirty="0"/>
          </a:p>
        </p:txBody>
      </p:sp>
      <p:sp>
        <p:nvSpPr>
          <p:cNvPr id="3" name="Text Placeholder 2"/>
          <p:cNvSpPr>
            <a:spLocks noGrp="1"/>
          </p:cNvSpPr>
          <p:nvPr>
            <p:ph type="body" idx="1"/>
          </p:nvPr>
        </p:nvSpPr>
        <p:spPr>
          <a:xfrm>
            <a:off x="819150" y="1571861"/>
            <a:ext cx="7505700" cy="2866864"/>
          </a:xfrm>
        </p:spPr>
        <p:txBody>
          <a:bodyPr>
            <a:normAutofit fontScale="77500" lnSpcReduction="20000"/>
          </a:bodyPr>
          <a:lstStyle/>
          <a:p>
            <a:r>
              <a:rPr lang="en-US" dirty="0"/>
              <a:t>In a supervised learning model, the dataset which is fed to the machine is labelled. </a:t>
            </a:r>
          </a:p>
          <a:p>
            <a:r>
              <a:rPr lang="en-US" dirty="0"/>
              <a:t>A label is some information which can be used as a tag for data. </a:t>
            </a:r>
          </a:p>
          <a:p>
            <a:r>
              <a:rPr lang="en-US" dirty="0"/>
              <a:t>For example, students get grades according to the marks they secure in examinations. </a:t>
            </a:r>
          </a:p>
          <a:p>
            <a:r>
              <a:rPr lang="en-US" dirty="0"/>
              <a:t>These grades are labels which </a:t>
            </a:r>
            <a:r>
              <a:rPr lang="en-US" dirty="0" err="1"/>
              <a:t>categorise</a:t>
            </a:r>
            <a:r>
              <a:rPr lang="en-US" dirty="0"/>
              <a:t> the students</a:t>
            </a:r>
            <a:br>
              <a:rPr lang="en-US" dirty="0"/>
            </a:br>
            <a:r>
              <a:rPr lang="en-US" dirty="0"/>
              <a:t>according to their marks.</a:t>
            </a:r>
            <a:br>
              <a:rPr lang="en-US" dirty="0"/>
            </a:br>
            <a:r>
              <a:rPr lang="en-US" dirty="0"/>
              <a:t/>
            </a:r>
            <a:br>
              <a:rPr lang="en-US" dirty="0"/>
            </a:br>
            <a:endParaRPr lang="en-US" dirty="0"/>
          </a:p>
          <a:p>
            <a:r>
              <a:rPr lang="en-US" dirty="0"/>
              <a:t>Classification </a:t>
            </a:r>
          </a:p>
          <a:p>
            <a:r>
              <a:rPr lang="en-US" dirty="0"/>
              <a:t>Regression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49</a:t>
            </a:fld>
            <a:endParaRPr lang="en-GB"/>
          </a:p>
        </p:txBody>
      </p:sp>
    </p:spTree>
    <p:extLst>
      <p:ext uri="{BB962C8B-B14F-4D97-AF65-F5344CB8AC3E}">
        <p14:creationId xmlns="" xmlns:p14="http://schemas.microsoft.com/office/powerpoint/2010/main" val="1410644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Classification</a:t>
            </a:r>
            <a:endParaRPr lang="en-IN" dirty="0"/>
          </a:p>
        </p:txBody>
      </p:sp>
      <p:sp>
        <p:nvSpPr>
          <p:cNvPr id="3" name="Text Placeholder 2"/>
          <p:cNvSpPr>
            <a:spLocks noGrp="1"/>
          </p:cNvSpPr>
          <p:nvPr>
            <p:ph type="body" idx="1"/>
          </p:nvPr>
        </p:nvSpPr>
        <p:spPr>
          <a:xfrm>
            <a:off x="819150" y="1571861"/>
            <a:ext cx="4066359" cy="2866864"/>
          </a:xfrm>
        </p:spPr>
        <p:txBody>
          <a:bodyPr>
            <a:normAutofit/>
          </a:bodyPr>
          <a:lstStyle/>
          <a:p>
            <a:r>
              <a:rPr lang="en-US" dirty="0"/>
              <a:t>Where the data is classified according to the labels. </a:t>
            </a:r>
          </a:p>
          <a:p>
            <a:r>
              <a:rPr lang="en-US" dirty="0"/>
              <a:t>The entries are divided in two classes normally.</a:t>
            </a:r>
          </a:p>
          <a:p>
            <a:r>
              <a:rPr lang="en-US" dirty="0"/>
              <a:t>The boundary condition is defined to classify.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50</a:t>
            </a:fld>
            <a:endParaRPr lang="en-GB"/>
          </a:p>
        </p:txBody>
      </p:sp>
      <p:pic>
        <p:nvPicPr>
          <p:cNvPr id="7170" name="Picture 2" descr="Classification - H2o.ai"/>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947525" y="1422064"/>
            <a:ext cx="3587424" cy="271852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0772030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Regression </a:t>
            </a:r>
            <a:endParaRPr lang="en-IN" dirty="0"/>
          </a:p>
        </p:txBody>
      </p:sp>
      <p:sp>
        <p:nvSpPr>
          <p:cNvPr id="3" name="Text Placeholder 2"/>
          <p:cNvSpPr>
            <a:spLocks noGrp="1"/>
          </p:cNvSpPr>
          <p:nvPr>
            <p:ph type="body" idx="1"/>
          </p:nvPr>
        </p:nvSpPr>
        <p:spPr>
          <a:xfrm>
            <a:off x="819150" y="1571861"/>
            <a:ext cx="4196987" cy="2866864"/>
          </a:xfrm>
        </p:spPr>
        <p:txBody>
          <a:bodyPr>
            <a:normAutofit lnSpcReduction="10000"/>
          </a:bodyPr>
          <a:lstStyle/>
          <a:p>
            <a:r>
              <a:rPr lang="en-US" dirty="0"/>
              <a:t>Regression deals with continuous data. </a:t>
            </a:r>
          </a:p>
          <a:p>
            <a:r>
              <a:rPr lang="en-US" dirty="0"/>
              <a:t>For example, if we know the growth rate, we can predict the salary of someone after a certain number of years. </a:t>
            </a:r>
          </a:p>
          <a:p>
            <a:r>
              <a:rPr lang="en-US" dirty="0"/>
              <a:t>Regression is linear as well as non-linear.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51</a:t>
            </a:fld>
            <a:endParaRPr lang="en-GB"/>
          </a:p>
        </p:txBody>
      </p:sp>
      <p:pic>
        <p:nvPicPr>
          <p:cNvPr id="8196" name="Picture 4" descr="Linear Regression VS Logistic Regression in Machine Learning | LaptrinhX"/>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5396015" y="1645919"/>
            <a:ext cx="3074941" cy="2459953"/>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1639490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845600"/>
            <a:ext cx="7505700" cy="635577"/>
          </a:xfrm>
        </p:spPr>
        <p:txBody>
          <a:bodyPr>
            <a:normAutofit fontScale="90000"/>
          </a:bodyPr>
          <a:lstStyle/>
          <a:p>
            <a:r>
              <a:rPr lang="en-US" dirty="0"/>
              <a:t>Unsupervised Learning </a:t>
            </a:r>
            <a:endParaRPr lang="en-IN" dirty="0"/>
          </a:p>
        </p:txBody>
      </p:sp>
      <p:sp>
        <p:nvSpPr>
          <p:cNvPr id="3" name="Text Placeholder 2"/>
          <p:cNvSpPr>
            <a:spLocks noGrp="1"/>
          </p:cNvSpPr>
          <p:nvPr>
            <p:ph type="body" idx="1"/>
          </p:nvPr>
        </p:nvSpPr>
        <p:spPr>
          <a:xfrm>
            <a:off x="819150" y="1571861"/>
            <a:ext cx="7505700" cy="2866864"/>
          </a:xfrm>
        </p:spPr>
        <p:txBody>
          <a:bodyPr>
            <a:normAutofit fontScale="92500" lnSpcReduction="20000"/>
          </a:bodyPr>
          <a:lstStyle/>
          <a:p>
            <a:r>
              <a:rPr lang="en-US" dirty="0"/>
              <a:t>An unsupervised learning model works on </a:t>
            </a:r>
            <a:r>
              <a:rPr lang="en-US" dirty="0" err="1"/>
              <a:t>unlabelled</a:t>
            </a:r>
            <a:r>
              <a:rPr lang="en-US" dirty="0"/>
              <a:t> dataset. </a:t>
            </a:r>
          </a:p>
          <a:p>
            <a:r>
              <a:rPr lang="en-US" dirty="0"/>
              <a:t>This means that the data which is fed to the machine is random and there is a possibility that the person who is training the model does not have any information regarding it. </a:t>
            </a:r>
          </a:p>
          <a:p>
            <a:r>
              <a:rPr lang="en-US" dirty="0"/>
              <a:t>The unsupervised learning models are used to identify relationships, patterns and trends out of the data which is fed into it. </a:t>
            </a:r>
          </a:p>
          <a:p>
            <a:r>
              <a:rPr lang="en-US" dirty="0"/>
              <a:t>It helps the user in understanding what the data is about and what are the major features identified by the machine in it.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52</a:t>
            </a:fld>
            <a:endParaRPr lang="en-GB"/>
          </a:p>
        </p:txBody>
      </p:sp>
    </p:spTree>
    <p:extLst>
      <p:ext uri="{BB962C8B-B14F-4D97-AF65-F5344CB8AC3E}">
        <p14:creationId xmlns="" xmlns:p14="http://schemas.microsoft.com/office/powerpoint/2010/main" val="2394946793"/>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1985</TotalTime>
  <Words>1118</Words>
  <Application>Microsoft Office PowerPoint</Application>
  <PresentationFormat>On-screen Show (16:9)</PresentationFormat>
  <Paragraphs>239</Paragraphs>
  <Slides>52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Georgia</vt:lpstr>
      <vt:lpstr>Nunito</vt:lpstr>
      <vt:lpstr>Calibri</vt:lpstr>
      <vt:lpstr>Shift</vt:lpstr>
      <vt:lpstr>Artificial Intelligence, Data analytics, Data Science</vt:lpstr>
      <vt:lpstr>Data Science</vt:lpstr>
      <vt:lpstr>What is data science</vt:lpstr>
      <vt:lpstr>Data analysis vs Data Science</vt:lpstr>
      <vt:lpstr>Why Data Science?</vt:lpstr>
      <vt:lpstr>Applications of Data Science</vt:lpstr>
      <vt:lpstr>Applications of Data Science</vt:lpstr>
      <vt:lpstr>Applications of Data Science</vt:lpstr>
      <vt:lpstr>  An Example with Data Science</vt:lpstr>
      <vt:lpstr>Problem Scoping</vt:lpstr>
      <vt:lpstr>Slide 11</vt:lpstr>
      <vt:lpstr>Slide 12</vt:lpstr>
      <vt:lpstr>Problem Statement</vt:lpstr>
      <vt:lpstr>Data Acquisition</vt:lpstr>
      <vt:lpstr>Data mapping</vt:lpstr>
      <vt:lpstr>Data Exploration</vt:lpstr>
      <vt:lpstr>Modeling</vt:lpstr>
      <vt:lpstr>Evaluation</vt:lpstr>
      <vt:lpstr>Slide 19</vt:lpstr>
      <vt:lpstr>Data Collection</vt:lpstr>
      <vt:lpstr>Commonly used datasets</vt:lpstr>
      <vt:lpstr>Open-Source Datasets  </vt:lpstr>
      <vt:lpstr>Big Data </vt:lpstr>
      <vt:lpstr>Examples of Big Data </vt:lpstr>
      <vt:lpstr>Types of Big Data </vt:lpstr>
      <vt:lpstr>Structured </vt:lpstr>
      <vt:lpstr>Unstructured</vt:lpstr>
      <vt:lpstr>Training Testing and Validation</vt:lpstr>
      <vt:lpstr>Slide 29</vt:lpstr>
      <vt:lpstr>Data acquisition demo</vt:lpstr>
      <vt:lpstr>Data Exploration</vt:lpstr>
      <vt:lpstr>Data visualization tools</vt:lpstr>
      <vt:lpstr>Why do we need to visualize</vt:lpstr>
      <vt:lpstr>Data Visualization methods </vt:lpstr>
      <vt:lpstr>Student worksheet</vt:lpstr>
      <vt:lpstr>Example in Excel </vt:lpstr>
      <vt:lpstr>Multidimensional data</vt:lpstr>
      <vt:lpstr>Modeling</vt:lpstr>
      <vt:lpstr>Modeling</vt:lpstr>
      <vt:lpstr>AI ML and DL</vt:lpstr>
      <vt:lpstr>AI, ML and DL</vt:lpstr>
      <vt:lpstr>Modeling</vt:lpstr>
      <vt:lpstr>Types of AI models </vt:lpstr>
      <vt:lpstr>Rule based model</vt:lpstr>
      <vt:lpstr>Learning based model</vt:lpstr>
      <vt:lpstr>Decision tree</vt:lpstr>
      <vt:lpstr>Example </vt:lpstr>
      <vt:lpstr>Types of learnings</vt:lpstr>
      <vt:lpstr>Supervised Learning </vt:lpstr>
      <vt:lpstr>Classification</vt:lpstr>
      <vt:lpstr>Regression </vt:lpstr>
      <vt:lpstr>Unsupervised Learning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For CBSE Teachers</dc:title>
  <dc:creator>Sandeep Saini</dc:creator>
  <cp:lastModifiedBy>hp</cp:lastModifiedBy>
  <cp:revision>111</cp:revision>
  <dcterms:modified xsi:type="dcterms:W3CDTF">2026-07-05T12:33:05Z</dcterms:modified>
</cp:coreProperties>
</file>