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roxima Nova" charset="1" panose="02000506030000020004"/>
      <p:regular r:id="rId15"/>
    </p:embeddedFont>
    <p:embeddedFont>
      <p:font typeface="Agbalumo" charset="1" panose="00000000000000000000"/>
      <p:regular r:id="rId16"/>
    </p:embeddedFont>
    <p:embeddedFont>
      <p:font typeface="Calibri (MS)" charset="1" panose="020F0502020204030204"/>
      <p:regular r:id="rId17"/>
    </p:embeddedFont>
    <p:embeddedFont>
      <p:font typeface="Roboto Bold" charset="1" panose="02000000000000000000"/>
      <p:regular r:id="rId18"/>
    </p:embeddedFont>
    <p:embeddedFont>
      <p:font typeface="Roboto" charset="1" panose="02000000000000000000"/>
      <p:regular r:id="rId19"/>
    </p:embeddedFont>
    <p:embeddedFont>
      <p:font typeface="Calibri (MS) Bold" charset="1" panose="020F0702030404030204"/>
      <p:regular r:id="rId20"/>
    </p:embeddedFont>
    <p:embeddedFont>
      <p:font typeface="Arimo Bold" charset="1" panose="020B07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1.png" Type="http://schemas.openxmlformats.org/officeDocument/2006/relationships/image"/><Relationship Id="rId14" Target="../media/image2.svg" Type="http://schemas.openxmlformats.org/officeDocument/2006/relationships/image"/><Relationship Id="rId15" Target="../media/image20.png" Type="http://schemas.openxmlformats.org/officeDocument/2006/relationships/image"/><Relationship Id="rId16" Target="../media/image21.svg" Type="http://schemas.openxmlformats.org/officeDocument/2006/relationships/image"/><Relationship Id="rId17" Target="../media/image22.png" Type="http://schemas.openxmlformats.org/officeDocument/2006/relationships/image"/><Relationship Id="rId18" Target="../media/image23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147">
            <a:off x="-19070" y="5986775"/>
            <a:ext cx="18326140" cy="0"/>
          </a:xfrm>
          <a:prstGeom prst="line">
            <a:avLst/>
          </a:prstGeom>
          <a:ln cap="rnd" w="19050">
            <a:solidFill>
              <a:srgbClr val="63D29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2643675"/>
            <a:ext cx="16246200" cy="3177000"/>
            <a:chOff x="0" y="0"/>
            <a:chExt cx="21661600" cy="423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61600" cy="4236000"/>
            </a:xfrm>
            <a:custGeom>
              <a:avLst/>
              <a:gdLst/>
              <a:ahLst/>
              <a:cxnLst/>
              <a:rect r="r" b="b" t="t" l="l"/>
              <a:pathLst>
                <a:path h="4236000" w="21661600">
                  <a:moveTo>
                    <a:pt x="0" y="0"/>
                  </a:moveTo>
                  <a:lnTo>
                    <a:pt x="21661600" y="0"/>
                  </a:lnTo>
                  <a:lnTo>
                    <a:pt x="21661600" y="4236000"/>
                  </a:lnTo>
                  <a:lnTo>
                    <a:pt x="0" y="423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1661600" cy="42360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9887"/>
                </a:lnSpc>
              </a:pPr>
              <a:r>
                <a:rPr lang="en-US" sz="8239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</a:t>
              </a:r>
              <a:r>
                <a:rPr lang="en-US" sz="8239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.4. Unsupervised Learning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456051"/>
            <a:ext cx="1606335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Unsup</a:t>
            </a:r>
            <a:r>
              <a:rPr lang="en-US" sz="39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ervised Learning &amp; its Types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4796" y="306733"/>
            <a:ext cx="8315829" cy="1165352"/>
            <a:chOff x="0" y="0"/>
            <a:chExt cx="11087772" cy="15538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Unsupervised  Learning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52405" y="4696109"/>
            <a:ext cx="1026369" cy="626085"/>
          </a:xfrm>
          <a:custGeom>
            <a:avLst/>
            <a:gdLst/>
            <a:ahLst/>
            <a:cxnLst/>
            <a:rect r="r" b="b" t="t" l="l"/>
            <a:pathLst>
              <a:path h="626085" w="1026369">
                <a:moveTo>
                  <a:pt x="0" y="0"/>
                </a:moveTo>
                <a:lnTo>
                  <a:pt x="1026368" y="0"/>
                </a:lnTo>
                <a:lnTo>
                  <a:pt x="1026368" y="626085"/>
                </a:lnTo>
                <a:lnTo>
                  <a:pt x="0" y="6260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52405" y="6087999"/>
            <a:ext cx="1023108" cy="725128"/>
          </a:xfrm>
          <a:custGeom>
            <a:avLst/>
            <a:gdLst/>
            <a:ahLst/>
            <a:cxnLst/>
            <a:rect r="r" b="b" t="t" l="l"/>
            <a:pathLst>
              <a:path h="725128" w="1023108">
                <a:moveTo>
                  <a:pt x="0" y="0"/>
                </a:moveTo>
                <a:lnTo>
                  <a:pt x="1023108" y="0"/>
                </a:lnTo>
                <a:lnTo>
                  <a:pt x="1023108" y="725127"/>
                </a:lnTo>
                <a:lnTo>
                  <a:pt x="0" y="7251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16681" y="7543194"/>
            <a:ext cx="862092" cy="793124"/>
          </a:xfrm>
          <a:custGeom>
            <a:avLst/>
            <a:gdLst/>
            <a:ahLst/>
            <a:cxnLst/>
            <a:rect r="r" b="b" t="t" l="l"/>
            <a:pathLst>
              <a:path h="793124" w="862092">
                <a:moveTo>
                  <a:pt x="0" y="0"/>
                </a:moveTo>
                <a:lnTo>
                  <a:pt x="862092" y="0"/>
                </a:lnTo>
                <a:lnTo>
                  <a:pt x="862092" y="793124"/>
                </a:lnTo>
                <a:lnTo>
                  <a:pt x="0" y="7931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52405" y="2369722"/>
            <a:ext cx="686055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Unsupervised Learning </a:t>
            </a: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deals with unlabeled data. The system tries to identify hidden patterns or structures in the data without knowing the correct answers.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06252" y="4818651"/>
            <a:ext cx="338625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Segmentation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6252" y="6260062"/>
            <a:ext cx="291683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Market Basket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6252" y="7749256"/>
            <a:ext cx="302213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Gene Clustering in Biology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74796" y="2434825"/>
            <a:ext cx="5630689" cy="5927041"/>
          </a:xfrm>
          <a:custGeom>
            <a:avLst/>
            <a:gdLst/>
            <a:ahLst/>
            <a:cxnLst/>
            <a:rect r="r" b="b" t="t" l="l"/>
            <a:pathLst>
              <a:path h="5927041" w="5630689">
                <a:moveTo>
                  <a:pt x="0" y="0"/>
                </a:moveTo>
                <a:lnTo>
                  <a:pt x="5630689" y="0"/>
                </a:lnTo>
                <a:lnTo>
                  <a:pt x="5630689" y="5927041"/>
                </a:lnTo>
                <a:lnTo>
                  <a:pt x="0" y="59270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4796" y="306733"/>
            <a:ext cx="8315829" cy="1165352"/>
            <a:chOff x="0" y="0"/>
            <a:chExt cx="11087772" cy="1553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Types  of  Supervised  Learning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10164" y="3192997"/>
            <a:ext cx="3775276" cy="4114468"/>
            <a:chOff x="0" y="0"/>
            <a:chExt cx="716142" cy="7804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6142" cy="780484"/>
            </a:xfrm>
            <a:custGeom>
              <a:avLst/>
              <a:gdLst/>
              <a:ahLst/>
              <a:cxnLst/>
              <a:rect r="r" b="b" t="t" l="l"/>
              <a:pathLst>
                <a:path h="780484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27784"/>
                  </a:cubicBezTo>
                  <a:lnTo>
                    <a:pt x="716142" y="780484"/>
                  </a:lnTo>
                  <a:lnTo>
                    <a:pt x="0" y="780484"/>
                  </a:lnTo>
                  <a:lnTo>
                    <a:pt x="0" y="32812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386C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375"/>
              <a:ext cx="716142" cy="70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23865" y="3192997"/>
            <a:ext cx="3775276" cy="4114468"/>
            <a:chOff x="0" y="0"/>
            <a:chExt cx="716142" cy="7804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6142" cy="780484"/>
            </a:xfrm>
            <a:custGeom>
              <a:avLst/>
              <a:gdLst/>
              <a:ahLst/>
              <a:cxnLst/>
              <a:rect r="r" b="b" t="t" l="l"/>
              <a:pathLst>
                <a:path h="780484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27784"/>
                  </a:cubicBezTo>
                  <a:lnTo>
                    <a:pt x="716142" y="780484"/>
                  </a:lnTo>
                  <a:lnTo>
                    <a:pt x="0" y="780484"/>
                  </a:lnTo>
                  <a:lnTo>
                    <a:pt x="0" y="32812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308FB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79375"/>
              <a:ext cx="716142" cy="70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639214" y="6398036"/>
            <a:ext cx="2044545" cy="2044545"/>
          </a:xfrm>
          <a:custGeom>
            <a:avLst/>
            <a:gdLst/>
            <a:ahLst/>
            <a:cxnLst/>
            <a:rect r="r" b="b" t="t" l="l"/>
            <a:pathLst>
              <a:path h="2044545" w="2044545">
                <a:moveTo>
                  <a:pt x="0" y="0"/>
                </a:moveTo>
                <a:lnTo>
                  <a:pt x="2044545" y="0"/>
                </a:lnTo>
                <a:lnTo>
                  <a:pt x="2044545" y="2044545"/>
                </a:lnTo>
                <a:lnTo>
                  <a:pt x="0" y="2044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5169323" y="6398036"/>
            <a:ext cx="2044545" cy="2044545"/>
          </a:xfrm>
          <a:custGeom>
            <a:avLst/>
            <a:gdLst/>
            <a:ahLst/>
            <a:cxnLst/>
            <a:rect r="r" b="b" t="t" l="l"/>
            <a:pathLst>
              <a:path h="2044545" w="2044545">
                <a:moveTo>
                  <a:pt x="0" y="0"/>
                </a:moveTo>
                <a:lnTo>
                  <a:pt x="2044545" y="0"/>
                </a:lnTo>
                <a:lnTo>
                  <a:pt x="2044545" y="2044545"/>
                </a:lnTo>
                <a:lnTo>
                  <a:pt x="0" y="2044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11602074" y="6398036"/>
            <a:ext cx="1818857" cy="181885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774442" y="6558230"/>
            <a:ext cx="1474120" cy="1498470"/>
          </a:xfrm>
          <a:custGeom>
            <a:avLst/>
            <a:gdLst/>
            <a:ahLst/>
            <a:cxnLst/>
            <a:rect r="r" b="b" t="t" l="l"/>
            <a:pathLst>
              <a:path h="1498470" w="1474120">
                <a:moveTo>
                  <a:pt x="0" y="0"/>
                </a:moveTo>
                <a:lnTo>
                  <a:pt x="1474121" y="0"/>
                </a:lnTo>
                <a:lnTo>
                  <a:pt x="1474121" y="1498470"/>
                </a:lnTo>
                <a:lnTo>
                  <a:pt x="0" y="14984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5188373" y="6398036"/>
            <a:ext cx="1818857" cy="181885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360742" y="6558230"/>
            <a:ext cx="1474120" cy="1498470"/>
          </a:xfrm>
          <a:custGeom>
            <a:avLst/>
            <a:gdLst/>
            <a:ahLst/>
            <a:cxnLst/>
            <a:rect r="r" b="b" t="t" l="l"/>
            <a:pathLst>
              <a:path h="1498470" w="1474120">
                <a:moveTo>
                  <a:pt x="0" y="0"/>
                </a:moveTo>
                <a:lnTo>
                  <a:pt x="1474120" y="0"/>
                </a:lnTo>
                <a:lnTo>
                  <a:pt x="1474120" y="1498470"/>
                </a:lnTo>
                <a:lnTo>
                  <a:pt x="0" y="14984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5758213" y="2673085"/>
            <a:ext cx="679178" cy="677803"/>
            <a:chOff x="0" y="0"/>
            <a:chExt cx="905570" cy="90373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05570" cy="903738"/>
              <a:chOff x="0" y="0"/>
              <a:chExt cx="812800" cy="81115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6C9C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15367" y="239994"/>
              <a:ext cx="474837" cy="38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2"/>
                </a:lnSpc>
              </a:pPr>
              <a:r>
                <a:rPr lang="en-US" sz="1737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71914" y="2673085"/>
            <a:ext cx="679178" cy="677803"/>
            <a:chOff x="0" y="0"/>
            <a:chExt cx="905570" cy="903738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905570" cy="903738"/>
              <a:chOff x="0" y="0"/>
              <a:chExt cx="812800" cy="81115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8FBE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15367" y="239994"/>
              <a:ext cx="474837" cy="38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2"/>
                </a:lnSpc>
              </a:pPr>
              <a:r>
                <a:rPr lang="en-US" sz="1737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13">
              <a:alphaModFix amt="60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0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850842" y="7020876"/>
            <a:ext cx="535077" cy="535077"/>
          </a:xfrm>
          <a:custGeom>
            <a:avLst/>
            <a:gdLst/>
            <a:ahLst/>
            <a:cxnLst/>
            <a:rect r="r" b="b" t="t" l="l"/>
            <a:pathLst>
              <a:path h="535077" w="535077">
                <a:moveTo>
                  <a:pt x="0" y="0"/>
                </a:moveTo>
                <a:lnTo>
                  <a:pt x="535077" y="0"/>
                </a:lnTo>
                <a:lnTo>
                  <a:pt x="535077" y="535077"/>
                </a:lnTo>
                <a:lnTo>
                  <a:pt x="0" y="53507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262165" y="7009172"/>
            <a:ext cx="577535" cy="577535"/>
          </a:xfrm>
          <a:custGeom>
            <a:avLst/>
            <a:gdLst/>
            <a:ahLst/>
            <a:cxnLst/>
            <a:rect r="r" b="b" t="t" l="l"/>
            <a:pathLst>
              <a:path h="577535" w="577535">
                <a:moveTo>
                  <a:pt x="0" y="0"/>
                </a:moveTo>
                <a:lnTo>
                  <a:pt x="577535" y="0"/>
                </a:lnTo>
                <a:lnTo>
                  <a:pt x="577535" y="577535"/>
                </a:lnTo>
                <a:lnTo>
                  <a:pt x="0" y="57753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4580323" y="4398834"/>
            <a:ext cx="3076115" cy="165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8"/>
              </a:lnSpc>
            </a:pPr>
            <a:r>
              <a:rPr lang="en-US" sz="1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Grouping similar data points based on features without any labels.For example: grouping customers based on purchasing behavior.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73445" y="4398834"/>
            <a:ext cx="3076115" cy="165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8"/>
              </a:lnSpc>
            </a:pPr>
            <a:r>
              <a:rPr lang="en-US" sz="1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Discovering interesting relationships or rules among variables.For example: “People who buy bread often buy butter.”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580323" y="3721707"/>
            <a:ext cx="3076115" cy="3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48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Clustering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973445" y="3721707"/>
            <a:ext cx="3076115" cy="3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Association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5271" y="306733"/>
            <a:ext cx="8315829" cy="1165352"/>
            <a:chOff x="0" y="0"/>
            <a:chExt cx="11087772" cy="1553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Clustering  Models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74233" y="2629200"/>
            <a:ext cx="3828738" cy="5459876"/>
          </a:xfrm>
          <a:custGeom>
            <a:avLst/>
            <a:gdLst/>
            <a:ahLst/>
            <a:cxnLst/>
            <a:rect r="r" b="b" t="t" l="l"/>
            <a:pathLst>
              <a:path h="5459876" w="3828738">
                <a:moveTo>
                  <a:pt x="0" y="0"/>
                </a:moveTo>
                <a:lnTo>
                  <a:pt x="3828738" y="0"/>
                </a:lnTo>
                <a:lnTo>
                  <a:pt x="3828738" y="5459876"/>
                </a:lnTo>
                <a:lnTo>
                  <a:pt x="0" y="54598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096254" y="3871781"/>
            <a:ext cx="431130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K-Means Clustering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96254" y="4717302"/>
            <a:ext cx="371364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Hierarchical Clustering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96254" y="5562823"/>
            <a:ext cx="538759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DBSCAN (Density-Based Spatial Clustering)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96254" y="6408344"/>
            <a:ext cx="448205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Gaussian Mixture Models (GMM)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4796" y="306733"/>
            <a:ext cx="8315829" cy="1165325"/>
            <a:chOff x="0" y="0"/>
            <a:chExt cx="11087772" cy="15537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87772" cy="1553766"/>
            </a:xfrm>
            <a:custGeom>
              <a:avLst/>
              <a:gdLst/>
              <a:ahLst/>
              <a:cxnLst/>
              <a:rect r="r" b="b" t="t" l="l"/>
              <a:pathLst>
                <a:path h="1553766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766"/>
                  </a:lnTo>
                  <a:lnTo>
                    <a:pt x="0" y="1553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1087772" cy="16585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Association  Models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44216" y="3390668"/>
            <a:ext cx="6677653" cy="3714444"/>
          </a:xfrm>
          <a:custGeom>
            <a:avLst/>
            <a:gdLst/>
            <a:ahLst/>
            <a:cxnLst/>
            <a:rect r="r" b="b" t="t" l="l"/>
            <a:pathLst>
              <a:path h="3714444" w="6677653">
                <a:moveTo>
                  <a:pt x="0" y="0"/>
                </a:moveTo>
                <a:lnTo>
                  <a:pt x="6677653" y="0"/>
                </a:lnTo>
                <a:lnTo>
                  <a:pt x="6677653" y="3714444"/>
                </a:lnTo>
                <a:lnTo>
                  <a:pt x="0" y="37144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36490" y="4183294"/>
            <a:ext cx="431130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Apriori Algorithm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36490" y="5028815"/>
            <a:ext cx="371364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Eclat Algorithm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36490" y="5874336"/>
            <a:ext cx="338920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FP-Growth Algorithm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4796" y="306733"/>
            <a:ext cx="6558856" cy="1165352"/>
            <a:chOff x="0" y="0"/>
            <a:chExt cx="8745142" cy="15538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45142" cy="1553802"/>
            </a:xfrm>
            <a:custGeom>
              <a:avLst/>
              <a:gdLst/>
              <a:ahLst/>
              <a:cxnLst/>
              <a:rect r="r" b="b" t="t" l="l"/>
              <a:pathLst>
                <a:path h="1553802" w="8745142">
                  <a:moveTo>
                    <a:pt x="0" y="0"/>
                  </a:moveTo>
                  <a:lnTo>
                    <a:pt x="8745142" y="0"/>
                  </a:lnTo>
                  <a:lnTo>
                    <a:pt x="874514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874514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Applications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46712" y="3007047"/>
            <a:ext cx="3292244" cy="442121"/>
            <a:chOff x="0" y="0"/>
            <a:chExt cx="4389659" cy="5894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9659" cy="589495"/>
            </a:xfrm>
            <a:custGeom>
              <a:avLst/>
              <a:gdLst/>
              <a:ahLst/>
              <a:cxnLst/>
              <a:rect r="r" b="b" t="t" l="l"/>
              <a:pathLst>
                <a:path h="589495" w="4389659">
                  <a:moveTo>
                    <a:pt x="0" y="0"/>
                  </a:moveTo>
                  <a:lnTo>
                    <a:pt x="4389659" y="0"/>
                  </a:lnTo>
                  <a:lnTo>
                    <a:pt x="4389659" y="589495"/>
                  </a:lnTo>
                  <a:lnTo>
                    <a:pt x="0" y="589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42875"/>
              <a:ext cx="4389659" cy="732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2200">
                  <a:solidFill>
                    <a:srgbClr val="63D29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Clustering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340596" y="5827034"/>
            <a:ext cx="3292244" cy="442121"/>
            <a:chOff x="0" y="0"/>
            <a:chExt cx="4389659" cy="5894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659" cy="589495"/>
            </a:xfrm>
            <a:custGeom>
              <a:avLst/>
              <a:gdLst/>
              <a:ahLst/>
              <a:cxnLst/>
              <a:rect r="r" b="b" t="t" l="l"/>
              <a:pathLst>
                <a:path h="589495" w="4389659">
                  <a:moveTo>
                    <a:pt x="0" y="0"/>
                  </a:moveTo>
                  <a:lnTo>
                    <a:pt x="4389659" y="0"/>
                  </a:lnTo>
                  <a:lnTo>
                    <a:pt x="4389659" y="589495"/>
                  </a:lnTo>
                  <a:lnTo>
                    <a:pt x="0" y="589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42875"/>
              <a:ext cx="4389659" cy="732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2200">
                  <a:solidFill>
                    <a:srgbClr val="63D29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Association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028108" y="3550056"/>
            <a:ext cx="507617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Segmentation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 Clustering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Social Network Analysis </a:t>
            </a:r>
          </a:p>
          <a:p>
            <a:pPr algn="l" marL="431800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Anomaly Detection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28108" y="6373931"/>
            <a:ext cx="433851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rket Basket Analysis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Recommender Systems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Analytics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493031" y="2960569"/>
            <a:ext cx="535077" cy="535077"/>
          </a:xfrm>
          <a:custGeom>
            <a:avLst/>
            <a:gdLst/>
            <a:ahLst/>
            <a:cxnLst/>
            <a:rect r="r" b="b" t="t" l="l"/>
            <a:pathLst>
              <a:path h="535077" w="535077">
                <a:moveTo>
                  <a:pt x="0" y="0"/>
                </a:moveTo>
                <a:lnTo>
                  <a:pt x="535077" y="0"/>
                </a:lnTo>
                <a:lnTo>
                  <a:pt x="535077" y="535077"/>
                </a:lnTo>
                <a:lnTo>
                  <a:pt x="0" y="5350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93031" y="5759327"/>
            <a:ext cx="577535" cy="577535"/>
          </a:xfrm>
          <a:custGeom>
            <a:avLst/>
            <a:gdLst/>
            <a:ahLst/>
            <a:cxnLst/>
            <a:rect r="r" b="b" t="t" l="l"/>
            <a:pathLst>
              <a:path h="577535" w="577535">
                <a:moveTo>
                  <a:pt x="0" y="0"/>
                </a:moveTo>
                <a:lnTo>
                  <a:pt x="577535" y="0"/>
                </a:lnTo>
                <a:lnTo>
                  <a:pt x="577535" y="577536"/>
                </a:lnTo>
                <a:lnTo>
                  <a:pt x="0" y="5775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950332" y="2408001"/>
            <a:ext cx="5630689" cy="5927041"/>
          </a:xfrm>
          <a:custGeom>
            <a:avLst/>
            <a:gdLst/>
            <a:ahLst/>
            <a:cxnLst/>
            <a:rect r="r" b="b" t="t" l="l"/>
            <a:pathLst>
              <a:path h="5927041" w="5630689">
                <a:moveTo>
                  <a:pt x="0" y="0"/>
                </a:moveTo>
                <a:lnTo>
                  <a:pt x="5630689" y="0"/>
                </a:lnTo>
                <a:lnTo>
                  <a:pt x="5630689" y="5927041"/>
                </a:lnTo>
                <a:lnTo>
                  <a:pt x="0" y="59270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DAG2_R8h1lE</dc:identifier>
  <dcterms:modified xsi:type="dcterms:W3CDTF">2011-08-01T06:04:30Z</dcterms:modified>
  <cp:revision>1</cp:revision>
  <dc:title>ml 2.4. unsupervised learning</dc:title>
</cp:coreProperties>
</file>