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roxima Nova" charset="1" panose="02000506030000020004"/>
      <p:regular r:id="rId15"/>
    </p:embeddedFont>
    <p:embeddedFont>
      <p:font typeface="Agbalumo" charset="1" panose="00000000000000000000"/>
      <p:regular r:id="rId16"/>
    </p:embeddedFont>
    <p:embeddedFont>
      <p:font typeface="Calibri (MS)" charset="1" panose="020F0502020204030204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.png" Type="http://schemas.openxmlformats.org/officeDocument/2006/relationships/image"/><Relationship Id="rId19" Target="../media/image4.svg" Type="http://schemas.openxmlformats.org/officeDocument/2006/relationships/image"/><Relationship Id="rId2" Target="../media/image15.png" Type="http://schemas.openxmlformats.org/officeDocument/2006/relationships/image"/><Relationship Id="rId20" Target="../media/image5.png" Type="http://schemas.openxmlformats.org/officeDocument/2006/relationships/image"/><Relationship Id="rId21" Target="../media/image6.svg" Type="http://schemas.openxmlformats.org/officeDocument/2006/relationships/image"/><Relationship Id="rId22" Target="../media/image1.png" Type="http://schemas.openxmlformats.org/officeDocument/2006/relationships/image"/><Relationship Id="rId23" Target="../media/image2.svg" Type="http://schemas.openxmlformats.org/officeDocument/2006/relationships/image"/><Relationship Id="rId3" Target="../media/image16.svg" Type="http://schemas.openxmlformats.org/officeDocument/2006/relationships/image"/><Relationship Id="rId4" Target="../media/image17.sv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147">
            <a:off x="-19070" y="5986775"/>
            <a:ext cx="18326140" cy="0"/>
          </a:xfrm>
          <a:prstGeom prst="line">
            <a:avLst/>
          </a:prstGeom>
          <a:ln cap="rnd" w="19050">
            <a:solidFill>
              <a:srgbClr val="63D2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643675"/>
            <a:ext cx="16246200" cy="3177000"/>
            <a:chOff x="0" y="0"/>
            <a:chExt cx="21661600" cy="423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61600" cy="4236000"/>
            </a:xfrm>
            <a:custGeom>
              <a:avLst/>
              <a:gdLst/>
              <a:ahLst/>
              <a:cxnLst/>
              <a:rect r="r" b="b" t="t" l="l"/>
              <a:pathLst>
                <a:path h="4236000" w="21661600">
                  <a:moveTo>
                    <a:pt x="0" y="0"/>
                  </a:moveTo>
                  <a:lnTo>
                    <a:pt x="21661600" y="0"/>
                  </a:lnTo>
                  <a:lnTo>
                    <a:pt x="21661600" y="4236000"/>
                  </a:lnTo>
                  <a:lnTo>
                    <a:pt x="0" y="423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661600" cy="4236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887"/>
                </a:lnSpc>
              </a:pP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.2. Machine Learning &amp; its Types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456051"/>
            <a:ext cx="160633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Sup</a:t>
            </a: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ervised • Unsupervised •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Machine  Learning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43726" y="4621048"/>
            <a:ext cx="867549" cy="900180"/>
          </a:xfrm>
          <a:custGeom>
            <a:avLst/>
            <a:gdLst/>
            <a:ahLst/>
            <a:cxnLst/>
            <a:rect r="r" b="b" t="t" l="l"/>
            <a:pathLst>
              <a:path h="900180" w="867549">
                <a:moveTo>
                  <a:pt x="0" y="0"/>
                </a:moveTo>
                <a:lnTo>
                  <a:pt x="867549" y="0"/>
                </a:lnTo>
                <a:lnTo>
                  <a:pt x="867549" y="900180"/>
                </a:lnTo>
                <a:lnTo>
                  <a:pt x="0" y="9001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99979" y="6035028"/>
            <a:ext cx="955042" cy="955042"/>
          </a:xfrm>
          <a:custGeom>
            <a:avLst/>
            <a:gdLst/>
            <a:ahLst/>
            <a:cxnLst/>
            <a:rect r="r" b="b" t="t" l="l"/>
            <a:pathLst>
              <a:path h="955042" w="955042">
                <a:moveTo>
                  <a:pt x="0" y="0"/>
                </a:moveTo>
                <a:lnTo>
                  <a:pt x="955042" y="0"/>
                </a:lnTo>
                <a:lnTo>
                  <a:pt x="955042" y="955042"/>
                </a:lnTo>
                <a:lnTo>
                  <a:pt x="0" y="955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62439" y="7486682"/>
            <a:ext cx="1030123" cy="1030123"/>
          </a:xfrm>
          <a:custGeom>
            <a:avLst/>
            <a:gdLst/>
            <a:ahLst/>
            <a:cxnLst/>
            <a:rect r="r" b="b" t="t" l="l"/>
            <a:pathLst>
              <a:path h="1030123" w="1030123">
                <a:moveTo>
                  <a:pt x="0" y="0"/>
                </a:moveTo>
                <a:lnTo>
                  <a:pt x="1030123" y="0"/>
                </a:lnTo>
                <a:lnTo>
                  <a:pt x="1030123" y="1030122"/>
                </a:lnTo>
                <a:lnTo>
                  <a:pt x="0" y="10301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52852" y="3022569"/>
            <a:ext cx="5187037" cy="5653447"/>
          </a:xfrm>
          <a:custGeom>
            <a:avLst/>
            <a:gdLst/>
            <a:ahLst/>
            <a:cxnLst/>
            <a:rect r="r" b="b" t="t" l="l"/>
            <a:pathLst>
              <a:path h="5653447" w="5187037">
                <a:moveTo>
                  <a:pt x="0" y="0"/>
                </a:moveTo>
                <a:lnTo>
                  <a:pt x="5187037" y="0"/>
                </a:lnTo>
                <a:lnTo>
                  <a:pt x="5187037" y="5653447"/>
                </a:lnTo>
                <a:lnTo>
                  <a:pt x="0" y="56534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98210" y="2773833"/>
            <a:ext cx="68605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ML is a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subset of AI where systems learn patterns from data and improve automatically without being explicitly programmed.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18163" y="4880638"/>
            <a:ext cx="338625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Email spam filters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18163" y="6322049"/>
            <a:ext cx="291683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Credit Card Fraud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18163" y="7811243"/>
            <a:ext cx="26620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Recommendation System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Types of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4553" y="3216716"/>
            <a:ext cx="3775276" cy="4114468"/>
            <a:chOff x="0" y="0"/>
            <a:chExt cx="716142" cy="780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6142" cy="780484"/>
            </a:xfrm>
            <a:custGeom>
              <a:avLst/>
              <a:gdLst/>
              <a:ahLst/>
              <a:cxnLst/>
              <a:rect r="r" b="b" t="t" l="l"/>
              <a:pathLst>
                <a:path h="780484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27784"/>
                  </a:cubicBezTo>
                  <a:lnTo>
                    <a:pt x="716142" y="780484"/>
                  </a:lnTo>
                  <a:lnTo>
                    <a:pt x="0" y="780484"/>
                  </a:lnTo>
                  <a:lnTo>
                    <a:pt x="0" y="32812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86C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716142" cy="70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57025" y="3353542"/>
            <a:ext cx="3775276" cy="4114468"/>
            <a:chOff x="0" y="0"/>
            <a:chExt cx="716142" cy="780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6142" cy="780484"/>
            </a:xfrm>
            <a:custGeom>
              <a:avLst/>
              <a:gdLst/>
              <a:ahLst/>
              <a:cxnLst/>
              <a:rect r="r" b="b" t="t" l="l"/>
              <a:pathLst>
                <a:path h="780484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27784"/>
                  </a:cubicBezTo>
                  <a:lnTo>
                    <a:pt x="716142" y="780484"/>
                  </a:lnTo>
                  <a:lnTo>
                    <a:pt x="0" y="780484"/>
                  </a:lnTo>
                  <a:lnTo>
                    <a:pt x="0" y="32812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08FB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79375"/>
              <a:ext cx="716142" cy="70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005462" y="6558581"/>
            <a:ext cx="2044545" cy="2044545"/>
          </a:xfrm>
          <a:custGeom>
            <a:avLst/>
            <a:gdLst/>
            <a:ahLst/>
            <a:cxnLst/>
            <a:rect r="r" b="b" t="t" l="l"/>
            <a:pathLst>
              <a:path h="2044545" w="2044545">
                <a:moveTo>
                  <a:pt x="0" y="0"/>
                </a:moveTo>
                <a:lnTo>
                  <a:pt x="2044546" y="0"/>
                </a:lnTo>
                <a:lnTo>
                  <a:pt x="2044546" y="2044545"/>
                </a:lnTo>
                <a:lnTo>
                  <a:pt x="0" y="204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272375" y="6558581"/>
            <a:ext cx="2044545" cy="2044545"/>
          </a:xfrm>
          <a:custGeom>
            <a:avLst/>
            <a:gdLst/>
            <a:ahLst/>
            <a:cxnLst/>
            <a:rect r="r" b="b" t="t" l="l"/>
            <a:pathLst>
              <a:path h="2044545" w="2044545">
                <a:moveTo>
                  <a:pt x="0" y="0"/>
                </a:moveTo>
                <a:lnTo>
                  <a:pt x="2044545" y="0"/>
                </a:lnTo>
                <a:lnTo>
                  <a:pt x="2044545" y="2044545"/>
                </a:lnTo>
                <a:lnTo>
                  <a:pt x="0" y="204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443712" y="6421755"/>
            <a:ext cx="2044545" cy="2044545"/>
          </a:xfrm>
          <a:custGeom>
            <a:avLst/>
            <a:gdLst/>
            <a:ahLst/>
            <a:cxnLst/>
            <a:rect r="r" b="b" t="t" l="l"/>
            <a:pathLst>
              <a:path h="2044545" w="2044545">
                <a:moveTo>
                  <a:pt x="0" y="0"/>
                </a:moveTo>
                <a:lnTo>
                  <a:pt x="2044546" y="0"/>
                </a:lnTo>
                <a:lnTo>
                  <a:pt x="2044546" y="2044545"/>
                </a:lnTo>
                <a:lnTo>
                  <a:pt x="0" y="204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8235235" y="6558581"/>
            <a:ext cx="1818857" cy="181885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407603" y="6718774"/>
            <a:ext cx="1474120" cy="1498470"/>
          </a:xfrm>
          <a:custGeom>
            <a:avLst/>
            <a:gdLst/>
            <a:ahLst/>
            <a:cxnLst/>
            <a:rect r="r" b="b" t="t" l="l"/>
            <a:pathLst>
              <a:path h="1498470" w="1474120">
                <a:moveTo>
                  <a:pt x="0" y="0"/>
                </a:moveTo>
                <a:lnTo>
                  <a:pt x="1474120" y="0"/>
                </a:lnTo>
                <a:lnTo>
                  <a:pt x="1474120" y="1498470"/>
                </a:lnTo>
                <a:lnTo>
                  <a:pt x="0" y="14984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12032426" y="3353542"/>
            <a:ext cx="3775276" cy="4114468"/>
            <a:chOff x="0" y="0"/>
            <a:chExt cx="716142" cy="7804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6142" cy="780484"/>
            </a:xfrm>
            <a:custGeom>
              <a:avLst/>
              <a:gdLst/>
              <a:ahLst/>
              <a:cxnLst/>
              <a:rect r="r" b="b" t="t" l="l"/>
              <a:pathLst>
                <a:path h="780484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27784"/>
                  </a:cubicBezTo>
                  <a:lnTo>
                    <a:pt x="716142" y="780484"/>
                  </a:lnTo>
                  <a:lnTo>
                    <a:pt x="0" y="780484"/>
                  </a:lnTo>
                  <a:lnTo>
                    <a:pt x="0" y="32812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C34D2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79375"/>
              <a:ext cx="716142" cy="70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10635" y="6558581"/>
            <a:ext cx="1818857" cy="181885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3183004" y="6718774"/>
            <a:ext cx="1474120" cy="1498470"/>
          </a:xfrm>
          <a:custGeom>
            <a:avLst/>
            <a:gdLst/>
            <a:ahLst/>
            <a:cxnLst/>
            <a:rect r="r" b="b" t="t" l="l"/>
            <a:pathLst>
              <a:path h="1498470" w="1474120">
                <a:moveTo>
                  <a:pt x="0" y="0"/>
                </a:moveTo>
                <a:lnTo>
                  <a:pt x="1474120" y="0"/>
                </a:lnTo>
                <a:lnTo>
                  <a:pt x="1474120" y="1498470"/>
                </a:lnTo>
                <a:lnTo>
                  <a:pt x="0" y="14984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5" id="25"/>
          <p:cNvGrpSpPr/>
          <p:nvPr/>
        </p:nvGrpSpPr>
        <p:grpSpPr>
          <a:xfrm rot="0">
            <a:off x="3462762" y="6421755"/>
            <a:ext cx="1818857" cy="181885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635131" y="6581948"/>
            <a:ext cx="1474120" cy="1498470"/>
          </a:xfrm>
          <a:custGeom>
            <a:avLst/>
            <a:gdLst/>
            <a:ahLst/>
            <a:cxnLst/>
            <a:rect r="r" b="b" t="t" l="l"/>
            <a:pathLst>
              <a:path h="1498470" w="1474120">
                <a:moveTo>
                  <a:pt x="0" y="0"/>
                </a:moveTo>
                <a:lnTo>
                  <a:pt x="1474120" y="0"/>
                </a:lnTo>
                <a:lnTo>
                  <a:pt x="1474120" y="1498471"/>
                </a:lnTo>
                <a:lnTo>
                  <a:pt x="0" y="14984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4062435" y="7068160"/>
            <a:ext cx="619512" cy="476250"/>
          </a:xfrm>
          <a:custGeom>
            <a:avLst/>
            <a:gdLst/>
            <a:ahLst/>
            <a:cxnLst/>
            <a:rect r="r" b="b" t="t" l="l"/>
            <a:pathLst>
              <a:path h="476250" w="619512">
                <a:moveTo>
                  <a:pt x="0" y="0"/>
                </a:moveTo>
                <a:lnTo>
                  <a:pt x="619512" y="0"/>
                </a:lnTo>
                <a:lnTo>
                  <a:pt x="619512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4032602" y="2696804"/>
            <a:ext cx="679178" cy="677803"/>
            <a:chOff x="0" y="0"/>
            <a:chExt cx="905570" cy="90373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905570" cy="903738"/>
              <a:chOff x="0" y="0"/>
              <a:chExt cx="812800" cy="81115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6C9C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15367" y="239994"/>
              <a:ext cx="474837" cy="38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2"/>
                </a:lnSpc>
              </a:pPr>
              <a:r>
                <a:rPr lang="en-US" sz="1737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805074" y="2833630"/>
            <a:ext cx="679178" cy="677803"/>
            <a:chOff x="0" y="0"/>
            <a:chExt cx="905570" cy="90373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905570" cy="903738"/>
              <a:chOff x="0" y="0"/>
              <a:chExt cx="812800" cy="81115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8FB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15367" y="239994"/>
              <a:ext cx="474837" cy="38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2"/>
                </a:lnSpc>
              </a:pPr>
              <a:r>
                <a:rPr lang="en-US" sz="1737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80475" y="2833630"/>
            <a:ext cx="679178" cy="677803"/>
            <a:chOff x="0" y="0"/>
            <a:chExt cx="905570" cy="903738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905570" cy="903738"/>
              <a:chOff x="0" y="0"/>
              <a:chExt cx="812800" cy="81115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4D24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215367" y="239994"/>
              <a:ext cx="474837" cy="38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2"/>
                </a:lnSpc>
              </a:pPr>
              <a:r>
                <a:rPr lang="en-US" sz="1737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3611205" y="7115785"/>
            <a:ext cx="617717" cy="566755"/>
          </a:xfrm>
          <a:custGeom>
            <a:avLst/>
            <a:gdLst/>
            <a:ahLst/>
            <a:cxnLst/>
            <a:rect r="r" b="b" t="t" l="l"/>
            <a:pathLst>
              <a:path h="566755" w="617717">
                <a:moveTo>
                  <a:pt x="0" y="0"/>
                </a:moveTo>
                <a:lnTo>
                  <a:pt x="617718" y="0"/>
                </a:lnTo>
                <a:lnTo>
                  <a:pt x="617718" y="566755"/>
                </a:lnTo>
                <a:lnTo>
                  <a:pt x="0" y="566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907164" y="7176489"/>
            <a:ext cx="535077" cy="535077"/>
          </a:xfrm>
          <a:custGeom>
            <a:avLst/>
            <a:gdLst/>
            <a:ahLst/>
            <a:cxnLst/>
            <a:rect r="r" b="b" t="t" l="l"/>
            <a:pathLst>
              <a:path h="535077" w="535077">
                <a:moveTo>
                  <a:pt x="0" y="0"/>
                </a:moveTo>
                <a:lnTo>
                  <a:pt x="535077" y="0"/>
                </a:lnTo>
                <a:lnTo>
                  <a:pt x="535077" y="535077"/>
                </a:lnTo>
                <a:lnTo>
                  <a:pt x="0" y="5350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834134" y="4921788"/>
            <a:ext cx="3076115" cy="98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8"/>
              </a:lnSpc>
            </a:pPr>
            <a:r>
              <a:rPr lang="en-US" sz="1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Learns from labeled data to predict outcomes for new inputs.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06606" y="5058614"/>
            <a:ext cx="3076115" cy="65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8"/>
              </a:lnSpc>
            </a:pPr>
            <a:r>
              <a:rPr lang="en-US" sz="1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Finds hidden patterns or structures in unlabeled data.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82007" y="5058614"/>
            <a:ext cx="3076115" cy="98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8"/>
              </a:lnSpc>
            </a:pPr>
            <a:r>
              <a:rPr lang="en-US" sz="1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Learns by interacting with an environment through rewards and penalties.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834134" y="4220635"/>
            <a:ext cx="3076115" cy="3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48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Supervised Learning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06606" y="4357461"/>
            <a:ext cx="3076115" cy="3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48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Unsupervised Learning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14947" y="4357461"/>
            <a:ext cx="3210235" cy="3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48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Reinforcement Learning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50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50000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2">
              <a:alphaModFix amt="60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60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Supervised  Learning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31814" y="4559061"/>
            <a:ext cx="867549" cy="900180"/>
          </a:xfrm>
          <a:custGeom>
            <a:avLst/>
            <a:gdLst/>
            <a:ahLst/>
            <a:cxnLst/>
            <a:rect r="r" b="b" t="t" l="l"/>
            <a:pathLst>
              <a:path h="900180" w="867549">
                <a:moveTo>
                  <a:pt x="0" y="0"/>
                </a:moveTo>
                <a:lnTo>
                  <a:pt x="867549" y="0"/>
                </a:lnTo>
                <a:lnTo>
                  <a:pt x="867549" y="900180"/>
                </a:lnTo>
                <a:lnTo>
                  <a:pt x="0" y="9001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99979" y="6061778"/>
            <a:ext cx="931219" cy="777568"/>
          </a:xfrm>
          <a:custGeom>
            <a:avLst/>
            <a:gdLst/>
            <a:ahLst/>
            <a:cxnLst/>
            <a:rect r="r" b="b" t="t" l="l"/>
            <a:pathLst>
              <a:path h="777568" w="931219">
                <a:moveTo>
                  <a:pt x="0" y="0"/>
                </a:moveTo>
                <a:lnTo>
                  <a:pt x="931219" y="0"/>
                </a:lnTo>
                <a:lnTo>
                  <a:pt x="931219" y="777568"/>
                </a:lnTo>
                <a:lnTo>
                  <a:pt x="0" y="777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43479" y="7517646"/>
            <a:ext cx="844220" cy="844220"/>
          </a:xfrm>
          <a:custGeom>
            <a:avLst/>
            <a:gdLst/>
            <a:ahLst/>
            <a:cxnLst/>
            <a:rect r="r" b="b" t="t" l="l"/>
            <a:pathLst>
              <a:path h="844220" w="844220">
                <a:moveTo>
                  <a:pt x="0" y="0"/>
                </a:moveTo>
                <a:lnTo>
                  <a:pt x="844220" y="0"/>
                </a:lnTo>
                <a:lnTo>
                  <a:pt x="844220" y="844220"/>
                </a:lnTo>
                <a:lnTo>
                  <a:pt x="0" y="8442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43479" y="2577861"/>
            <a:ext cx="68605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Supervised Learning is a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type of ML where models are trained on labeled datasets — meaning each input has a known output.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6252" y="4818651"/>
            <a:ext cx="338625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Email spam filters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6252" y="6260062"/>
            <a:ext cx="291683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6252" y="7749256"/>
            <a:ext cx="26620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 Recognition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74796" y="2673159"/>
            <a:ext cx="5335348" cy="5572165"/>
          </a:xfrm>
          <a:custGeom>
            <a:avLst/>
            <a:gdLst/>
            <a:ahLst/>
            <a:cxnLst/>
            <a:rect r="r" b="b" t="t" l="l"/>
            <a:pathLst>
              <a:path h="5572165" w="5335348">
                <a:moveTo>
                  <a:pt x="0" y="0"/>
                </a:moveTo>
                <a:lnTo>
                  <a:pt x="5335348" y="0"/>
                </a:lnTo>
                <a:lnTo>
                  <a:pt x="5335348" y="5572165"/>
                </a:lnTo>
                <a:lnTo>
                  <a:pt x="0" y="5572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Unsupervised  Learning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52405" y="4696109"/>
            <a:ext cx="1026369" cy="626085"/>
          </a:xfrm>
          <a:custGeom>
            <a:avLst/>
            <a:gdLst/>
            <a:ahLst/>
            <a:cxnLst/>
            <a:rect r="r" b="b" t="t" l="l"/>
            <a:pathLst>
              <a:path h="626085" w="1026369">
                <a:moveTo>
                  <a:pt x="0" y="0"/>
                </a:moveTo>
                <a:lnTo>
                  <a:pt x="1026368" y="0"/>
                </a:lnTo>
                <a:lnTo>
                  <a:pt x="1026368" y="626085"/>
                </a:lnTo>
                <a:lnTo>
                  <a:pt x="0" y="626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52405" y="6087999"/>
            <a:ext cx="1023108" cy="725128"/>
          </a:xfrm>
          <a:custGeom>
            <a:avLst/>
            <a:gdLst/>
            <a:ahLst/>
            <a:cxnLst/>
            <a:rect r="r" b="b" t="t" l="l"/>
            <a:pathLst>
              <a:path h="725128" w="1023108">
                <a:moveTo>
                  <a:pt x="0" y="0"/>
                </a:moveTo>
                <a:lnTo>
                  <a:pt x="1023108" y="0"/>
                </a:lnTo>
                <a:lnTo>
                  <a:pt x="1023108" y="725127"/>
                </a:lnTo>
                <a:lnTo>
                  <a:pt x="0" y="7251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16681" y="7543194"/>
            <a:ext cx="862092" cy="793124"/>
          </a:xfrm>
          <a:custGeom>
            <a:avLst/>
            <a:gdLst/>
            <a:ahLst/>
            <a:cxnLst/>
            <a:rect r="r" b="b" t="t" l="l"/>
            <a:pathLst>
              <a:path h="793124" w="862092">
                <a:moveTo>
                  <a:pt x="0" y="0"/>
                </a:moveTo>
                <a:lnTo>
                  <a:pt x="862092" y="0"/>
                </a:lnTo>
                <a:lnTo>
                  <a:pt x="862092" y="793124"/>
                </a:lnTo>
                <a:lnTo>
                  <a:pt x="0" y="793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52405" y="2124359"/>
            <a:ext cx="686055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Unsupervised Learning 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deals with unlabeled data. The system tries to identify hidden patterns or structures in the data without knowing the correct answers.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6252" y="4818651"/>
            <a:ext cx="338625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Segmentation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6252" y="6260062"/>
            <a:ext cx="291683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Market Basket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6252" y="7749256"/>
            <a:ext cx="302213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Gene Clustering in Biology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74796" y="2434825"/>
            <a:ext cx="5630689" cy="5927041"/>
          </a:xfrm>
          <a:custGeom>
            <a:avLst/>
            <a:gdLst/>
            <a:ahLst/>
            <a:cxnLst/>
            <a:rect r="r" b="b" t="t" l="l"/>
            <a:pathLst>
              <a:path h="5927041" w="5630689">
                <a:moveTo>
                  <a:pt x="0" y="0"/>
                </a:moveTo>
                <a:lnTo>
                  <a:pt x="5630689" y="0"/>
                </a:lnTo>
                <a:lnTo>
                  <a:pt x="5630689" y="5927041"/>
                </a:lnTo>
                <a:lnTo>
                  <a:pt x="0" y="59270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Reinforcement  Learning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4796" y="3717155"/>
            <a:ext cx="6020004" cy="3112844"/>
          </a:xfrm>
          <a:custGeom>
            <a:avLst/>
            <a:gdLst/>
            <a:ahLst/>
            <a:cxnLst/>
            <a:rect r="r" b="b" t="t" l="l"/>
            <a:pathLst>
              <a:path h="3112844" w="6020004">
                <a:moveTo>
                  <a:pt x="0" y="0"/>
                </a:moveTo>
                <a:lnTo>
                  <a:pt x="6020004" y="0"/>
                </a:lnTo>
                <a:lnTo>
                  <a:pt x="6020004" y="3112844"/>
                </a:lnTo>
                <a:lnTo>
                  <a:pt x="0" y="3112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12033" y="4912249"/>
            <a:ext cx="903851" cy="821375"/>
          </a:xfrm>
          <a:custGeom>
            <a:avLst/>
            <a:gdLst/>
            <a:ahLst/>
            <a:cxnLst/>
            <a:rect r="r" b="b" t="t" l="l"/>
            <a:pathLst>
              <a:path h="821375" w="903851">
                <a:moveTo>
                  <a:pt x="0" y="0"/>
                </a:moveTo>
                <a:lnTo>
                  <a:pt x="903851" y="0"/>
                </a:lnTo>
                <a:lnTo>
                  <a:pt x="903851" y="821375"/>
                </a:lnTo>
                <a:lnTo>
                  <a:pt x="0" y="8213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12033" y="6312422"/>
            <a:ext cx="903851" cy="903851"/>
          </a:xfrm>
          <a:custGeom>
            <a:avLst/>
            <a:gdLst/>
            <a:ahLst/>
            <a:cxnLst/>
            <a:rect r="r" b="b" t="t" l="l"/>
            <a:pathLst>
              <a:path h="903851" w="903851">
                <a:moveTo>
                  <a:pt x="0" y="0"/>
                </a:moveTo>
                <a:lnTo>
                  <a:pt x="903851" y="0"/>
                </a:lnTo>
                <a:lnTo>
                  <a:pt x="903851" y="903851"/>
                </a:lnTo>
                <a:lnTo>
                  <a:pt x="0" y="903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22757" y="7878520"/>
            <a:ext cx="882404" cy="750043"/>
          </a:xfrm>
          <a:custGeom>
            <a:avLst/>
            <a:gdLst/>
            <a:ahLst/>
            <a:cxnLst/>
            <a:rect r="r" b="b" t="t" l="l"/>
            <a:pathLst>
              <a:path h="750043" w="882404">
                <a:moveTo>
                  <a:pt x="0" y="0"/>
                </a:moveTo>
                <a:lnTo>
                  <a:pt x="882403" y="0"/>
                </a:lnTo>
                <a:lnTo>
                  <a:pt x="882403" y="750043"/>
                </a:lnTo>
                <a:lnTo>
                  <a:pt x="0" y="7500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52405" y="2269068"/>
            <a:ext cx="68605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Reinforcement Learning i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 a type of Machine Learning where an agent learns by interacting with an environment — taking actions, receiving rewards or penalties, and improving its strategy over time.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6252" y="5132436"/>
            <a:ext cx="338625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Game Playing (Chess, Go)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6252" y="6573847"/>
            <a:ext cx="291683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Self-Driving Cars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06252" y="8063041"/>
            <a:ext cx="302213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Robot Navigation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DAG13aDnuzU</dc:identifier>
  <dcterms:modified xsi:type="dcterms:W3CDTF">2011-08-01T06:04:30Z</dcterms:modified>
  <cp:revision>1</cp:revision>
  <dc:title>ml 2.2. ml types</dc:title>
</cp:coreProperties>
</file>