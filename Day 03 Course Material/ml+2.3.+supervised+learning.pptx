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roxima Nova" charset="1" panose="02000506030000020004"/>
      <p:regular r:id="rId15"/>
    </p:embeddedFont>
    <p:embeddedFont>
      <p:font typeface="Agbalumo" charset="1" panose="00000000000000000000"/>
      <p:regular r:id="rId16"/>
    </p:embeddedFont>
    <p:embeddedFont>
      <p:font typeface="Calibri (MS)" charset="1" panose="020F0502020204030204"/>
      <p:regular r:id="rId17"/>
    </p:embeddedFont>
    <p:embeddedFont>
      <p:font typeface="Roboto Bold" charset="1" panose="02000000000000000000"/>
      <p:regular r:id="rId18"/>
    </p:embeddedFont>
    <p:embeddedFont>
      <p:font typeface="Roboto" charset="1" panose="02000000000000000000"/>
      <p:regular r:id="rId19"/>
    </p:embeddedFont>
    <p:embeddedFont>
      <p:font typeface="Canva Sans Bold" charset="1" panose="020B0803030501040103"/>
      <p:regular r:id="rId20"/>
    </p:embeddedFont>
    <p:embeddedFont>
      <p:font typeface="Calibri (MS) Bold" charset="1" panose="020F0702030404030204"/>
      <p:regular r:id="rId21"/>
    </p:embeddedFont>
    <p:embeddedFont>
      <p:font typeface="Arimo Bold" charset="1" panose="020B07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13" Target="../media/image1.png" Type="http://schemas.openxmlformats.org/officeDocument/2006/relationships/image"/><Relationship Id="rId14" Target="../media/image2.svg" Type="http://schemas.openxmlformats.org/officeDocument/2006/relationships/image"/><Relationship Id="rId15" Target="../media/image22.png" Type="http://schemas.openxmlformats.org/officeDocument/2006/relationships/image"/><Relationship Id="rId16" Target="../media/image23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147">
            <a:off x="-19070" y="5986775"/>
            <a:ext cx="18326140" cy="0"/>
          </a:xfrm>
          <a:prstGeom prst="line">
            <a:avLst/>
          </a:prstGeom>
          <a:ln cap="rnd" w="19050">
            <a:solidFill>
              <a:srgbClr val="63D29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2643675"/>
            <a:ext cx="16246200" cy="3177000"/>
            <a:chOff x="0" y="0"/>
            <a:chExt cx="21661600" cy="423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61600" cy="4236000"/>
            </a:xfrm>
            <a:custGeom>
              <a:avLst/>
              <a:gdLst/>
              <a:ahLst/>
              <a:cxnLst/>
              <a:rect r="r" b="b" t="t" l="l"/>
              <a:pathLst>
                <a:path h="4236000" w="21661600">
                  <a:moveTo>
                    <a:pt x="0" y="0"/>
                  </a:moveTo>
                  <a:lnTo>
                    <a:pt x="21661600" y="0"/>
                  </a:lnTo>
                  <a:lnTo>
                    <a:pt x="21661600" y="4236000"/>
                  </a:lnTo>
                  <a:lnTo>
                    <a:pt x="0" y="423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1661600" cy="42360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9887"/>
                </a:lnSpc>
              </a:pPr>
              <a:r>
                <a:rPr lang="en-US" sz="8239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r>
                <a:rPr lang="en-US" sz="8239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.3. Supervised Learning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456051"/>
            <a:ext cx="1606335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Sup</a:t>
            </a:r>
            <a:r>
              <a:rPr lang="en-US" sz="39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ervised Learning &amp; its Types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Supervised  Learning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31814" y="4559061"/>
            <a:ext cx="867549" cy="900180"/>
          </a:xfrm>
          <a:custGeom>
            <a:avLst/>
            <a:gdLst/>
            <a:ahLst/>
            <a:cxnLst/>
            <a:rect r="r" b="b" t="t" l="l"/>
            <a:pathLst>
              <a:path h="900180" w="867549">
                <a:moveTo>
                  <a:pt x="0" y="0"/>
                </a:moveTo>
                <a:lnTo>
                  <a:pt x="867549" y="0"/>
                </a:lnTo>
                <a:lnTo>
                  <a:pt x="867549" y="900180"/>
                </a:lnTo>
                <a:lnTo>
                  <a:pt x="0" y="9001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99979" y="6061778"/>
            <a:ext cx="931219" cy="777568"/>
          </a:xfrm>
          <a:custGeom>
            <a:avLst/>
            <a:gdLst/>
            <a:ahLst/>
            <a:cxnLst/>
            <a:rect r="r" b="b" t="t" l="l"/>
            <a:pathLst>
              <a:path h="777568" w="931219">
                <a:moveTo>
                  <a:pt x="0" y="0"/>
                </a:moveTo>
                <a:lnTo>
                  <a:pt x="931219" y="0"/>
                </a:lnTo>
                <a:lnTo>
                  <a:pt x="931219" y="777568"/>
                </a:lnTo>
                <a:lnTo>
                  <a:pt x="0" y="7775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43479" y="7517646"/>
            <a:ext cx="844220" cy="844220"/>
          </a:xfrm>
          <a:custGeom>
            <a:avLst/>
            <a:gdLst/>
            <a:ahLst/>
            <a:cxnLst/>
            <a:rect r="r" b="b" t="t" l="l"/>
            <a:pathLst>
              <a:path h="844220" w="844220">
                <a:moveTo>
                  <a:pt x="0" y="0"/>
                </a:moveTo>
                <a:lnTo>
                  <a:pt x="844220" y="0"/>
                </a:lnTo>
                <a:lnTo>
                  <a:pt x="844220" y="844220"/>
                </a:lnTo>
                <a:lnTo>
                  <a:pt x="0" y="8442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43479" y="2577861"/>
            <a:ext cx="686055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Supervised Learning is a</a:t>
            </a: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type of ML where models are trained on labeled datasets — meaning each input has a known output.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6252" y="4818651"/>
            <a:ext cx="338625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Email spam filters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6252" y="6260062"/>
            <a:ext cx="291683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House Price Prediction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6252" y="7749256"/>
            <a:ext cx="266201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Image Recognition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74796" y="2673159"/>
            <a:ext cx="5335348" cy="5572165"/>
          </a:xfrm>
          <a:custGeom>
            <a:avLst/>
            <a:gdLst/>
            <a:ahLst/>
            <a:cxnLst/>
            <a:rect r="r" b="b" t="t" l="l"/>
            <a:pathLst>
              <a:path h="5572165" w="5335348">
                <a:moveTo>
                  <a:pt x="0" y="0"/>
                </a:moveTo>
                <a:lnTo>
                  <a:pt x="5335348" y="0"/>
                </a:lnTo>
                <a:lnTo>
                  <a:pt x="5335348" y="5572165"/>
                </a:lnTo>
                <a:lnTo>
                  <a:pt x="0" y="557216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Types  of  Supervised  Learning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10164" y="3192997"/>
            <a:ext cx="3775276" cy="4114468"/>
            <a:chOff x="0" y="0"/>
            <a:chExt cx="716142" cy="7804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6142" cy="780484"/>
            </a:xfrm>
            <a:custGeom>
              <a:avLst/>
              <a:gdLst/>
              <a:ahLst/>
              <a:cxnLst/>
              <a:rect r="r" b="b" t="t" l="l"/>
              <a:pathLst>
                <a:path h="780484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27784"/>
                  </a:cubicBezTo>
                  <a:lnTo>
                    <a:pt x="716142" y="780484"/>
                  </a:lnTo>
                  <a:lnTo>
                    <a:pt x="0" y="780484"/>
                  </a:lnTo>
                  <a:lnTo>
                    <a:pt x="0" y="32812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386C9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716142" cy="70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23865" y="3192997"/>
            <a:ext cx="3775276" cy="4114468"/>
            <a:chOff x="0" y="0"/>
            <a:chExt cx="716142" cy="7804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6142" cy="780484"/>
            </a:xfrm>
            <a:custGeom>
              <a:avLst/>
              <a:gdLst/>
              <a:ahLst/>
              <a:cxnLst/>
              <a:rect r="r" b="b" t="t" l="l"/>
              <a:pathLst>
                <a:path h="780484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27784"/>
                  </a:cubicBezTo>
                  <a:lnTo>
                    <a:pt x="716142" y="780484"/>
                  </a:lnTo>
                  <a:lnTo>
                    <a:pt x="0" y="780484"/>
                  </a:lnTo>
                  <a:lnTo>
                    <a:pt x="0" y="32812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308FB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79375"/>
              <a:ext cx="716142" cy="70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639214" y="6398036"/>
            <a:ext cx="2044545" cy="2044545"/>
          </a:xfrm>
          <a:custGeom>
            <a:avLst/>
            <a:gdLst/>
            <a:ahLst/>
            <a:cxnLst/>
            <a:rect r="r" b="b" t="t" l="l"/>
            <a:pathLst>
              <a:path h="2044545" w="2044545">
                <a:moveTo>
                  <a:pt x="0" y="0"/>
                </a:moveTo>
                <a:lnTo>
                  <a:pt x="2044545" y="0"/>
                </a:lnTo>
                <a:lnTo>
                  <a:pt x="2044545" y="2044545"/>
                </a:lnTo>
                <a:lnTo>
                  <a:pt x="0" y="204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5169323" y="6398036"/>
            <a:ext cx="2044545" cy="2044545"/>
          </a:xfrm>
          <a:custGeom>
            <a:avLst/>
            <a:gdLst/>
            <a:ahLst/>
            <a:cxnLst/>
            <a:rect r="r" b="b" t="t" l="l"/>
            <a:pathLst>
              <a:path h="2044545" w="2044545">
                <a:moveTo>
                  <a:pt x="0" y="0"/>
                </a:moveTo>
                <a:lnTo>
                  <a:pt x="2044545" y="0"/>
                </a:lnTo>
                <a:lnTo>
                  <a:pt x="2044545" y="2044545"/>
                </a:lnTo>
                <a:lnTo>
                  <a:pt x="0" y="204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11602074" y="6398036"/>
            <a:ext cx="1818857" cy="181885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774442" y="6558230"/>
            <a:ext cx="1474120" cy="1498470"/>
          </a:xfrm>
          <a:custGeom>
            <a:avLst/>
            <a:gdLst/>
            <a:ahLst/>
            <a:cxnLst/>
            <a:rect r="r" b="b" t="t" l="l"/>
            <a:pathLst>
              <a:path h="1498470" w="1474120">
                <a:moveTo>
                  <a:pt x="0" y="0"/>
                </a:moveTo>
                <a:lnTo>
                  <a:pt x="1474121" y="0"/>
                </a:lnTo>
                <a:lnTo>
                  <a:pt x="1474121" y="1498470"/>
                </a:lnTo>
                <a:lnTo>
                  <a:pt x="0" y="14984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5188373" y="6398036"/>
            <a:ext cx="1818857" cy="181885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360742" y="6558230"/>
            <a:ext cx="1474120" cy="1498470"/>
          </a:xfrm>
          <a:custGeom>
            <a:avLst/>
            <a:gdLst/>
            <a:ahLst/>
            <a:cxnLst/>
            <a:rect r="r" b="b" t="t" l="l"/>
            <a:pathLst>
              <a:path h="1498470" w="1474120">
                <a:moveTo>
                  <a:pt x="0" y="0"/>
                </a:moveTo>
                <a:lnTo>
                  <a:pt x="1474120" y="0"/>
                </a:lnTo>
                <a:lnTo>
                  <a:pt x="1474120" y="1498470"/>
                </a:lnTo>
                <a:lnTo>
                  <a:pt x="0" y="14984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5758213" y="2673085"/>
            <a:ext cx="679178" cy="677803"/>
            <a:chOff x="0" y="0"/>
            <a:chExt cx="905570" cy="90373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05570" cy="903738"/>
              <a:chOff x="0" y="0"/>
              <a:chExt cx="812800" cy="81115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6C9C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15367" y="239994"/>
              <a:ext cx="474837" cy="38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2"/>
                </a:lnSpc>
              </a:pPr>
              <a:r>
                <a:rPr lang="en-US" sz="1737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71914" y="2673085"/>
            <a:ext cx="679178" cy="677803"/>
            <a:chOff x="0" y="0"/>
            <a:chExt cx="905570" cy="903738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05570" cy="903738"/>
              <a:chOff x="0" y="0"/>
              <a:chExt cx="812800" cy="81115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8FBE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15367" y="239994"/>
              <a:ext cx="474837" cy="385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2"/>
                </a:lnSpc>
              </a:pPr>
              <a:r>
                <a:rPr lang="en-US" sz="1737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13">
              <a:alphaModFix amt="60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0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780206" y="6963909"/>
            <a:ext cx="676348" cy="639149"/>
          </a:xfrm>
          <a:custGeom>
            <a:avLst/>
            <a:gdLst/>
            <a:ahLst/>
            <a:cxnLst/>
            <a:rect r="r" b="b" t="t" l="l"/>
            <a:pathLst>
              <a:path h="639149" w="676348">
                <a:moveTo>
                  <a:pt x="0" y="0"/>
                </a:moveTo>
                <a:lnTo>
                  <a:pt x="676348" y="0"/>
                </a:lnTo>
                <a:lnTo>
                  <a:pt x="676348" y="639148"/>
                </a:lnTo>
                <a:lnTo>
                  <a:pt x="0" y="63914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4559744" y="4564695"/>
            <a:ext cx="3076115" cy="132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8"/>
              </a:lnSpc>
            </a:pPr>
            <a:r>
              <a:rPr lang="en-US" sz="1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Used when the output is a category or label — for example, predicting if an email is spam or not spam.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73445" y="4564695"/>
            <a:ext cx="3076115" cy="132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8"/>
              </a:lnSpc>
            </a:pPr>
            <a:r>
              <a:rPr lang="en-US" sz="1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Used when the output is a continuous numerical value — for example, predicting a house price or temperature.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559744" y="3872026"/>
            <a:ext cx="3076115" cy="3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48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Classification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73445" y="3872026"/>
            <a:ext cx="3076115" cy="3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48"/>
              </a:lnSpc>
              <a:spcBef>
                <a:spcPct val="0"/>
              </a:spcBef>
            </a:pPr>
            <a:r>
              <a:rPr lang="en-US" b="true" sz="224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Regression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223744" y="7001760"/>
            <a:ext cx="627347" cy="50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9"/>
              </a:lnSpc>
            </a:pPr>
            <a:r>
              <a:rPr lang="en-US" sz="294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Classification  Models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74233" y="2629200"/>
            <a:ext cx="3828738" cy="5459876"/>
          </a:xfrm>
          <a:custGeom>
            <a:avLst/>
            <a:gdLst/>
            <a:ahLst/>
            <a:cxnLst/>
            <a:rect r="r" b="b" t="t" l="l"/>
            <a:pathLst>
              <a:path h="5459876" w="3828738">
                <a:moveTo>
                  <a:pt x="0" y="0"/>
                </a:moveTo>
                <a:lnTo>
                  <a:pt x="3828738" y="0"/>
                </a:lnTo>
                <a:lnTo>
                  <a:pt x="3828738" y="5459876"/>
                </a:lnTo>
                <a:lnTo>
                  <a:pt x="0" y="5459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23078" y="3277571"/>
            <a:ext cx="431130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Logistic Regression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23078" y="4123092"/>
            <a:ext cx="371364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Decision Trees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23078" y="4968613"/>
            <a:ext cx="33892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23078" y="5814134"/>
            <a:ext cx="448205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Support Vector Machines (SVM)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23078" y="6659655"/>
            <a:ext cx="448205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K-Nearest Neighbors (KNN)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9496" y="7505176"/>
            <a:ext cx="185647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Naive Bayes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4796" y="306733"/>
            <a:ext cx="8315829" cy="1165352"/>
            <a:chOff x="0" y="0"/>
            <a:chExt cx="11087772" cy="15538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87772" cy="1553802"/>
            </a:xfrm>
            <a:custGeom>
              <a:avLst/>
              <a:gdLst/>
              <a:ahLst/>
              <a:cxnLst/>
              <a:rect r="r" b="b" t="t" l="l"/>
              <a:pathLst>
                <a:path h="1553802" w="11087772">
                  <a:moveTo>
                    <a:pt x="0" y="0"/>
                  </a:moveTo>
                  <a:lnTo>
                    <a:pt x="11087772" y="0"/>
                  </a:lnTo>
                  <a:lnTo>
                    <a:pt x="1108777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108777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Regression  Models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4796" y="3353338"/>
            <a:ext cx="6677653" cy="3714444"/>
          </a:xfrm>
          <a:custGeom>
            <a:avLst/>
            <a:gdLst/>
            <a:ahLst/>
            <a:cxnLst/>
            <a:rect r="r" b="b" t="t" l="l"/>
            <a:pathLst>
              <a:path h="3714444" w="6677653">
                <a:moveTo>
                  <a:pt x="0" y="0"/>
                </a:moveTo>
                <a:lnTo>
                  <a:pt x="6677653" y="0"/>
                </a:lnTo>
                <a:lnTo>
                  <a:pt x="6677653" y="3714444"/>
                </a:lnTo>
                <a:lnTo>
                  <a:pt x="0" y="37144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36490" y="3237335"/>
            <a:ext cx="431130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Linear Regression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36490" y="4082856"/>
            <a:ext cx="371364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Polynomial Regression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36490" y="4928377"/>
            <a:ext cx="33892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Ridge &amp; Lasso Regression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36490" y="5773898"/>
            <a:ext cx="548795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Support Vector Machines Regression (SVM)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36490" y="6619419"/>
            <a:ext cx="448205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Decision Tree Regression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36490" y="7467144"/>
            <a:ext cx="404262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lang="en-US" b="true" sz="2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andom Forest Regression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04317" y="-685800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196490">
            <a:off x="-1427779" y="-1305889"/>
            <a:ext cx="3414090" cy="2611778"/>
          </a:xfrm>
          <a:custGeom>
            <a:avLst/>
            <a:gdLst/>
            <a:ahLst/>
            <a:cxnLst/>
            <a:rect r="r" b="b" t="t" l="l"/>
            <a:pathLst>
              <a:path h="2611778" w="3414090">
                <a:moveTo>
                  <a:pt x="0" y="0"/>
                </a:moveTo>
                <a:lnTo>
                  <a:pt x="3414090" y="0"/>
                </a:lnTo>
                <a:lnTo>
                  <a:pt x="3414090" y="2611778"/>
                </a:lnTo>
                <a:lnTo>
                  <a:pt x="0" y="261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28773">
            <a:off x="14396998" y="9443076"/>
            <a:ext cx="4711396" cy="1807998"/>
          </a:xfrm>
          <a:custGeom>
            <a:avLst/>
            <a:gdLst/>
            <a:ahLst/>
            <a:cxnLst/>
            <a:rect r="r" b="b" t="t" l="l"/>
            <a:pathLst>
              <a:path h="1807998" w="4711396">
                <a:moveTo>
                  <a:pt x="0" y="0"/>
                </a:moveTo>
                <a:lnTo>
                  <a:pt x="4711396" y="0"/>
                </a:lnTo>
                <a:lnTo>
                  <a:pt x="4711396" y="1807998"/>
                </a:lnTo>
                <a:lnTo>
                  <a:pt x="0" y="180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4796" y="306733"/>
            <a:ext cx="6558856" cy="1165352"/>
            <a:chOff x="0" y="0"/>
            <a:chExt cx="8745142" cy="15538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45142" cy="1553802"/>
            </a:xfrm>
            <a:custGeom>
              <a:avLst/>
              <a:gdLst/>
              <a:ahLst/>
              <a:cxnLst/>
              <a:rect r="r" b="b" t="t" l="l"/>
              <a:pathLst>
                <a:path h="1553802" w="8745142">
                  <a:moveTo>
                    <a:pt x="0" y="0"/>
                  </a:moveTo>
                  <a:lnTo>
                    <a:pt x="8745142" y="0"/>
                  </a:lnTo>
                  <a:lnTo>
                    <a:pt x="8745142" y="1553802"/>
                  </a:lnTo>
                  <a:lnTo>
                    <a:pt x="0" y="15538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8745142" cy="165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23"/>
                </a:lnSpc>
              </a:pPr>
              <a:r>
                <a:rPr lang="en-US" sz="4599">
                  <a:solidFill>
                    <a:srgbClr val="F1C232"/>
                  </a:solidFill>
                  <a:latin typeface="Agbalumo"/>
                  <a:ea typeface="Agbalumo"/>
                  <a:cs typeface="Agbalumo"/>
                  <a:sym typeface="Agbalumo"/>
                </a:rPr>
                <a:t>Applications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-5740404" y="7384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4796" y="2673159"/>
            <a:ext cx="5335348" cy="5572165"/>
          </a:xfrm>
          <a:custGeom>
            <a:avLst/>
            <a:gdLst/>
            <a:ahLst/>
            <a:cxnLst/>
            <a:rect r="r" b="b" t="t" l="l"/>
            <a:pathLst>
              <a:path h="5572165" w="5335348">
                <a:moveTo>
                  <a:pt x="0" y="0"/>
                </a:moveTo>
                <a:lnTo>
                  <a:pt x="5335348" y="0"/>
                </a:lnTo>
                <a:lnTo>
                  <a:pt x="5335348" y="5572165"/>
                </a:lnTo>
                <a:lnTo>
                  <a:pt x="0" y="5572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018708" y="2651990"/>
            <a:ext cx="3292244" cy="442121"/>
            <a:chOff x="0" y="0"/>
            <a:chExt cx="4389659" cy="5894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659" cy="589495"/>
            </a:xfrm>
            <a:custGeom>
              <a:avLst/>
              <a:gdLst/>
              <a:ahLst/>
              <a:cxnLst/>
              <a:rect r="r" b="b" t="t" l="l"/>
              <a:pathLst>
                <a:path h="589495" w="4389659">
                  <a:moveTo>
                    <a:pt x="0" y="0"/>
                  </a:moveTo>
                  <a:lnTo>
                    <a:pt x="4389659" y="0"/>
                  </a:lnTo>
                  <a:lnTo>
                    <a:pt x="4389659" y="589495"/>
                  </a:lnTo>
                  <a:lnTo>
                    <a:pt x="0" y="589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42875"/>
              <a:ext cx="4389659" cy="732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2200">
                  <a:solidFill>
                    <a:srgbClr val="63D29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Classification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12592" y="5471977"/>
            <a:ext cx="3292244" cy="442121"/>
            <a:chOff x="0" y="0"/>
            <a:chExt cx="4389659" cy="5894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659" cy="589495"/>
            </a:xfrm>
            <a:custGeom>
              <a:avLst/>
              <a:gdLst/>
              <a:ahLst/>
              <a:cxnLst/>
              <a:rect r="r" b="b" t="t" l="l"/>
              <a:pathLst>
                <a:path h="589495" w="4389659">
                  <a:moveTo>
                    <a:pt x="0" y="0"/>
                  </a:moveTo>
                  <a:lnTo>
                    <a:pt x="4389659" y="0"/>
                  </a:lnTo>
                  <a:lnTo>
                    <a:pt x="4389659" y="589495"/>
                  </a:lnTo>
                  <a:lnTo>
                    <a:pt x="0" y="589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4389659" cy="732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2200">
                  <a:solidFill>
                    <a:srgbClr val="63D29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Regression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00104" y="3194999"/>
            <a:ext cx="507617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Email Spam Detection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Medical Diagnosis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Image Recognition 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Loan Approval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00104" y="6018874"/>
            <a:ext cx="433851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Ho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use Price Prediction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Stock Price Forecasting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Sales Forecasting</a:t>
            </a:r>
          </a:p>
          <a:p>
            <a:pPr algn="l" marL="431800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Energy Consumption Forecasting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363970" y="2632888"/>
            <a:ext cx="517680" cy="489208"/>
          </a:xfrm>
          <a:custGeom>
            <a:avLst/>
            <a:gdLst/>
            <a:ahLst/>
            <a:cxnLst/>
            <a:rect r="r" b="b" t="t" l="l"/>
            <a:pathLst>
              <a:path h="489208" w="517680">
                <a:moveTo>
                  <a:pt x="0" y="0"/>
                </a:moveTo>
                <a:lnTo>
                  <a:pt x="517680" y="0"/>
                </a:lnTo>
                <a:lnTo>
                  <a:pt x="517680" y="489208"/>
                </a:lnTo>
                <a:lnTo>
                  <a:pt x="0" y="4892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421120" y="5456719"/>
            <a:ext cx="527121" cy="42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9"/>
              </a:lnSpc>
            </a:pPr>
            <a:r>
              <a:rPr lang="en-US" b="true" sz="2478">
                <a:solidFill>
                  <a:srgbClr val="63D29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DAG2_PMXP0U</dc:identifier>
  <dcterms:modified xsi:type="dcterms:W3CDTF">2011-08-01T06:04:30Z</dcterms:modified>
  <cp:revision>1</cp:revision>
  <dc:title>ml 2.3. supervised learning</dc:title>
</cp:coreProperties>
</file>